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4"/>
  </p:notesMasterIdLst>
  <p:sldIdLst>
    <p:sldId id="256" r:id="rId2"/>
    <p:sldId id="261" r:id="rId3"/>
    <p:sldId id="277" r:id="rId4"/>
    <p:sldId id="301" r:id="rId5"/>
    <p:sldId id="278" r:id="rId6"/>
    <p:sldId id="303" r:id="rId7"/>
    <p:sldId id="258" r:id="rId8"/>
    <p:sldId id="304" r:id="rId9"/>
    <p:sldId id="305" r:id="rId10"/>
    <p:sldId id="259" r:id="rId11"/>
    <p:sldId id="260" r:id="rId12"/>
    <p:sldId id="308" r:id="rId13"/>
    <p:sldId id="298" r:id="rId14"/>
    <p:sldId id="306" r:id="rId15"/>
    <p:sldId id="269" r:id="rId16"/>
    <p:sldId id="307" r:id="rId17"/>
    <p:sldId id="286" r:id="rId18"/>
    <p:sldId id="263" r:id="rId19"/>
    <p:sldId id="309" r:id="rId20"/>
    <p:sldId id="299" r:id="rId21"/>
    <p:sldId id="310" r:id="rId22"/>
    <p:sldId id="262" r:id="rId23"/>
    <p:sldId id="264" r:id="rId24"/>
    <p:sldId id="265" r:id="rId25"/>
    <p:sldId id="316" r:id="rId26"/>
    <p:sldId id="283" r:id="rId27"/>
    <p:sldId id="285" r:id="rId28"/>
    <p:sldId id="290" r:id="rId29"/>
    <p:sldId id="289" r:id="rId30"/>
    <p:sldId id="271" r:id="rId31"/>
    <p:sldId id="317" r:id="rId32"/>
    <p:sldId id="284" r:id="rId33"/>
    <p:sldId id="296" r:id="rId34"/>
    <p:sldId id="291" r:id="rId35"/>
    <p:sldId id="300" r:id="rId36"/>
    <p:sldId id="315" r:id="rId37"/>
    <p:sldId id="275" r:id="rId38"/>
    <p:sldId id="314" r:id="rId39"/>
    <p:sldId id="276" r:id="rId40"/>
    <p:sldId id="313" r:id="rId41"/>
    <p:sldId id="257" r:id="rId42"/>
    <p:sldId id="273" r:id="rId43"/>
  </p:sldIdLst>
  <p:sldSz cx="18288000" cy="10287000"/>
  <p:notesSz cx="6858000" cy="9144000"/>
  <p:embeddedFontLst>
    <p:embeddedFont>
      <p:font typeface="Agrandir" panose="020B0604020202020204" charset="0"/>
      <p:regular r:id="rId45"/>
    </p:embeddedFont>
    <p:embeddedFont>
      <p:font typeface="Inter" panose="020B0604020202020204" charset="0"/>
      <p:regular r:id="rId46"/>
    </p:embeddedFont>
    <p:embeddedFont>
      <p:font typeface="Inter Bold" panose="020B0604020202020204"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BBDD"/>
    <a:srgbClr val="EBE8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53" autoAdjust="0"/>
    <p:restoredTop sz="93083" autoAdjust="0"/>
  </p:normalViewPr>
  <p:slideViewPr>
    <p:cSldViewPr>
      <p:cViewPr varScale="1">
        <p:scale>
          <a:sx n="55" d="100"/>
          <a:sy n="55" d="100"/>
        </p:scale>
        <p:origin x="686" y="5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D94031-5A20-4243-99D9-771C3C3D849A}" type="datetimeFigureOut">
              <a:rPr lang="en-US" smtClean="0"/>
              <a:t>16/6/2026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44DB95-ABEB-44AF-83FB-028983457DA2}" type="slidenum">
              <a:rPr lang="en-US" smtClean="0"/>
              <a:t>‹#›</a:t>
            </a:fld>
            <a:endParaRPr lang="en-US"/>
          </a:p>
        </p:txBody>
      </p:sp>
    </p:spTree>
    <p:extLst>
      <p:ext uri="{BB962C8B-B14F-4D97-AF65-F5344CB8AC3E}">
        <p14:creationId xmlns:p14="http://schemas.microsoft.com/office/powerpoint/2010/main" val="4059497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44DB95-ABEB-44AF-83FB-028983457DA2}" type="slidenum">
              <a:rPr lang="en-US" smtClean="0"/>
              <a:t>3</a:t>
            </a:fld>
            <a:endParaRPr lang="en-US"/>
          </a:p>
        </p:txBody>
      </p:sp>
    </p:spTree>
    <p:extLst>
      <p:ext uri="{BB962C8B-B14F-4D97-AF65-F5344CB8AC3E}">
        <p14:creationId xmlns:p14="http://schemas.microsoft.com/office/powerpoint/2010/main" val="2065699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16/6/2026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16/6/2026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16/6/2026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16/6/2026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6DFCC"/>
        </a:solidFill>
        <a:effectLst/>
      </p:bgPr>
    </p:bg>
    <p:spTree>
      <p:nvGrpSpPr>
        <p:cNvPr id="1" name=""/>
        <p:cNvGrpSpPr/>
        <p:nvPr/>
      </p:nvGrpSpPr>
      <p:grpSpPr>
        <a:xfrm>
          <a:off x="0" y="0"/>
          <a:ext cx="0" cy="0"/>
          <a:chOff x="0" y="0"/>
          <a:chExt cx="0" cy="0"/>
        </a:xfrm>
      </p:grpSpPr>
      <p:grpSp>
        <p:nvGrpSpPr>
          <p:cNvPr id="2" name="Group 2"/>
          <p:cNvGrpSpPr/>
          <p:nvPr/>
        </p:nvGrpSpPr>
        <p:grpSpPr>
          <a:xfrm>
            <a:off x="680480" y="625871"/>
            <a:ext cx="16927040" cy="9035258"/>
            <a:chOff x="0" y="0"/>
            <a:chExt cx="126402652" cy="67470777"/>
          </a:xfrm>
        </p:grpSpPr>
        <p:sp>
          <p:nvSpPr>
            <p:cNvPr id="3" name="Freeform 3"/>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4" name="Freeform 4"/>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TextBox 5"/>
          <p:cNvSpPr txBox="1"/>
          <p:nvPr/>
        </p:nvSpPr>
        <p:spPr>
          <a:xfrm>
            <a:off x="748145" y="2705100"/>
            <a:ext cx="8382000" cy="1661993"/>
          </a:xfrm>
          <a:prstGeom prst="rect">
            <a:avLst/>
          </a:prstGeom>
        </p:spPr>
        <p:txBody>
          <a:bodyPr wrap="square" lIns="0" tIns="0" rIns="0" bIns="0" rtlCol="0" anchor="t">
            <a:spAutoFit/>
          </a:bodyPr>
          <a:lstStyle/>
          <a:p>
            <a:pPr algn="ctr"/>
            <a:r>
              <a:rPr lang="en-US" sz="5400" dirty="0">
                <a:solidFill>
                  <a:srgbClr val="0070C0"/>
                </a:solidFill>
                <a:latin typeface="Agrandir"/>
                <a:ea typeface="Agrandir"/>
                <a:cs typeface="Agrandir"/>
                <a:sym typeface="Agrandir"/>
              </a:rPr>
              <a:t>Magic Square </a:t>
            </a:r>
          </a:p>
          <a:p>
            <a:pPr algn="ctr"/>
            <a:r>
              <a:rPr lang="en-US" sz="5400" dirty="0">
                <a:solidFill>
                  <a:srgbClr val="0070C0"/>
                </a:solidFill>
                <a:latin typeface="Agrandir"/>
                <a:ea typeface="Agrandir"/>
                <a:cs typeface="Agrandir"/>
                <a:sym typeface="Agrandir"/>
              </a:rPr>
              <a:t>Application Development</a:t>
            </a:r>
          </a:p>
        </p:txBody>
      </p:sp>
      <p:sp>
        <p:nvSpPr>
          <p:cNvPr id="6" name="TextBox 6"/>
          <p:cNvSpPr txBox="1"/>
          <p:nvPr/>
        </p:nvSpPr>
        <p:spPr>
          <a:xfrm>
            <a:off x="2618130" y="4496418"/>
            <a:ext cx="4642030" cy="1598964"/>
          </a:xfrm>
          <a:prstGeom prst="rect">
            <a:avLst/>
          </a:prstGeom>
        </p:spPr>
        <p:txBody>
          <a:bodyPr lIns="0" tIns="0" rIns="0" bIns="0" rtlCol="0" anchor="t">
            <a:spAutoFit/>
          </a:bodyPr>
          <a:lstStyle/>
          <a:p>
            <a:pPr algn="ctr">
              <a:lnSpc>
                <a:spcPct val="150000"/>
              </a:lnSpc>
            </a:pPr>
            <a:r>
              <a:rPr lang="en-US" sz="3647" dirty="0" err="1">
                <a:solidFill>
                  <a:srgbClr val="000000"/>
                </a:solidFill>
                <a:latin typeface="Agrandir"/>
                <a:ea typeface="Agrandir"/>
                <a:cs typeface="Agrandir"/>
                <a:sym typeface="Agrandir"/>
              </a:rPr>
              <a:t>Phonlakrit</a:t>
            </a:r>
            <a:r>
              <a:rPr lang="en-US" sz="3647" dirty="0">
                <a:solidFill>
                  <a:srgbClr val="000000"/>
                </a:solidFill>
                <a:latin typeface="Agrandir"/>
                <a:ea typeface="Agrandir"/>
                <a:cs typeface="Agrandir"/>
                <a:sym typeface="Agrandir"/>
              </a:rPr>
              <a:t> </a:t>
            </a:r>
            <a:r>
              <a:rPr lang="en-US" sz="3647" dirty="0" err="1">
                <a:solidFill>
                  <a:srgbClr val="000000"/>
                </a:solidFill>
                <a:latin typeface="Agrandir"/>
                <a:ea typeface="Agrandir"/>
                <a:cs typeface="Agrandir"/>
                <a:sym typeface="Agrandir"/>
              </a:rPr>
              <a:t>Somsong</a:t>
            </a:r>
            <a:r>
              <a:rPr lang="en-US" sz="3647" dirty="0">
                <a:solidFill>
                  <a:srgbClr val="000000"/>
                </a:solidFill>
                <a:latin typeface="Agrandir"/>
                <a:ea typeface="Agrandir"/>
                <a:cs typeface="Agrandir"/>
                <a:sym typeface="Agrandir"/>
              </a:rPr>
              <a:t> (Kampan)</a:t>
            </a:r>
          </a:p>
        </p:txBody>
      </p:sp>
      <p:pic>
        <p:nvPicPr>
          <p:cNvPr id="7" name="Picture 6">
            <a:extLst>
              <a:ext uri="{FF2B5EF4-FFF2-40B4-BE49-F238E27FC236}">
                <a16:creationId xmlns:a16="http://schemas.microsoft.com/office/drawing/2014/main" id="{098271C1-58EC-08DD-E1D8-E51481FCE94D}"/>
              </a:ext>
            </a:extLst>
          </p:cNvPr>
          <p:cNvPicPr>
            <a:picLocks noChangeAspect="1"/>
          </p:cNvPicPr>
          <p:nvPr/>
        </p:nvPicPr>
        <p:blipFill>
          <a:blip r:embed="rId2"/>
          <a:srcRect l="9758" t="12728" r="10785" b="9091"/>
          <a:stretch>
            <a:fillRect/>
          </a:stretch>
        </p:blipFill>
        <p:spPr>
          <a:xfrm>
            <a:off x="9224534" y="1934986"/>
            <a:ext cx="8102257" cy="6112228"/>
          </a:xfrm>
          <a:prstGeom prst="rect">
            <a:avLst/>
          </a:prstGeom>
          <a:ln w="19050">
            <a:solidFill>
              <a:schemeClr val="tx1"/>
            </a:solidFill>
          </a:ln>
        </p:spPr>
      </p:pic>
      <p:sp>
        <p:nvSpPr>
          <p:cNvPr id="8" name="AutoShape 2">
            <a:extLst>
              <a:ext uri="{FF2B5EF4-FFF2-40B4-BE49-F238E27FC236}">
                <a16:creationId xmlns:a16="http://schemas.microsoft.com/office/drawing/2014/main" id="{6E64D290-530A-7B89-B28D-2B086223253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6">
            <a:extLst>
              <a:ext uri="{FF2B5EF4-FFF2-40B4-BE49-F238E27FC236}">
                <a16:creationId xmlns:a16="http://schemas.microsoft.com/office/drawing/2014/main" id="{C5BC8496-E122-013D-1756-1D0767A0E304}"/>
              </a:ext>
            </a:extLst>
          </p:cNvPr>
          <p:cNvSpPr txBox="1"/>
          <p:nvPr/>
        </p:nvSpPr>
        <p:spPr>
          <a:xfrm>
            <a:off x="1957799" y="6436628"/>
            <a:ext cx="5962692" cy="1479572"/>
          </a:xfrm>
          <a:prstGeom prst="rect">
            <a:avLst/>
          </a:prstGeom>
        </p:spPr>
        <p:txBody>
          <a:bodyPr wrap="square" lIns="0" tIns="0" rIns="0" bIns="0" rtlCol="0" anchor="t">
            <a:spAutoFit/>
          </a:bodyPr>
          <a:lstStyle/>
          <a:p>
            <a:pPr algn="ctr">
              <a:lnSpc>
                <a:spcPts val="4012"/>
              </a:lnSpc>
            </a:pPr>
            <a:r>
              <a:rPr lang="en-US" sz="2000" dirty="0">
                <a:solidFill>
                  <a:srgbClr val="000000"/>
                </a:solidFill>
                <a:latin typeface="Agrandir"/>
                <a:ea typeface="Agrandir"/>
                <a:cs typeface="Agrandir"/>
                <a:sym typeface="Agrandir"/>
              </a:rPr>
              <a:t>Computer Engineering</a:t>
            </a:r>
          </a:p>
          <a:p>
            <a:pPr algn="ctr">
              <a:lnSpc>
                <a:spcPts val="4012"/>
              </a:lnSpc>
            </a:pPr>
            <a:r>
              <a:rPr lang="en-US" sz="2000" dirty="0" err="1">
                <a:solidFill>
                  <a:srgbClr val="000000"/>
                </a:solidFill>
                <a:latin typeface="Agrandir"/>
                <a:ea typeface="Agrandir"/>
                <a:cs typeface="Agrandir"/>
                <a:sym typeface="Agrandir"/>
              </a:rPr>
              <a:t>Rajamangala</a:t>
            </a:r>
            <a:r>
              <a:rPr lang="en-US" sz="2000" dirty="0">
                <a:solidFill>
                  <a:srgbClr val="000000"/>
                </a:solidFill>
                <a:latin typeface="Agrandir"/>
                <a:ea typeface="Agrandir"/>
                <a:cs typeface="Agrandir"/>
                <a:sym typeface="Agrandir"/>
              </a:rPr>
              <a:t> University of Technology </a:t>
            </a:r>
            <a:r>
              <a:rPr lang="en-US" sz="2000" dirty="0" err="1">
                <a:solidFill>
                  <a:srgbClr val="000000"/>
                </a:solidFill>
                <a:latin typeface="Agrandir"/>
                <a:ea typeface="Agrandir"/>
                <a:cs typeface="Agrandir"/>
                <a:sym typeface="Agrandir"/>
              </a:rPr>
              <a:t>Thanyaburi</a:t>
            </a:r>
            <a:r>
              <a:rPr lang="en-US" sz="2000" dirty="0">
                <a:solidFill>
                  <a:srgbClr val="000000"/>
                </a:solidFill>
                <a:latin typeface="Agrandir"/>
                <a:ea typeface="Agrandir"/>
                <a:cs typeface="Agrandir"/>
                <a:sym typeface="Agrandir"/>
              </a:rPr>
              <a:t> (RMUTT)</a:t>
            </a:r>
          </a:p>
        </p:txBody>
      </p:sp>
      <p:sp>
        <p:nvSpPr>
          <p:cNvPr id="12" name="AutoShape 2">
            <a:extLst>
              <a:ext uri="{FF2B5EF4-FFF2-40B4-BE49-F238E27FC236}">
                <a16:creationId xmlns:a16="http://schemas.microsoft.com/office/drawing/2014/main" id="{4843510C-96EA-2D41-433B-B79F7D0377A0}"/>
              </a:ext>
            </a:extLst>
          </p:cNvPr>
          <p:cNvSpPr>
            <a:spLocks noChangeAspect="1" noChangeArrowheads="1"/>
          </p:cNvSpPr>
          <p:nvPr/>
        </p:nvSpPr>
        <p:spPr bwMode="auto">
          <a:xfrm>
            <a:off x="8648700" y="587687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9B585314-A2B8-9C3A-73B8-D9853BBC3202}"/>
              </a:ext>
            </a:extLst>
          </p:cNvPr>
          <p:cNvGrpSpPr/>
          <p:nvPr/>
        </p:nvGrpSpPr>
        <p:grpSpPr>
          <a:xfrm>
            <a:off x="680480" y="625871"/>
            <a:ext cx="16927040" cy="9035258"/>
            <a:chOff x="0" y="0"/>
            <a:chExt cx="126402654" cy="67470778"/>
          </a:xfrm>
        </p:grpSpPr>
        <p:sp>
          <p:nvSpPr>
            <p:cNvPr id="6" name="Freeform 3">
              <a:extLst>
                <a:ext uri="{FF2B5EF4-FFF2-40B4-BE49-F238E27FC236}">
                  <a16:creationId xmlns:a16="http://schemas.microsoft.com/office/drawing/2014/main" id="{6AEB6765-2E89-5E56-E004-0D60519CA830}"/>
                </a:ext>
              </a:extLst>
            </p:cNvPr>
            <p:cNvSpPr/>
            <p:nvPr/>
          </p:nvSpPr>
          <p:spPr>
            <a:xfrm>
              <a:off x="72390" y="72390"/>
              <a:ext cx="126257874" cy="67325997"/>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2E02CABA-3091-5AA3-9F96-1B06D4D00217}"/>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pic>
        <p:nvPicPr>
          <p:cNvPr id="12" name="Picture 11">
            <a:extLst>
              <a:ext uri="{FF2B5EF4-FFF2-40B4-BE49-F238E27FC236}">
                <a16:creationId xmlns:a16="http://schemas.microsoft.com/office/drawing/2014/main" id="{AC295587-4048-107B-C4D1-92414730DF98}"/>
              </a:ext>
            </a:extLst>
          </p:cNvPr>
          <p:cNvPicPr>
            <a:picLocks noChangeAspect="1"/>
          </p:cNvPicPr>
          <p:nvPr/>
        </p:nvPicPr>
        <p:blipFill>
          <a:blip r:embed="rId2"/>
          <a:stretch>
            <a:fillRect/>
          </a:stretch>
        </p:blipFill>
        <p:spPr>
          <a:xfrm>
            <a:off x="7136933" y="528544"/>
            <a:ext cx="4386824" cy="3824410"/>
          </a:xfrm>
          <a:prstGeom prst="rect">
            <a:avLst/>
          </a:prstGeom>
          <a:ln w="28575">
            <a:solidFill>
              <a:schemeClr val="tx1"/>
            </a:solidFill>
          </a:ln>
        </p:spPr>
      </p:pic>
      <p:pic>
        <p:nvPicPr>
          <p:cNvPr id="14" name="Picture 13">
            <a:extLst>
              <a:ext uri="{FF2B5EF4-FFF2-40B4-BE49-F238E27FC236}">
                <a16:creationId xmlns:a16="http://schemas.microsoft.com/office/drawing/2014/main" id="{6C0CD955-74EE-E5EC-4103-CC1A72E6E0A8}"/>
              </a:ext>
            </a:extLst>
          </p:cNvPr>
          <p:cNvPicPr>
            <a:picLocks noChangeAspect="1"/>
          </p:cNvPicPr>
          <p:nvPr/>
        </p:nvPicPr>
        <p:blipFill>
          <a:blip r:embed="rId3"/>
          <a:stretch>
            <a:fillRect/>
          </a:stretch>
        </p:blipFill>
        <p:spPr>
          <a:xfrm>
            <a:off x="12420600" y="498405"/>
            <a:ext cx="4572635" cy="4554561"/>
          </a:xfrm>
          <a:prstGeom prst="rect">
            <a:avLst/>
          </a:prstGeom>
          <a:ln w="28575">
            <a:solidFill>
              <a:schemeClr val="tx1"/>
            </a:solidFill>
          </a:ln>
        </p:spPr>
      </p:pic>
      <p:pic>
        <p:nvPicPr>
          <p:cNvPr id="16" name="Picture 15">
            <a:extLst>
              <a:ext uri="{FF2B5EF4-FFF2-40B4-BE49-F238E27FC236}">
                <a16:creationId xmlns:a16="http://schemas.microsoft.com/office/drawing/2014/main" id="{A4DDB394-22DA-5076-2B38-6DA7CDFA227B}"/>
              </a:ext>
            </a:extLst>
          </p:cNvPr>
          <p:cNvPicPr>
            <a:picLocks noChangeAspect="1"/>
          </p:cNvPicPr>
          <p:nvPr/>
        </p:nvPicPr>
        <p:blipFill>
          <a:blip r:embed="rId4"/>
          <a:stretch>
            <a:fillRect/>
          </a:stretch>
        </p:blipFill>
        <p:spPr>
          <a:xfrm>
            <a:off x="11353800" y="5305738"/>
            <a:ext cx="4549173" cy="4553712"/>
          </a:xfrm>
          <a:prstGeom prst="rect">
            <a:avLst/>
          </a:prstGeom>
          <a:ln w="28575">
            <a:solidFill>
              <a:schemeClr val="tx1"/>
            </a:solidFill>
          </a:ln>
        </p:spPr>
      </p:pic>
      <p:pic>
        <p:nvPicPr>
          <p:cNvPr id="18" name="Picture 17">
            <a:extLst>
              <a:ext uri="{FF2B5EF4-FFF2-40B4-BE49-F238E27FC236}">
                <a16:creationId xmlns:a16="http://schemas.microsoft.com/office/drawing/2014/main" id="{6BC34F2B-1852-BC79-02BF-E461B25CA93F}"/>
              </a:ext>
            </a:extLst>
          </p:cNvPr>
          <p:cNvPicPr>
            <a:picLocks noChangeAspect="1"/>
          </p:cNvPicPr>
          <p:nvPr/>
        </p:nvPicPr>
        <p:blipFill>
          <a:blip r:embed="rId5"/>
          <a:stretch>
            <a:fillRect/>
          </a:stretch>
        </p:blipFill>
        <p:spPr>
          <a:xfrm>
            <a:off x="1120187" y="4686300"/>
            <a:ext cx="9340558" cy="5173150"/>
          </a:xfrm>
          <a:prstGeom prst="rect">
            <a:avLst/>
          </a:prstGeom>
          <a:ln w="28575">
            <a:solidFill>
              <a:schemeClr val="tx1"/>
            </a:solidFill>
          </a:ln>
        </p:spPr>
      </p:pic>
      <p:pic>
        <p:nvPicPr>
          <p:cNvPr id="20" name="Picture 19">
            <a:extLst>
              <a:ext uri="{FF2B5EF4-FFF2-40B4-BE49-F238E27FC236}">
                <a16:creationId xmlns:a16="http://schemas.microsoft.com/office/drawing/2014/main" id="{EA0EEC9E-AB74-7A1C-062B-E0A12A5F5266}"/>
              </a:ext>
            </a:extLst>
          </p:cNvPr>
          <p:cNvPicPr>
            <a:picLocks noChangeAspect="1"/>
          </p:cNvPicPr>
          <p:nvPr/>
        </p:nvPicPr>
        <p:blipFill>
          <a:blip r:embed="rId6"/>
          <a:srcRect l="9758" t="12728" r="10785" b="9091"/>
          <a:stretch>
            <a:fillRect/>
          </a:stretch>
        </p:blipFill>
        <p:spPr>
          <a:xfrm>
            <a:off x="914400" y="393730"/>
            <a:ext cx="5417131" cy="4086607"/>
          </a:xfrm>
          <a:prstGeom prst="rect">
            <a:avLst/>
          </a:prstGeom>
          <a:ln w="28575">
            <a:solidFill>
              <a:schemeClr val="tx1"/>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5C3BA87A-243F-83C1-CA90-91EC72E7F9E4}"/>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989DB48D-8637-4BD9-5D7F-32300FD3E745}"/>
              </a:ext>
            </a:extLst>
          </p:cNvPr>
          <p:cNvGrpSpPr/>
          <p:nvPr/>
        </p:nvGrpSpPr>
        <p:grpSpPr>
          <a:xfrm>
            <a:off x="680480" y="625871"/>
            <a:ext cx="16927040" cy="9035258"/>
            <a:chOff x="0" y="0"/>
            <a:chExt cx="126402654" cy="67470778"/>
          </a:xfrm>
        </p:grpSpPr>
        <p:sp>
          <p:nvSpPr>
            <p:cNvPr id="6" name="Freeform 3">
              <a:extLst>
                <a:ext uri="{FF2B5EF4-FFF2-40B4-BE49-F238E27FC236}">
                  <a16:creationId xmlns:a16="http://schemas.microsoft.com/office/drawing/2014/main" id="{05CDF602-C381-585A-2044-085D26F627ED}"/>
                </a:ext>
              </a:extLst>
            </p:cNvPr>
            <p:cNvSpPr/>
            <p:nvPr/>
          </p:nvSpPr>
          <p:spPr>
            <a:xfrm>
              <a:off x="72390" y="72390"/>
              <a:ext cx="126257874" cy="67325999"/>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AD174710-64F5-133F-4296-8091845584B3}"/>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9" name="Freeform 11">
            <a:extLst>
              <a:ext uri="{FF2B5EF4-FFF2-40B4-BE49-F238E27FC236}">
                <a16:creationId xmlns:a16="http://schemas.microsoft.com/office/drawing/2014/main" id="{265AE086-0F0E-54BB-3984-FFAE70A53CEB}"/>
              </a:ext>
            </a:extLst>
          </p:cNvPr>
          <p:cNvSpPr/>
          <p:nvPr/>
        </p:nvSpPr>
        <p:spPr>
          <a:xfrm rot="16200000">
            <a:off x="8444959" y="-2521047"/>
            <a:ext cx="76199" cy="13109821"/>
          </a:xfrm>
          <a:custGeom>
            <a:avLst/>
            <a:gdLst/>
            <a:ahLst/>
            <a:cxnLst/>
            <a:rect l="l" t="t" r="r" b="b"/>
            <a:pathLst>
              <a:path h="6937619">
                <a:moveTo>
                  <a:pt x="0" y="0"/>
                </a:moveTo>
                <a:lnTo>
                  <a:pt x="0" y="6937619"/>
                </a:lnTo>
              </a:path>
            </a:pathLst>
          </a:custGeom>
          <a:ln w="38100" cap="flat">
            <a:solidFill>
              <a:srgbClr val="000000"/>
            </a:solidFill>
            <a:prstDash val="solid"/>
            <a:headEnd type="oval" w="lg" len="lg"/>
            <a:tailEnd type="oval" w="lg" len="lg"/>
          </a:ln>
        </p:spPr>
        <p:txBody>
          <a:bodyPr/>
          <a:lstStyle/>
          <a:p>
            <a:endParaRPr lang="en-US"/>
          </a:p>
        </p:txBody>
      </p:sp>
      <p:sp>
        <p:nvSpPr>
          <p:cNvPr id="12" name="TextBox 5">
            <a:extLst>
              <a:ext uri="{FF2B5EF4-FFF2-40B4-BE49-F238E27FC236}">
                <a16:creationId xmlns:a16="http://schemas.microsoft.com/office/drawing/2014/main" id="{D4D7E097-BE74-7C9F-EB9C-1B3E314C5777}"/>
              </a:ext>
            </a:extLst>
          </p:cNvPr>
          <p:cNvSpPr txBox="1"/>
          <p:nvPr/>
        </p:nvSpPr>
        <p:spPr>
          <a:xfrm>
            <a:off x="3319244" y="2817021"/>
            <a:ext cx="6539287" cy="553998"/>
          </a:xfrm>
          <a:prstGeom prst="rect">
            <a:avLst/>
          </a:prstGeom>
        </p:spPr>
        <p:txBody>
          <a:bodyPr wrap="square" lIns="0" tIns="0" rIns="0" bIns="0" rtlCol="0" anchor="t">
            <a:spAutoFit/>
          </a:bodyPr>
          <a:lstStyle/>
          <a:p>
            <a:r>
              <a:rPr lang="en-US" sz="3600" b="1" dirty="0">
                <a:solidFill>
                  <a:srgbClr val="000000"/>
                </a:solidFill>
                <a:latin typeface="Agrandir"/>
                <a:ea typeface="Agrandir"/>
                <a:cs typeface="Agrandir"/>
                <a:sym typeface="Agrandir"/>
              </a:rPr>
              <a:t>Introduction &amp; Objectives</a:t>
            </a:r>
          </a:p>
        </p:txBody>
      </p:sp>
      <p:sp>
        <p:nvSpPr>
          <p:cNvPr id="15" name="Freeform 11">
            <a:extLst>
              <a:ext uri="{FF2B5EF4-FFF2-40B4-BE49-F238E27FC236}">
                <a16:creationId xmlns:a16="http://schemas.microsoft.com/office/drawing/2014/main" id="{74247C29-F470-1978-E0A7-F5E3BB4A9BE5}"/>
              </a:ext>
            </a:extLst>
          </p:cNvPr>
          <p:cNvSpPr/>
          <p:nvPr/>
        </p:nvSpPr>
        <p:spPr>
          <a:xfrm rot="16200000">
            <a:off x="8444956" y="-984898"/>
            <a:ext cx="76199" cy="13109821"/>
          </a:xfrm>
          <a:custGeom>
            <a:avLst/>
            <a:gdLst/>
            <a:ahLst/>
            <a:cxnLst/>
            <a:rect l="l" t="t" r="r" b="b"/>
            <a:pathLst>
              <a:path h="6937619">
                <a:moveTo>
                  <a:pt x="0" y="0"/>
                </a:moveTo>
                <a:lnTo>
                  <a:pt x="0" y="6937619"/>
                </a:lnTo>
              </a:path>
            </a:pathLst>
          </a:custGeom>
          <a:ln w="38100" cap="flat">
            <a:solidFill>
              <a:srgbClr val="000000"/>
            </a:solidFill>
            <a:prstDash val="solid"/>
            <a:headEnd type="oval" w="lg" len="lg"/>
            <a:tailEnd type="oval" w="lg" len="lg"/>
          </a:ln>
        </p:spPr>
        <p:txBody>
          <a:bodyPr/>
          <a:lstStyle/>
          <a:p>
            <a:endParaRPr lang="en-US"/>
          </a:p>
        </p:txBody>
      </p:sp>
      <p:sp>
        <p:nvSpPr>
          <p:cNvPr id="2" name="Freeform 11">
            <a:extLst>
              <a:ext uri="{FF2B5EF4-FFF2-40B4-BE49-F238E27FC236}">
                <a16:creationId xmlns:a16="http://schemas.microsoft.com/office/drawing/2014/main" id="{A95D7B55-CFFB-A81C-E9FB-2888357ED26C}"/>
              </a:ext>
            </a:extLst>
          </p:cNvPr>
          <p:cNvSpPr/>
          <p:nvPr/>
        </p:nvSpPr>
        <p:spPr>
          <a:xfrm rot="16200000">
            <a:off x="8444956" y="616706"/>
            <a:ext cx="76199" cy="13109821"/>
          </a:xfrm>
          <a:custGeom>
            <a:avLst/>
            <a:gdLst/>
            <a:ahLst/>
            <a:cxnLst/>
            <a:rect l="l" t="t" r="r" b="b"/>
            <a:pathLst>
              <a:path h="6937619">
                <a:moveTo>
                  <a:pt x="0" y="0"/>
                </a:moveTo>
                <a:lnTo>
                  <a:pt x="0" y="6937619"/>
                </a:lnTo>
              </a:path>
            </a:pathLst>
          </a:custGeom>
          <a:ln w="38100" cap="flat">
            <a:solidFill>
              <a:srgbClr val="000000"/>
            </a:solidFill>
            <a:prstDash val="solid"/>
            <a:headEnd type="oval" w="lg" len="lg"/>
            <a:tailEnd type="oval" w="lg" len="lg"/>
          </a:ln>
        </p:spPr>
        <p:txBody>
          <a:bodyPr/>
          <a:lstStyle/>
          <a:p>
            <a:endParaRPr lang="en-US"/>
          </a:p>
        </p:txBody>
      </p:sp>
      <p:sp>
        <p:nvSpPr>
          <p:cNvPr id="4" name="TextBox 5">
            <a:extLst>
              <a:ext uri="{FF2B5EF4-FFF2-40B4-BE49-F238E27FC236}">
                <a16:creationId xmlns:a16="http://schemas.microsoft.com/office/drawing/2014/main" id="{857B583A-F857-095A-D023-9E0025E3DDC9}"/>
              </a:ext>
            </a:extLst>
          </p:cNvPr>
          <p:cNvSpPr txBox="1"/>
          <p:nvPr/>
        </p:nvSpPr>
        <p:spPr>
          <a:xfrm>
            <a:off x="2057401" y="2955521"/>
            <a:ext cx="1219200" cy="830997"/>
          </a:xfrm>
          <a:prstGeom prst="rect">
            <a:avLst/>
          </a:prstGeom>
        </p:spPr>
        <p:txBody>
          <a:bodyPr wrap="square" lIns="0" tIns="0" rIns="0" bIns="0" rtlCol="0" anchor="t">
            <a:spAutoFit/>
          </a:bodyPr>
          <a:lstStyle/>
          <a:p>
            <a:r>
              <a:rPr lang="en-US" sz="5400" b="1" dirty="0">
                <a:solidFill>
                  <a:srgbClr val="000000"/>
                </a:solidFill>
                <a:latin typeface="Agrandir"/>
                <a:ea typeface="Agrandir"/>
                <a:cs typeface="Agrandir"/>
                <a:sym typeface="Agrandir"/>
              </a:rPr>
              <a:t>01</a:t>
            </a:r>
          </a:p>
        </p:txBody>
      </p:sp>
      <p:sp>
        <p:nvSpPr>
          <p:cNvPr id="8" name="TextBox 5">
            <a:extLst>
              <a:ext uri="{FF2B5EF4-FFF2-40B4-BE49-F238E27FC236}">
                <a16:creationId xmlns:a16="http://schemas.microsoft.com/office/drawing/2014/main" id="{70BE58AB-F195-717D-CCDF-C65E9D422550}"/>
              </a:ext>
            </a:extLst>
          </p:cNvPr>
          <p:cNvSpPr txBox="1"/>
          <p:nvPr/>
        </p:nvSpPr>
        <p:spPr>
          <a:xfrm>
            <a:off x="2026694" y="4486411"/>
            <a:ext cx="1219200" cy="830997"/>
          </a:xfrm>
          <a:prstGeom prst="rect">
            <a:avLst/>
          </a:prstGeom>
        </p:spPr>
        <p:txBody>
          <a:bodyPr wrap="square" lIns="0" tIns="0" rIns="0" bIns="0" rtlCol="0" anchor="t">
            <a:spAutoFit/>
          </a:bodyPr>
          <a:lstStyle/>
          <a:p>
            <a:r>
              <a:rPr lang="en-US" sz="5400" b="1" dirty="0">
                <a:solidFill>
                  <a:srgbClr val="000000"/>
                </a:solidFill>
                <a:latin typeface="Agrandir"/>
                <a:ea typeface="Agrandir"/>
                <a:cs typeface="Agrandir"/>
                <a:sym typeface="Agrandir"/>
              </a:rPr>
              <a:t>02</a:t>
            </a:r>
          </a:p>
        </p:txBody>
      </p:sp>
      <p:sp>
        <p:nvSpPr>
          <p:cNvPr id="10" name="TextBox 5">
            <a:extLst>
              <a:ext uri="{FF2B5EF4-FFF2-40B4-BE49-F238E27FC236}">
                <a16:creationId xmlns:a16="http://schemas.microsoft.com/office/drawing/2014/main" id="{CB30305A-0DFA-A1AF-FE24-E2541217B44B}"/>
              </a:ext>
            </a:extLst>
          </p:cNvPr>
          <p:cNvSpPr txBox="1"/>
          <p:nvPr/>
        </p:nvSpPr>
        <p:spPr>
          <a:xfrm>
            <a:off x="2057401" y="6044268"/>
            <a:ext cx="1219200" cy="830997"/>
          </a:xfrm>
          <a:prstGeom prst="rect">
            <a:avLst/>
          </a:prstGeom>
        </p:spPr>
        <p:txBody>
          <a:bodyPr wrap="square" lIns="0" tIns="0" rIns="0" bIns="0" rtlCol="0" anchor="t">
            <a:spAutoFit/>
          </a:bodyPr>
          <a:lstStyle/>
          <a:p>
            <a:r>
              <a:rPr lang="en-US" sz="5400" b="1" dirty="0">
                <a:solidFill>
                  <a:srgbClr val="000000"/>
                </a:solidFill>
                <a:latin typeface="Agrandir"/>
                <a:ea typeface="Agrandir"/>
                <a:cs typeface="Agrandir"/>
                <a:sym typeface="Agrandir"/>
              </a:rPr>
              <a:t>03</a:t>
            </a:r>
          </a:p>
        </p:txBody>
      </p:sp>
      <p:sp>
        <p:nvSpPr>
          <p:cNvPr id="17" name="TextBox 5">
            <a:extLst>
              <a:ext uri="{FF2B5EF4-FFF2-40B4-BE49-F238E27FC236}">
                <a16:creationId xmlns:a16="http://schemas.microsoft.com/office/drawing/2014/main" id="{35752075-3835-ACCC-95A6-E7C4D072AD04}"/>
              </a:ext>
            </a:extLst>
          </p:cNvPr>
          <p:cNvSpPr txBox="1"/>
          <p:nvPr/>
        </p:nvSpPr>
        <p:spPr>
          <a:xfrm>
            <a:off x="2057401" y="7703644"/>
            <a:ext cx="1219200" cy="830997"/>
          </a:xfrm>
          <a:prstGeom prst="rect">
            <a:avLst/>
          </a:prstGeom>
        </p:spPr>
        <p:txBody>
          <a:bodyPr wrap="square" lIns="0" tIns="0" rIns="0" bIns="0" rtlCol="0" anchor="t">
            <a:spAutoFit/>
          </a:bodyPr>
          <a:lstStyle/>
          <a:p>
            <a:r>
              <a:rPr lang="en-US" sz="5400" b="1" dirty="0">
                <a:solidFill>
                  <a:srgbClr val="000000"/>
                </a:solidFill>
                <a:latin typeface="Agrandir"/>
                <a:ea typeface="Agrandir"/>
                <a:cs typeface="Agrandir"/>
                <a:sym typeface="Agrandir"/>
              </a:rPr>
              <a:t>04</a:t>
            </a:r>
          </a:p>
        </p:txBody>
      </p:sp>
      <p:sp>
        <p:nvSpPr>
          <p:cNvPr id="18" name="TextBox 5">
            <a:extLst>
              <a:ext uri="{FF2B5EF4-FFF2-40B4-BE49-F238E27FC236}">
                <a16:creationId xmlns:a16="http://schemas.microsoft.com/office/drawing/2014/main" id="{D0358168-872B-3EE2-EFF6-0B52DE4A33A2}"/>
              </a:ext>
            </a:extLst>
          </p:cNvPr>
          <p:cNvSpPr txBox="1"/>
          <p:nvPr/>
        </p:nvSpPr>
        <p:spPr>
          <a:xfrm>
            <a:off x="3319244" y="3505934"/>
            <a:ext cx="7577356" cy="307777"/>
          </a:xfrm>
          <a:prstGeom prst="rect">
            <a:avLst/>
          </a:prstGeom>
        </p:spPr>
        <p:txBody>
          <a:bodyPr wrap="square" lIns="0" tIns="0" rIns="0" bIns="0" rtlCol="0" anchor="t">
            <a:spAutoFit/>
          </a:bodyPr>
          <a:lstStyle/>
          <a:p>
            <a:r>
              <a:rPr lang="en-US" sz="2000" dirty="0">
                <a:solidFill>
                  <a:schemeClr val="bg1">
                    <a:lumMod val="50000"/>
                  </a:schemeClr>
                </a:solidFill>
                <a:latin typeface="Agrandir"/>
                <a:ea typeface="Agrandir"/>
                <a:cs typeface="Agrandir"/>
                <a:sym typeface="Agrandir"/>
              </a:rPr>
              <a:t>Concept of Magic Square, objectives and requirements.  </a:t>
            </a:r>
          </a:p>
        </p:txBody>
      </p:sp>
      <p:sp>
        <p:nvSpPr>
          <p:cNvPr id="19" name="TextBox 5">
            <a:extLst>
              <a:ext uri="{FF2B5EF4-FFF2-40B4-BE49-F238E27FC236}">
                <a16:creationId xmlns:a16="http://schemas.microsoft.com/office/drawing/2014/main" id="{FE41BF1D-2D16-E6FE-D7E0-0210A9E222F4}"/>
              </a:ext>
            </a:extLst>
          </p:cNvPr>
          <p:cNvSpPr txBox="1"/>
          <p:nvPr/>
        </p:nvSpPr>
        <p:spPr>
          <a:xfrm>
            <a:off x="3245894" y="4382188"/>
            <a:ext cx="8107906" cy="553998"/>
          </a:xfrm>
          <a:prstGeom prst="rect">
            <a:avLst/>
          </a:prstGeom>
        </p:spPr>
        <p:txBody>
          <a:bodyPr wrap="square" lIns="0" tIns="0" rIns="0" bIns="0" rtlCol="0" anchor="t">
            <a:spAutoFit/>
          </a:bodyPr>
          <a:lstStyle/>
          <a:p>
            <a:r>
              <a:rPr lang="en-US" sz="3600" b="1" dirty="0">
                <a:solidFill>
                  <a:srgbClr val="000000"/>
                </a:solidFill>
                <a:latin typeface="Agrandir"/>
                <a:ea typeface="Agrandir"/>
                <a:cs typeface="Agrandir"/>
                <a:sym typeface="Agrandir"/>
              </a:rPr>
              <a:t>Gameplay &amp; System Overview</a:t>
            </a:r>
          </a:p>
        </p:txBody>
      </p:sp>
      <p:sp>
        <p:nvSpPr>
          <p:cNvPr id="20" name="TextBox 5">
            <a:extLst>
              <a:ext uri="{FF2B5EF4-FFF2-40B4-BE49-F238E27FC236}">
                <a16:creationId xmlns:a16="http://schemas.microsoft.com/office/drawing/2014/main" id="{FE8B732B-2566-5692-37F9-7787A9D45CDB}"/>
              </a:ext>
            </a:extLst>
          </p:cNvPr>
          <p:cNvSpPr txBox="1"/>
          <p:nvPr/>
        </p:nvSpPr>
        <p:spPr>
          <a:xfrm>
            <a:off x="3245894" y="5071101"/>
            <a:ext cx="7650706" cy="307777"/>
          </a:xfrm>
          <a:prstGeom prst="rect">
            <a:avLst/>
          </a:prstGeom>
        </p:spPr>
        <p:txBody>
          <a:bodyPr wrap="square" lIns="0" tIns="0" rIns="0" bIns="0" rtlCol="0" anchor="t">
            <a:spAutoFit/>
          </a:bodyPr>
          <a:lstStyle/>
          <a:p>
            <a:r>
              <a:rPr lang="en-US" sz="2000" dirty="0">
                <a:solidFill>
                  <a:schemeClr val="bg1">
                    <a:lumMod val="50000"/>
                  </a:schemeClr>
                </a:solidFill>
                <a:latin typeface="Agrandir"/>
                <a:ea typeface="Agrandir"/>
                <a:cs typeface="Agrandir"/>
                <a:sym typeface="Agrandir"/>
              </a:rPr>
              <a:t>Step by step guide, user interface and backend architecture.</a:t>
            </a:r>
          </a:p>
        </p:txBody>
      </p:sp>
      <p:sp>
        <p:nvSpPr>
          <p:cNvPr id="21" name="TextBox 5">
            <a:extLst>
              <a:ext uri="{FF2B5EF4-FFF2-40B4-BE49-F238E27FC236}">
                <a16:creationId xmlns:a16="http://schemas.microsoft.com/office/drawing/2014/main" id="{FF16454D-2542-DF9E-EBC5-168D912726E6}"/>
              </a:ext>
            </a:extLst>
          </p:cNvPr>
          <p:cNvSpPr txBox="1"/>
          <p:nvPr/>
        </p:nvSpPr>
        <p:spPr>
          <a:xfrm>
            <a:off x="3245894" y="5941412"/>
            <a:ext cx="8107906" cy="553998"/>
          </a:xfrm>
          <a:prstGeom prst="rect">
            <a:avLst/>
          </a:prstGeom>
        </p:spPr>
        <p:txBody>
          <a:bodyPr wrap="square" lIns="0" tIns="0" rIns="0" bIns="0" rtlCol="0" anchor="t">
            <a:spAutoFit/>
          </a:bodyPr>
          <a:lstStyle/>
          <a:p>
            <a:r>
              <a:rPr lang="en-US" sz="3600" b="1" dirty="0">
                <a:solidFill>
                  <a:srgbClr val="000000"/>
                </a:solidFill>
                <a:latin typeface="Agrandir"/>
                <a:ea typeface="Agrandir"/>
                <a:cs typeface="Agrandir"/>
                <a:sym typeface="Agrandir"/>
              </a:rPr>
              <a:t>Key Features</a:t>
            </a:r>
          </a:p>
        </p:txBody>
      </p:sp>
      <p:sp>
        <p:nvSpPr>
          <p:cNvPr id="22" name="TextBox 5">
            <a:extLst>
              <a:ext uri="{FF2B5EF4-FFF2-40B4-BE49-F238E27FC236}">
                <a16:creationId xmlns:a16="http://schemas.microsoft.com/office/drawing/2014/main" id="{7F0D7675-7A35-EC8E-B9DF-5891035B0ED3}"/>
              </a:ext>
            </a:extLst>
          </p:cNvPr>
          <p:cNvSpPr txBox="1"/>
          <p:nvPr/>
        </p:nvSpPr>
        <p:spPr>
          <a:xfrm>
            <a:off x="3245894" y="6630325"/>
            <a:ext cx="6539287" cy="307777"/>
          </a:xfrm>
          <a:prstGeom prst="rect">
            <a:avLst/>
          </a:prstGeom>
        </p:spPr>
        <p:txBody>
          <a:bodyPr wrap="square" lIns="0" tIns="0" rIns="0" bIns="0" rtlCol="0" anchor="t">
            <a:spAutoFit/>
          </a:bodyPr>
          <a:lstStyle/>
          <a:p>
            <a:r>
              <a:rPr lang="en-US" sz="2000" dirty="0">
                <a:solidFill>
                  <a:schemeClr val="bg1">
                    <a:lumMod val="50000"/>
                  </a:schemeClr>
                </a:solidFill>
                <a:latin typeface="Agrandir"/>
                <a:ea typeface="Agrandir"/>
                <a:cs typeface="Agrandir"/>
                <a:sym typeface="Agrandir"/>
              </a:rPr>
              <a:t>Translation, game modes, styles and scoring system.</a:t>
            </a:r>
          </a:p>
        </p:txBody>
      </p:sp>
      <p:sp>
        <p:nvSpPr>
          <p:cNvPr id="23" name="TextBox 5">
            <a:extLst>
              <a:ext uri="{FF2B5EF4-FFF2-40B4-BE49-F238E27FC236}">
                <a16:creationId xmlns:a16="http://schemas.microsoft.com/office/drawing/2014/main" id="{D5BB1623-5A12-F4D5-21DB-2309E3232F38}"/>
              </a:ext>
            </a:extLst>
          </p:cNvPr>
          <p:cNvSpPr txBox="1"/>
          <p:nvPr/>
        </p:nvSpPr>
        <p:spPr>
          <a:xfrm>
            <a:off x="3245894" y="7604698"/>
            <a:ext cx="8107906" cy="553998"/>
          </a:xfrm>
          <a:prstGeom prst="rect">
            <a:avLst/>
          </a:prstGeom>
        </p:spPr>
        <p:txBody>
          <a:bodyPr wrap="square" lIns="0" tIns="0" rIns="0" bIns="0" rtlCol="0" anchor="t">
            <a:spAutoFit/>
          </a:bodyPr>
          <a:lstStyle/>
          <a:p>
            <a:r>
              <a:rPr lang="en-US" sz="3600" b="1" dirty="0">
                <a:solidFill>
                  <a:srgbClr val="000000"/>
                </a:solidFill>
                <a:latin typeface="Agrandir"/>
                <a:ea typeface="Agrandir"/>
                <a:cs typeface="Agrandir"/>
                <a:sym typeface="Agrandir"/>
              </a:rPr>
              <a:t>Future Features &amp; Challenges</a:t>
            </a:r>
          </a:p>
        </p:txBody>
      </p:sp>
      <p:sp>
        <p:nvSpPr>
          <p:cNvPr id="24" name="TextBox 5">
            <a:extLst>
              <a:ext uri="{FF2B5EF4-FFF2-40B4-BE49-F238E27FC236}">
                <a16:creationId xmlns:a16="http://schemas.microsoft.com/office/drawing/2014/main" id="{D83BD7E6-4D9D-1C3D-0F2E-BC590159FD17}"/>
              </a:ext>
            </a:extLst>
          </p:cNvPr>
          <p:cNvSpPr txBox="1"/>
          <p:nvPr/>
        </p:nvSpPr>
        <p:spPr>
          <a:xfrm>
            <a:off x="3245894" y="8293611"/>
            <a:ext cx="7955506" cy="307777"/>
          </a:xfrm>
          <a:prstGeom prst="rect">
            <a:avLst/>
          </a:prstGeom>
        </p:spPr>
        <p:txBody>
          <a:bodyPr wrap="square" lIns="0" tIns="0" rIns="0" bIns="0" rtlCol="0" anchor="t">
            <a:spAutoFit/>
          </a:bodyPr>
          <a:lstStyle/>
          <a:p>
            <a:r>
              <a:rPr lang="en-US" sz="2000" dirty="0">
                <a:solidFill>
                  <a:schemeClr val="bg1">
                    <a:lumMod val="50000"/>
                  </a:schemeClr>
                </a:solidFill>
                <a:latin typeface="Agrandir"/>
                <a:ea typeface="Agrandir"/>
                <a:cs typeface="Agrandir"/>
                <a:sym typeface="Agrandir"/>
              </a:rPr>
              <a:t>Interesting future features and encountered system issues.</a:t>
            </a:r>
          </a:p>
        </p:txBody>
      </p:sp>
      <p:sp>
        <p:nvSpPr>
          <p:cNvPr id="26" name="TextBox 5">
            <a:extLst>
              <a:ext uri="{FF2B5EF4-FFF2-40B4-BE49-F238E27FC236}">
                <a16:creationId xmlns:a16="http://schemas.microsoft.com/office/drawing/2014/main" id="{D99ED804-C9FA-E49D-27EC-808CF0B3D87C}"/>
              </a:ext>
            </a:extLst>
          </p:cNvPr>
          <p:cNvSpPr txBox="1"/>
          <p:nvPr/>
        </p:nvSpPr>
        <p:spPr>
          <a:xfrm>
            <a:off x="5122873" y="1302745"/>
            <a:ext cx="8042254" cy="900631"/>
          </a:xfrm>
          <a:prstGeom prst="rect">
            <a:avLst/>
          </a:prstGeom>
        </p:spPr>
        <p:txBody>
          <a:bodyPr lIns="0" tIns="0" rIns="0" bIns="0" rtlCol="0" anchor="t">
            <a:spAutoFit/>
          </a:bodyPr>
          <a:lstStyle/>
          <a:p>
            <a:pPr algn="ctr">
              <a:lnSpc>
                <a:spcPts val="6952"/>
              </a:lnSpc>
            </a:pPr>
            <a:r>
              <a:rPr lang="en-US" sz="6600" b="1" dirty="0">
                <a:solidFill>
                  <a:srgbClr val="000000"/>
                </a:solidFill>
                <a:latin typeface="Agrandir"/>
                <a:ea typeface="Agrandir"/>
                <a:cs typeface="Agrandir"/>
                <a:sym typeface="Agrandir"/>
              </a:rPr>
              <a:t>Table of Contents</a:t>
            </a:r>
          </a:p>
        </p:txBody>
      </p:sp>
    </p:spTree>
    <p:extLst>
      <p:ext uri="{BB962C8B-B14F-4D97-AF65-F5344CB8AC3E}">
        <p14:creationId xmlns:p14="http://schemas.microsoft.com/office/powerpoint/2010/main" val="2594303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E991351B-8BB0-37AA-BC20-76DBFE6FBF40}"/>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311B5727-1193-7ECF-6F46-74598C292BAF}"/>
              </a:ext>
            </a:extLst>
          </p:cNvPr>
          <p:cNvGrpSpPr/>
          <p:nvPr/>
        </p:nvGrpSpPr>
        <p:grpSpPr>
          <a:xfrm>
            <a:off x="680480" y="625871"/>
            <a:ext cx="16927040" cy="9035258"/>
            <a:chOff x="0" y="0"/>
            <a:chExt cx="126402654" cy="67470778"/>
          </a:xfrm>
        </p:grpSpPr>
        <p:sp>
          <p:nvSpPr>
            <p:cNvPr id="6" name="Freeform 3">
              <a:extLst>
                <a:ext uri="{FF2B5EF4-FFF2-40B4-BE49-F238E27FC236}">
                  <a16:creationId xmlns:a16="http://schemas.microsoft.com/office/drawing/2014/main" id="{A93A2252-27FD-23A3-6D51-EDADE16212DE}"/>
                </a:ext>
              </a:extLst>
            </p:cNvPr>
            <p:cNvSpPr/>
            <p:nvPr/>
          </p:nvSpPr>
          <p:spPr>
            <a:xfrm>
              <a:off x="72390" y="72390"/>
              <a:ext cx="126257874" cy="67325999"/>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8DB7EB48-F45E-2F00-9B86-3CCEA672E25B}"/>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9" name="Freeform 11">
            <a:extLst>
              <a:ext uri="{FF2B5EF4-FFF2-40B4-BE49-F238E27FC236}">
                <a16:creationId xmlns:a16="http://schemas.microsoft.com/office/drawing/2014/main" id="{98BA281F-9BA5-6504-26F8-A0A572F465A9}"/>
              </a:ext>
            </a:extLst>
          </p:cNvPr>
          <p:cNvSpPr/>
          <p:nvPr/>
        </p:nvSpPr>
        <p:spPr>
          <a:xfrm rot="16200000">
            <a:off x="8444959" y="-2521047"/>
            <a:ext cx="76199" cy="13109821"/>
          </a:xfrm>
          <a:custGeom>
            <a:avLst/>
            <a:gdLst/>
            <a:ahLst/>
            <a:cxnLst/>
            <a:rect l="l" t="t" r="r" b="b"/>
            <a:pathLst>
              <a:path h="6937619">
                <a:moveTo>
                  <a:pt x="0" y="0"/>
                </a:moveTo>
                <a:lnTo>
                  <a:pt x="0" y="6937619"/>
                </a:lnTo>
              </a:path>
            </a:pathLst>
          </a:custGeom>
          <a:ln w="38100" cap="flat">
            <a:solidFill>
              <a:srgbClr val="000000"/>
            </a:solidFill>
            <a:prstDash val="solid"/>
            <a:headEnd type="oval" w="lg" len="lg"/>
            <a:tailEnd type="oval" w="lg" len="lg"/>
          </a:ln>
        </p:spPr>
        <p:txBody>
          <a:bodyPr/>
          <a:lstStyle/>
          <a:p>
            <a:endParaRPr lang="en-US"/>
          </a:p>
        </p:txBody>
      </p:sp>
      <p:sp>
        <p:nvSpPr>
          <p:cNvPr id="12" name="TextBox 5">
            <a:extLst>
              <a:ext uri="{FF2B5EF4-FFF2-40B4-BE49-F238E27FC236}">
                <a16:creationId xmlns:a16="http://schemas.microsoft.com/office/drawing/2014/main" id="{D23F6A10-B590-2852-DBF6-62D698642AFC}"/>
              </a:ext>
            </a:extLst>
          </p:cNvPr>
          <p:cNvSpPr txBox="1"/>
          <p:nvPr/>
        </p:nvSpPr>
        <p:spPr>
          <a:xfrm>
            <a:off x="3319244" y="2817021"/>
            <a:ext cx="6539287" cy="553998"/>
          </a:xfrm>
          <a:prstGeom prst="rect">
            <a:avLst/>
          </a:prstGeom>
        </p:spPr>
        <p:txBody>
          <a:bodyPr wrap="square" lIns="0" tIns="0" rIns="0" bIns="0" rtlCol="0" anchor="t">
            <a:spAutoFit/>
          </a:bodyPr>
          <a:lstStyle/>
          <a:p>
            <a:r>
              <a:rPr lang="ja-JP" altLang="en-US" sz="3600" b="1" dirty="0">
                <a:solidFill>
                  <a:srgbClr val="000000"/>
                </a:solidFill>
                <a:latin typeface="Agrandir"/>
                <a:ea typeface="Agrandir"/>
                <a:cs typeface="Agrandir"/>
                <a:sym typeface="Agrandir"/>
              </a:rPr>
              <a:t>序論と目的</a:t>
            </a:r>
            <a:endParaRPr lang="en-US" sz="3600" b="1" dirty="0">
              <a:solidFill>
                <a:srgbClr val="000000"/>
              </a:solidFill>
              <a:latin typeface="Agrandir"/>
              <a:ea typeface="Agrandir"/>
              <a:cs typeface="Agrandir"/>
              <a:sym typeface="Agrandir"/>
            </a:endParaRPr>
          </a:p>
        </p:txBody>
      </p:sp>
      <p:sp>
        <p:nvSpPr>
          <p:cNvPr id="15" name="Freeform 11">
            <a:extLst>
              <a:ext uri="{FF2B5EF4-FFF2-40B4-BE49-F238E27FC236}">
                <a16:creationId xmlns:a16="http://schemas.microsoft.com/office/drawing/2014/main" id="{DBE07036-1A44-8077-F992-95BE553F595B}"/>
              </a:ext>
            </a:extLst>
          </p:cNvPr>
          <p:cNvSpPr/>
          <p:nvPr/>
        </p:nvSpPr>
        <p:spPr>
          <a:xfrm rot="16200000">
            <a:off x="8444956" y="-984898"/>
            <a:ext cx="76199" cy="13109821"/>
          </a:xfrm>
          <a:custGeom>
            <a:avLst/>
            <a:gdLst/>
            <a:ahLst/>
            <a:cxnLst/>
            <a:rect l="l" t="t" r="r" b="b"/>
            <a:pathLst>
              <a:path h="6937619">
                <a:moveTo>
                  <a:pt x="0" y="0"/>
                </a:moveTo>
                <a:lnTo>
                  <a:pt x="0" y="6937619"/>
                </a:lnTo>
              </a:path>
            </a:pathLst>
          </a:custGeom>
          <a:ln w="38100" cap="flat">
            <a:solidFill>
              <a:srgbClr val="000000"/>
            </a:solidFill>
            <a:prstDash val="solid"/>
            <a:headEnd type="oval" w="lg" len="lg"/>
            <a:tailEnd type="oval" w="lg" len="lg"/>
          </a:ln>
        </p:spPr>
        <p:txBody>
          <a:bodyPr/>
          <a:lstStyle/>
          <a:p>
            <a:endParaRPr lang="en-US"/>
          </a:p>
        </p:txBody>
      </p:sp>
      <p:sp>
        <p:nvSpPr>
          <p:cNvPr id="2" name="Freeform 11">
            <a:extLst>
              <a:ext uri="{FF2B5EF4-FFF2-40B4-BE49-F238E27FC236}">
                <a16:creationId xmlns:a16="http://schemas.microsoft.com/office/drawing/2014/main" id="{CA3B43CB-C3E4-D05F-D245-21C19050659A}"/>
              </a:ext>
            </a:extLst>
          </p:cNvPr>
          <p:cNvSpPr/>
          <p:nvPr/>
        </p:nvSpPr>
        <p:spPr>
          <a:xfrm rot="16200000">
            <a:off x="8444956" y="616706"/>
            <a:ext cx="76199" cy="13109821"/>
          </a:xfrm>
          <a:custGeom>
            <a:avLst/>
            <a:gdLst/>
            <a:ahLst/>
            <a:cxnLst/>
            <a:rect l="l" t="t" r="r" b="b"/>
            <a:pathLst>
              <a:path h="6937619">
                <a:moveTo>
                  <a:pt x="0" y="0"/>
                </a:moveTo>
                <a:lnTo>
                  <a:pt x="0" y="6937619"/>
                </a:lnTo>
              </a:path>
            </a:pathLst>
          </a:custGeom>
          <a:ln w="38100" cap="flat">
            <a:solidFill>
              <a:srgbClr val="000000"/>
            </a:solidFill>
            <a:prstDash val="solid"/>
            <a:headEnd type="oval" w="lg" len="lg"/>
            <a:tailEnd type="oval" w="lg" len="lg"/>
          </a:ln>
        </p:spPr>
        <p:txBody>
          <a:bodyPr/>
          <a:lstStyle/>
          <a:p>
            <a:endParaRPr lang="en-US"/>
          </a:p>
        </p:txBody>
      </p:sp>
      <p:sp>
        <p:nvSpPr>
          <p:cNvPr id="4" name="TextBox 5">
            <a:extLst>
              <a:ext uri="{FF2B5EF4-FFF2-40B4-BE49-F238E27FC236}">
                <a16:creationId xmlns:a16="http://schemas.microsoft.com/office/drawing/2014/main" id="{4FB97190-B66D-5F81-32F3-A8BC542E68B4}"/>
              </a:ext>
            </a:extLst>
          </p:cNvPr>
          <p:cNvSpPr txBox="1"/>
          <p:nvPr/>
        </p:nvSpPr>
        <p:spPr>
          <a:xfrm>
            <a:off x="2057401" y="2955521"/>
            <a:ext cx="1219200" cy="830997"/>
          </a:xfrm>
          <a:prstGeom prst="rect">
            <a:avLst/>
          </a:prstGeom>
        </p:spPr>
        <p:txBody>
          <a:bodyPr wrap="square" lIns="0" tIns="0" rIns="0" bIns="0" rtlCol="0" anchor="t">
            <a:spAutoFit/>
          </a:bodyPr>
          <a:lstStyle/>
          <a:p>
            <a:r>
              <a:rPr lang="en-US" sz="5400" b="1" dirty="0">
                <a:solidFill>
                  <a:srgbClr val="000000"/>
                </a:solidFill>
                <a:latin typeface="Agrandir"/>
                <a:ea typeface="Agrandir"/>
                <a:cs typeface="Agrandir"/>
                <a:sym typeface="Agrandir"/>
              </a:rPr>
              <a:t>01</a:t>
            </a:r>
          </a:p>
        </p:txBody>
      </p:sp>
      <p:sp>
        <p:nvSpPr>
          <p:cNvPr id="8" name="TextBox 5">
            <a:extLst>
              <a:ext uri="{FF2B5EF4-FFF2-40B4-BE49-F238E27FC236}">
                <a16:creationId xmlns:a16="http://schemas.microsoft.com/office/drawing/2014/main" id="{FF25AC90-FFC4-9DED-883B-BBAFD45FFFC7}"/>
              </a:ext>
            </a:extLst>
          </p:cNvPr>
          <p:cNvSpPr txBox="1"/>
          <p:nvPr/>
        </p:nvSpPr>
        <p:spPr>
          <a:xfrm>
            <a:off x="2026694" y="4486411"/>
            <a:ext cx="1219200" cy="830997"/>
          </a:xfrm>
          <a:prstGeom prst="rect">
            <a:avLst/>
          </a:prstGeom>
        </p:spPr>
        <p:txBody>
          <a:bodyPr wrap="square" lIns="0" tIns="0" rIns="0" bIns="0" rtlCol="0" anchor="t">
            <a:spAutoFit/>
          </a:bodyPr>
          <a:lstStyle/>
          <a:p>
            <a:r>
              <a:rPr lang="en-US" sz="5400" b="1" dirty="0">
                <a:solidFill>
                  <a:srgbClr val="000000"/>
                </a:solidFill>
                <a:latin typeface="Agrandir"/>
                <a:ea typeface="Agrandir"/>
                <a:cs typeface="Agrandir"/>
                <a:sym typeface="Agrandir"/>
              </a:rPr>
              <a:t>02</a:t>
            </a:r>
          </a:p>
        </p:txBody>
      </p:sp>
      <p:sp>
        <p:nvSpPr>
          <p:cNvPr id="10" name="TextBox 5">
            <a:extLst>
              <a:ext uri="{FF2B5EF4-FFF2-40B4-BE49-F238E27FC236}">
                <a16:creationId xmlns:a16="http://schemas.microsoft.com/office/drawing/2014/main" id="{BD0712D6-226A-8C4C-C6F4-C458CBD426F8}"/>
              </a:ext>
            </a:extLst>
          </p:cNvPr>
          <p:cNvSpPr txBox="1"/>
          <p:nvPr/>
        </p:nvSpPr>
        <p:spPr>
          <a:xfrm>
            <a:off x="2057401" y="6044268"/>
            <a:ext cx="1219200" cy="830997"/>
          </a:xfrm>
          <a:prstGeom prst="rect">
            <a:avLst/>
          </a:prstGeom>
        </p:spPr>
        <p:txBody>
          <a:bodyPr wrap="square" lIns="0" tIns="0" rIns="0" bIns="0" rtlCol="0" anchor="t">
            <a:spAutoFit/>
          </a:bodyPr>
          <a:lstStyle/>
          <a:p>
            <a:r>
              <a:rPr lang="en-US" sz="5400" b="1" dirty="0">
                <a:solidFill>
                  <a:srgbClr val="000000"/>
                </a:solidFill>
                <a:latin typeface="Agrandir"/>
                <a:ea typeface="Agrandir"/>
                <a:cs typeface="Agrandir"/>
                <a:sym typeface="Agrandir"/>
              </a:rPr>
              <a:t>03</a:t>
            </a:r>
          </a:p>
        </p:txBody>
      </p:sp>
      <p:sp>
        <p:nvSpPr>
          <p:cNvPr id="17" name="TextBox 5">
            <a:extLst>
              <a:ext uri="{FF2B5EF4-FFF2-40B4-BE49-F238E27FC236}">
                <a16:creationId xmlns:a16="http://schemas.microsoft.com/office/drawing/2014/main" id="{2313EC4F-F169-2C71-8284-88499833BCCC}"/>
              </a:ext>
            </a:extLst>
          </p:cNvPr>
          <p:cNvSpPr txBox="1"/>
          <p:nvPr/>
        </p:nvSpPr>
        <p:spPr>
          <a:xfrm>
            <a:off x="2057401" y="7703644"/>
            <a:ext cx="1219200" cy="830997"/>
          </a:xfrm>
          <a:prstGeom prst="rect">
            <a:avLst/>
          </a:prstGeom>
        </p:spPr>
        <p:txBody>
          <a:bodyPr wrap="square" lIns="0" tIns="0" rIns="0" bIns="0" rtlCol="0" anchor="t">
            <a:spAutoFit/>
          </a:bodyPr>
          <a:lstStyle/>
          <a:p>
            <a:r>
              <a:rPr lang="en-US" sz="5400" b="1" dirty="0">
                <a:solidFill>
                  <a:srgbClr val="000000"/>
                </a:solidFill>
                <a:latin typeface="Agrandir"/>
                <a:ea typeface="Agrandir"/>
                <a:cs typeface="Agrandir"/>
                <a:sym typeface="Agrandir"/>
              </a:rPr>
              <a:t>04</a:t>
            </a:r>
          </a:p>
        </p:txBody>
      </p:sp>
      <p:sp>
        <p:nvSpPr>
          <p:cNvPr id="18" name="TextBox 5">
            <a:extLst>
              <a:ext uri="{FF2B5EF4-FFF2-40B4-BE49-F238E27FC236}">
                <a16:creationId xmlns:a16="http://schemas.microsoft.com/office/drawing/2014/main" id="{AB3353CB-02C2-DC51-B851-E0A85B28F431}"/>
              </a:ext>
            </a:extLst>
          </p:cNvPr>
          <p:cNvSpPr txBox="1"/>
          <p:nvPr/>
        </p:nvSpPr>
        <p:spPr>
          <a:xfrm>
            <a:off x="3319244" y="3505934"/>
            <a:ext cx="7577356" cy="307777"/>
          </a:xfrm>
          <a:prstGeom prst="rect">
            <a:avLst/>
          </a:prstGeom>
        </p:spPr>
        <p:txBody>
          <a:bodyPr wrap="square" lIns="0" tIns="0" rIns="0" bIns="0" rtlCol="0" anchor="t">
            <a:spAutoFit/>
          </a:bodyPr>
          <a:lstStyle/>
          <a:p>
            <a:r>
              <a:rPr lang="ja-JP" altLang="en-US" sz="2000" dirty="0">
                <a:solidFill>
                  <a:schemeClr val="bg1">
                    <a:lumMod val="50000"/>
                  </a:schemeClr>
                </a:solidFill>
                <a:latin typeface="Agrandir"/>
                <a:ea typeface="Agrandir"/>
                <a:cs typeface="Agrandir"/>
                <a:sym typeface="Agrandir"/>
              </a:rPr>
              <a:t>魔方陣の概念、目的、および要件</a:t>
            </a:r>
            <a:endParaRPr lang="en-US" sz="2000" dirty="0">
              <a:solidFill>
                <a:schemeClr val="bg1">
                  <a:lumMod val="50000"/>
                </a:schemeClr>
              </a:solidFill>
              <a:latin typeface="Agrandir"/>
              <a:ea typeface="Agrandir"/>
              <a:cs typeface="Agrandir"/>
              <a:sym typeface="Agrandir"/>
            </a:endParaRPr>
          </a:p>
        </p:txBody>
      </p:sp>
      <p:sp>
        <p:nvSpPr>
          <p:cNvPr id="19" name="TextBox 5">
            <a:extLst>
              <a:ext uri="{FF2B5EF4-FFF2-40B4-BE49-F238E27FC236}">
                <a16:creationId xmlns:a16="http://schemas.microsoft.com/office/drawing/2014/main" id="{6C09BE6E-2986-12D9-8E3C-6F50855C933E}"/>
              </a:ext>
            </a:extLst>
          </p:cNvPr>
          <p:cNvSpPr txBox="1"/>
          <p:nvPr/>
        </p:nvSpPr>
        <p:spPr>
          <a:xfrm>
            <a:off x="3245894" y="4382188"/>
            <a:ext cx="8107906" cy="553998"/>
          </a:xfrm>
          <a:prstGeom prst="rect">
            <a:avLst/>
          </a:prstGeom>
        </p:spPr>
        <p:txBody>
          <a:bodyPr wrap="square" lIns="0" tIns="0" rIns="0" bIns="0" rtlCol="0" anchor="t">
            <a:spAutoFit/>
          </a:bodyPr>
          <a:lstStyle/>
          <a:p>
            <a:r>
              <a:rPr lang="ja-JP" altLang="en-US" sz="3600" dirty="0"/>
              <a:t>ゲームプレイとシステム概要</a:t>
            </a:r>
            <a:endParaRPr lang="en-US" sz="3600" b="1" dirty="0">
              <a:solidFill>
                <a:srgbClr val="000000"/>
              </a:solidFill>
              <a:latin typeface="Agrandir"/>
              <a:ea typeface="Agrandir"/>
              <a:cs typeface="Agrandir"/>
              <a:sym typeface="Agrandir"/>
            </a:endParaRPr>
          </a:p>
        </p:txBody>
      </p:sp>
      <p:sp>
        <p:nvSpPr>
          <p:cNvPr id="20" name="TextBox 5">
            <a:extLst>
              <a:ext uri="{FF2B5EF4-FFF2-40B4-BE49-F238E27FC236}">
                <a16:creationId xmlns:a16="http://schemas.microsoft.com/office/drawing/2014/main" id="{0E73E476-AF4C-7FC6-41EB-D1D865FD522A}"/>
              </a:ext>
            </a:extLst>
          </p:cNvPr>
          <p:cNvSpPr txBox="1"/>
          <p:nvPr/>
        </p:nvSpPr>
        <p:spPr>
          <a:xfrm>
            <a:off x="3245894" y="5071101"/>
            <a:ext cx="11232106" cy="307777"/>
          </a:xfrm>
          <a:prstGeom prst="rect">
            <a:avLst/>
          </a:prstGeom>
        </p:spPr>
        <p:txBody>
          <a:bodyPr wrap="square" lIns="0" tIns="0" rIns="0" bIns="0" rtlCol="0" anchor="t">
            <a:spAutoFit/>
          </a:bodyPr>
          <a:lstStyle/>
          <a:p>
            <a:r>
              <a:rPr lang="ja-JP" altLang="en-US" sz="2000" dirty="0">
                <a:solidFill>
                  <a:schemeClr val="bg1">
                    <a:lumMod val="50000"/>
                  </a:schemeClr>
                </a:solidFill>
                <a:latin typeface="Agrandir"/>
                <a:ea typeface="Agrandir"/>
                <a:cs typeface="Agrandir"/>
                <a:sym typeface="Agrandir"/>
              </a:rPr>
              <a:t>ステップバイステップガイド、ユーザーインターフェース、バックエンドアーキテクチャ</a:t>
            </a:r>
            <a:endParaRPr lang="en-US" sz="2000" dirty="0">
              <a:solidFill>
                <a:schemeClr val="bg1">
                  <a:lumMod val="50000"/>
                </a:schemeClr>
              </a:solidFill>
              <a:latin typeface="Agrandir"/>
              <a:ea typeface="Agrandir"/>
              <a:cs typeface="Agrandir"/>
              <a:sym typeface="Agrandir"/>
            </a:endParaRPr>
          </a:p>
        </p:txBody>
      </p:sp>
      <p:sp>
        <p:nvSpPr>
          <p:cNvPr id="21" name="TextBox 5">
            <a:extLst>
              <a:ext uri="{FF2B5EF4-FFF2-40B4-BE49-F238E27FC236}">
                <a16:creationId xmlns:a16="http://schemas.microsoft.com/office/drawing/2014/main" id="{A5B5BF8D-1144-CC60-6BB9-A4B00AF6DB35}"/>
              </a:ext>
            </a:extLst>
          </p:cNvPr>
          <p:cNvSpPr txBox="1"/>
          <p:nvPr/>
        </p:nvSpPr>
        <p:spPr>
          <a:xfrm>
            <a:off x="3245894" y="5941412"/>
            <a:ext cx="8107906" cy="553998"/>
          </a:xfrm>
          <a:prstGeom prst="rect">
            <a:avLst/>
          </a:prstGeom>
        </p:spPr>
        <p:txBody>
          <a:bodyPr wrap="square" lIns="0" tIns="0" rIns="0" bIns="0" rtlCol="0" anchor="t">
            <a:spAutoFit/>
          </a:bodyPr>
          <a:lstStyle/>
          <a:p>
            <a:r>
              <a:rPr lang="ja-JP" altLang="en-US" sz="3600" b="1" dirty="0">
                <a:solidFill>
                  <a:srgbClr val="000000"/>
                </a:solidFill>
                <a:latin typeface="Agrandir"/>
                <a:ea typeface="Agrandir"/>
                <a:cs typeface="Agrandir"/>
                <a:sym typeface="Agrandir"/>
              </a:rPr>
              <a:t>主な特長</a:t>
            </a:r>
            <a:endParaRPr lang="en-US" sz="3600" b="1" dirty="0">
              <a:solidFill>
                <a:srgbClr val="000000"/>
              </a:solidFill>
              <a:latin typeface="Agrandir"/>
              <a:ea typeface="Agrandir"/>
              <a:cs typeface="Agrandir"/>
              <a:sym typeface="Agrandir"/>
            </a:endParaRPr>
          </a:p>
        </p:txBody>
      </p:sp>
      <p:sp>
        <p:nvSpPr>
          <p:cNvPr id="22" name="TextBox 5">
            <a:extLst>
              <a:ext uri="{FF2B5EF4-FFF2-40B4-BE49-F238E27FC236}">
                <a16:creationId xmlns:a16="http://schemas.microsoft.com/office/drawing/2014/main" id="{0DE548BB-E95F-01A9-FAF1-D2DADFD9E532}"/>
              </a:ext>
            </a:extLst>
          </p:cNvPr>
          <p:cNvSpPr txBox="1"/>
          <p:nvPr/>
        </p:nvSpPr>
        <p:spPr>
          <a:xfrm>
            <a:off x="3245894" y="6630325"/>
            <a:ext cx="6539287" cy="307777"/>
          </a:xfrm>
          <a:prstGeom prst="rect">
            <a:avLst/>
          </a:prstGeom>
        </p:spPr>
        <p:txBody>
          <a:bodyPr wrap="square" lIns="0" tIns="0" rIns="0" bIns="0" rtlCol="0" anchor="t">
            <a:spAutoFit/>
          </a:bodyPr>
          <a:lstStyle/>
          <a:p>
            <a:r>
              <a:rPr lang="ja-JP" altLang="en-US" sz="2000" dirty="0">
                <a:solidFill>
                  <a:schemeClr val="bg1">
                    <a:lumMod val="50000"/>
                  </a:schemeClr>
                </a:solidFill>
                <a:latin typeface="Agrandir"/>
                <a:ea typeface="Agrandir"/>
                <a:cs typeface="Agrandir"/>
                <a:sym typeface="Agrandir"/>
              </a:rPr>
              <a:t>翻訳、ゲームモード、スタイル、スコアリングシステム</a:t>
            </a:r>
            <a:endParaRPr lang="en-US" sz="2000" dirty="0">
              <a:solidFill>
                <a:schemeClr val="bg1">
                  <a:lumMod val="50000"/>
                </a:schemeClr>
              </a:solidFill>
              <a:latin typeface="Agrandir"/>
              <a:ea typeface="Agrandir"/>
              <a:cs typeface="Agrandir"/>
              <a:sym typeface="Agrandir"/>
            </a:endParaRPr>
          </a:p>
        </p:txBody>
      </p:sp>
      <p:sp>
        <p:nvSpPr>
          <p:cNvPr id="23" name="TextBox 5">
            <a:extLst>
              <a:ext uri="{FF2B5EF4-FFF2-40B4-BE49-F238E27FC236}">
                <a16:creationId xmlns:a16="http://schemas.microsoft.com/office/drawing/2014/main" id="{195EF815-EF0B-2A10-F693-835F582AC283}"/>
              </a:ext>
            </a:extLst>
          </p:cNvPr>
          <p:cNvSpPr txBox="1"/>
          <p:nvPr/>
        </p:nvSpPr>
        <p:spPr>
          <a:xfrm>
            <a:off x="3245894" y="7604698"/>
            <a:ext cx="8107906" cy="553998"/>
          </a:xfrm>
          <a:prstGeom prst="rect">
            <a:avLst/>
          </a:prstGeom>
        </p:spPr>
        <p:txBody>
          <a:bodyPr wrap="square" lIns="0" tIns="0" rIns="0" bIns="0" rtlCol="0" anchor="t">
            <a:spAutoFit/>
          </a:bodyPr>
          <a:lstStyle/>
          <a:p>
            <a:r>
              <a:rPr lang="ja-JP" altLang="en-US" sz="3600" b="1" dirty="0">
                <a:solidFill>
                  <a:srgbClr val="000000"/>
                </a:solidFill>
                <a:latin typeface="Agrandir"/>
                <a:ea typeface="Agrandir"/>
                <a:cs typeface="Agrandir"/>
                <a:sym typeface="Agrandir"/>
              </a:rPr>
              <a:t>今後の機能と課題</a:t>
            </a:r>
            <a:endParaRPr lang="en-US" sz="3600" b="1" dirty="0">
              <a:solidFill>
                <a:srgbClr val="000000"/>
              </a:solidFill>
              <a:latin typeface="Agrandir"/>
              <a:ea typeface="Agrandir"/>
              <a:cs typeface="Agrandir"/>
              <a:sym typeface="Agrandir"/>
            </a:endParaRPr>
          </a:p>
        </p:txBody>
      </p:sp>
      <p:sp>
        <p:nvSpPr>
          <p:cNvPr id="26" name="TextBox 5">
            <a:extLst>
              <a:ext uri="{FF2B5EF4-FFF2-40B4-BE49-F238E27FC236}">
                <a16:creationId xmlns:a16="http://schemas.microsoft.com/office/drawing/2014/main" id="{22735EE7-A064-4D91-390B-3A02D3B29F9B}"/>
              </a:ext>
            </a:extLst>
          </p:cNvPr>
          <p:cNvSpPr txBox="1"/>
          <p:nvPr/>
        </p:nvSpPr>
        <p:spPr>
          <a:xfrm>
            <a:off x="5122873" y="1302745"/>
            <a:ext cx="8042254" cy="900631"/>
          </a:xfrm>
          <a:prstGeom prst="rect">
            <a:avLst/>
          </a:prstGeom>
        </p:spPr>
        <p:txBody>
          <a:bodyPr lIns="0" tIns="0" rIns="0" bIns="0" rtlCol="0" anchor="t">
            <a:spAutoFit/>
          </a:bodyPr>
          <a:lstStyle/>
          <a:p>
            <a:pPr algn="ctr">
              <a:lnSpc>
                <a:spcPts val="6952"/>
              </a:lnSpc>
            </a:pPr>
            <a:r>
              <a:rPr lang="ja-JP" altLang="en-US" sz="6600" b="1" dirty="0">
                <a:solidFill>
                  <a:srgbClr val="000000"/>
                </a:solidFill>
                <a:latin typeface="Agrandir"/>
                <a:ea typeface="Agrandir"/>
                <a:cs typeface="Agrandir"/>
                <a:sym typeface="Agrandir"/>
              </a:rPr>
              <a:t>目次</a:t>
            </a:r>
            <a:endParaRPr lang="en-US" sz="6600" b="1" dirty="0">
              <a:solidFill>
                <a:srgbClr val="000000"/>
              </a:solidFill>
              <a:latin typeface="Agrandir"/>
              <a:ea typeface="Agrandir"/>
              <a:cs typeface="Agrandir"/>
              <a:sym typeface="Agrandir"/>
            </a:endParaRPr>
          </a:p>
        </p:txBody>
      </p:sp>
      <p:sp>
        <p:nvSpPr>
          <p:cNvPr id="14" name="TextBox 5">
            <a:extLst>
              <a:ext uri="{FF2B5EF4-FFF2-40B4-BE49-F238E27FC236}">
                <a16:creationId xmlns:a16="http://schemas.microsoft.com/office/drawing/2014/main" id="{21681914-974D-67DF-11FE-2F551CD37730}"/>
              </a:ext>
            </a:extLst>
          </p:cNvPr>
          <p:cNvSpPr txBox="1"/>
          <p:nvPr/>
        </p:nvSpPr>
        <p:spPr>
          <a:xfrm>
            <a:off x="3242482" y="8311587"/>
            <a:ext cx="6539287" cy="307777"/>
          </a:xfrm>
          <a:prstGeom prst="rect">
            <a:avLst/>
          </a:prstGeom>
        </p:spPr>
        <p:txBody>
          <a:bodyPr wrap="square" lIns="0" tIns="0" rIns="0" bIns="0" rtlCol="0" anchor="t">
            <a:spAutoFit/>
          </a:bodyPr>
          <a:lstStyle/>
          <a:p>
            <a:r>
              <a:rPr lang="ja-JP" altLang="en-US" sz="2000" dirty="0">
                <a:solidFill>
                  <a:schemeClr val="bg1">
                    <a:lumMod val="50000"/>
                  </a:schemeClr>
                </a:solidFill>
                <a:latin typeface="Agrandir"/>
                <a:ea typeface="Agrandir"/>
                <a:cs typeface="Agrandir"/>
                <a:sym typeface="Agrandir"/>
              </a:rPr>
              <a:t>今後期待される機能と、発生したシステム上の問題点</a:t>
            </a:r>
            <a:endParaRPr lang="en-US" sz="2000" dirty="0">
              <a:solidFill>
                <a:schemeClr val="bg1">
                  <a:lumMod val="50000"/>
                </a:schemeClr>
              </a:solidFill>
              <a:latin typeface="Agrandir"/>
              <a:ea typeface="Agrandir"/>
              <a:cs typeface="Agrandir"/>
              <a:sym typeface="Agrandir"/>
            </a:endParaRPr>
          </a:p>
        </p:txBody>
      </p:sp>
    </p:spTree>
    <p:extLst>
      <p:ext uri="{BB962C8B-B14F-4D97-AF65-F5344CB8AC3E}">
        <p14:creationId xmlns:p14="http://schemas.microsoft.com/office/powerpoint/2010/main" val="2201552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19701214-0D1B-EA4F-33A5-2AD9F16C9B56}"/>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6A812BEF-4EE7-4214-600D-7E22B5B2C0C1}"/>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150CCFB0-B121-9A34-E4A9-D1F9585CEE6D}"/>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34364587-8C68-E4EE-C2ED-BCA09279C6D4}"/>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2" name="TextBox 5">
            <a:extLst>
              <a:ext uri="{FF2B5EF4-FFF2-40B4-BE49-F238E27FC236}">
                <a16:creationId xmlns:a16="http://schemas.microsoft.com/office/drawing/2014/main" id="{C6E1E962-CCAF-EBBD-535C-3A88D42F31F8}"/>
              </a:ext>
            </a:extLst>
          </p:cNvPr>
          <p:cNvSpPr txBox="1"/>
          <p:nvPr/>
        </p:nvSpPr>
        <p:spPr>
          <a:xfrm>
            <a:off x="4202297" y="3541330"/>
            <a:ext cx="9883405" cy="3204339"/>
          </a:xfrm>
          <a:prstGeom prst="rect">
            <a:avLst/>
          </a:prstGeom>
        </p:spPr>
        <p:txBody>
          <a:bodyPr lIns="0" tIns="0" rIns="0" bIns="0" rtlCol="0" anchor="t">
            <a:spAutoFit/>
          </a:bodyPr>
          <a:lstStyle/>
          <a:p>
            <a:pPr algn="ctr">
              <a:lnSpc>
                <a:spcPts val="8543"/>
              </a:lnSpc>
            </a:pPr>
            <a:r>
              <a:rPr lang="en-US" sz="7766" b="1" dirty="0">
                <a:solidFill>
                  <a:srgbClr val="000000"/>
                </a:solidFill>
                <a:latin typeface="Agrandir"/>
                <a:ea typeface="Agrandir"/>
                <a:cs typeface="Agrandir"/>
                <a:sym typeface="Agrandir"/>
              </a:rPr>
              <a:t>01</a:t>
            </a:r>
          </a:p>
          <a:p>
            <a:pPr algn="ctr">
              <a:lnSpc>
                <a:spcPts val="8543"/>
              </a:lnSpc>
            </a:pPr>
            <a:r>
              <a:rPr lang="en-US" sz="6000" spc="600" dirty="0">
                <a:solidFill>
                  <a:srgbClr val="000000"/>
                </a:solidFill>
                <a:latin typeface="Agrandir"/>
                <a:ea typeface="Agrandir"/>
                <a:cs typeface="Agrandir"/>
                <a:sym typeface="Agrandir"/>
              </a:rPr>
              <a:t>Introduction &amp; Objectives</a:t>
            </a:r>
            <a:endParaRPr lang="en-US" sz="7766" dirty="0">
              <a:solidFill>
                <a:srgbClr val="000000"/>
              </a:solidFill>
              <a:latin typeface="Agrandir"/>
              <a:ea typeface="Agrandir"/>
              <a:cs typeface="Agrandir"/>
              <a:sym typeface="Agrandir"/>
            </a:endParaRPr>
          </a:p>
        </p:txBody>
      </p:sp>
    </p:spTree>
    <p:extLst>
      <p:ext uri="{BB962C8B-B14F-4D97-AF65-F5344CB8AC3E}">
        <p14:creationId xmlns:p14="http://schemas.microsoft.com/office/powerpoint/2010/main" val="1339023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8A02A90C-B70C-9533-7CC4-92FF8E200ADF}"/>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A52776E9-5FCD-05F7-1B82-AD0E83FA2100}"/>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9526C982-B094-F746-D363-4C9AA92E004E}"/>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5F8A7FA5-7213-9AAC-9C20-136016CF50B5}"/>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2" name="TextBox 5">
            <a:extLst>
              <a:ext uri="{FF2B5EF4-FFF2-40B4-BE49-F238E27FC236}">
                <a16:creationId xmlns:a16="http://schemas.microsoft.com/office/drawing/2014/main" id="{8250A1B6-2F44-ABEF-C497-A281CD6436F1}"/>
              </a:ext>
            </a:extLst>
          </p:cNvPr>
          <p:cNvSpPr txBox="1"/>
          <p:nvPr/>
        </p:nvSpPr>
        <p:spPr>
          <a:xfrm>
            <a:off x="4202297" y="3541330"/>
            <a:ext cx="9883405" cy="2122056"/>
          </a:xfrm>
          <a:prstGeom prst="rect">
            <a:avLst/>
          </a:prstGeom>
        </p:spPr>
        <p:txBody>
          <a:bodyPr lIns="0" tIns="0" rIns="0" bIns="0" rtlCol="0" anchor="t">
            <a:spAutoFit/>
          </a:bodyPr>
          <a:lstStyle/>
          <a:p>
            <a:pPr algn="ctr">
              <a:lnSpc>
                <a:spcPts val="8543"/>
              </a:lnSpc>
            </a:pPr>
            <a:r>
              <a:rPr lang="en-US" sz="7766" b="1" dirty="0">
                <a:solidFill>
                  <a:srgbClr val="000000"/>
                </a:solidFill>
                <a:latin typeface="Agrandir"/>
                <a:ea typeface="Agrandir"/>
                <a:cs typeface="Agrandir"/>
                <a:sym typeface="Agrandir"/>
              </a:rPr>
              <a:t>01</a:t>
            </a:r>
          </a:p>
          <a:p>
            <a:pPr algn="ctr">
              <a:lnSpc>
                <a:spcPts val="8543"/>
              </a:lnSpc>
            </a:pPr>
            <a:r>
              <a:rPr lang="ja-JP" altLang="en-US" sz="6000" spc="600" dirty="0">
                <a:solidFill>
                  <a:srgbClr val="000000"/>
                </a:solidFill>
                <a:latin typeface="Agrandir"/>
                <a:ea typeface="Agrandir"/>
                <a:cs typeface="Agrandir"/>
                <a:sym typeface="Agrandir"/>
              </a:rPr>
              <a:t>序論と目的</a:t>
            </a:r>
            <a:endParaRPr lang="en-US" sz="7766" dirty="0">
              <a:solidFill>
                <a:srgbClr val="000000"/>
              </a:solidFill>
              <a:latin typeface="Agrandir"/>
              <a:ea typeface="Agrandir"/>
              <a:cs typeface="Agrandir"/>
              <a:sym typeface="Agrandir"/>
            </a:endParaRPr>
          </a:p>
        </p:txBody>
      </p:sp>
    </p:spTree>
    <p:extLst>
      <p:ext uri="{BB962C8B-B14F-4D97-AF65-F5344CB8AC3E}">
        <p14:creationId xmlns:p14="http://schemas.microsoft.com/office/powerpoint/2010/main" val="1740134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10" name="Group 2">
            <a:extLst>
              <a:ext uri="{FF2B5EF4-FFF2-40B4-BE49-F238E27FC236}">
                <a16:creationId xmlns:a16="http://schemas.microsoft.com/office/drawing/2014/main" id="{76059246-17CA-FF9E-E174-3F1D5B2071B3}"/>
              </a:ext>
            </a:extLst>
          </p:cNvPr>
          <p:cNvGrpSpPr/>
          <p:nvPr/>
        </p:nvGrpSpPr>
        <p:grpSpPr>
          <a:xfrm>
            <a:off x="680480" y="625871"/>
            <a:ext cx="16927040" cy="9035258"/>
            <a:chOff x="0" y="0"/>
            <a:chExt cx="126402652" cy="67470777"/>
          </a:xfrm>
        </p:grpSpPr>
        <p:sp>
          <p:nvSpPr>
            <p:cNvPr id="11" name="Freeform 3">
              <a:extLst>
                <a:ext uri="{FF2B5EF4-FFF2-40B4-BE49-F238E27FC236}">
                  <a16:creationId xmlns:a16="http://schemas.microsoft.com/office/drawing/2014/main" id="{9BB3E200-D6E2-921A-225E-4CF06343AE44}"/>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2" name="Freeform 4">
              <a:extLst>
                <a:ext uri="{FF2B5EF4-FFF2-40B4-BE49-F238E27FC236}">
                  <a16:creationId xmlns:a16="http://schemas.microsoft.com/office/drawing/2014/main" id="{281FD9CE-8422-DC12-302C-84E4D71C1C61}"/>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Freeform 5"/>
          <p:cNvSpPr/>
          <p:nvPr/>
        </p:nvSpPr>
        <p:spPr>
          <a:xfrm>
            <a:off x="7616002" y="2854350"/>
            <a:ext cx="9196507" cy="4231431"/>
          </a:xfrm>
          <a:custGeom>
            <a:avLst/>
            <a:gdLst/>
            <a:ahLst/>
            <a:cxnLst/>
            <a:rect l="l" t="t" r="r" b="b"/>
            <a:pathLst>
              <a:path w="9196507" h="4231431">
                <a:moveTo>
                  <a:pt x="9092980" y="0"/>
                </a:moveTo>
                <a:lnTo>
                  <a:pt x="228600" y="0"/>
                </a:lnTo>
                <a:cubicBezTo>
                  <a:pt x="167971" y="0"/>
                  <a:pt x="109826" y="24084"/>
                  <a:pt x="66955" y="66955"/>
                </a:cubicBezTo>
                <a:cubicBezTo>
                  <a:pt x="24084" y="109826"/>
                  <a:pt x="0" y="167971"/>
                  <a:pt x="0" y="228600"/>
                </a:cubicBezTo>
                <a:lnTo>
                  <a:pt x="0" y="4002831"/>
                </a:lnTo>
                <a:cubicBezTo>
                  <a:pt x="0" y="4129083"/>
                  <a:pt x="102348" y="4231431"/>
                  <a:pt x="228600" y="4231431"/>
                </a:cubicBezTo>
                <a:lnTo>
                  <a:pt x="9196507" y="4231431"/>
                </a:lnTo>
              </a:path>
            </a:pathLst>
          </a:custGeom>
          <a:ln w="38100" cap="flat">
            <a:solidFill>
              <a:srgbClr val="000000"/>
            </a:solidFill>
            <a:prstDash val="solid"/>
            <a:headEnd type="oval" w="lg" len="lg"/>
            <a:tailEnd type="oval" w="lg" len="lg"/>
          </a:ln>
        </p:spPr>
        <p:txBody>
          <a:bodyPr/>
          <a:lstStyle/>
          <a:p>
            <a:endParaRPr lang="en-US"/>
          </a:p>
        </p:txBody>
      </p:sp>
      <p:sp>
        <p:nvSpPr>
          <p:cNvPr id="8" name="TextBox 8"/>
          <p:cNvSpPr txBox="1"/>
          <p:nvPr/>
        </p:nvSpPr>
        <p:spPr>
          <a:xfrm>
            <a:off x="8195685" y="3339396"/>
            <a:ext cx="7210087" cy="589905"/>
          </a:xfrm>
          <a:prstGeom prst="rect">
            <a:avLst/>
          </a:prstGeom>
        </p:spPr>
        <p:txBody>
          <a:bodyPr lIns="0" tIns="0" rIns="0" bIns="0" rtlCol="0" anchor="t">
            <a:spAutoFit/>
          </a:bodyPr>
          <a:lstStyle/>
          <a:p>
            <a:pPr algn="just">
              <a:lnSpc>
                <a:spcPts val="4599"/>
              </a:lnSpc>
            </a:pPr>
            <a:r>
              <a:rPr lang="en-US" sz="4181" b="1" dirty="0">
                <a:solidFill>
                  <a:srgbClr val="000000"/>
                </a:solidFill>
                <a:latin typeface="Agrandir"/>
                <a:ea typeface="Agrandir"/>
                <a:cs typeface="Agrandir"/>
                <a:sym typeface="Agrandir"/>
              </a:rPr>
              <a:t>What is Magic Square ?</a:t>
            </a:r>
          </a:p>
        </p:txBody>
      </p:sp>
      <p:sp>
        <p:nvSpPr>
          <p:cNvPr id="9" name="TextBox 9"/>
          <p:cNvSpPr txBox="1"/>
          <p:nvPr/>
        </p:nvSpPr>
        <p:spPr>
          <a:xfrm>
            <a:off x="8195685" y="4229100"/>
            <a:ext cx="7210087" cy="2329036"/>
          </a:xfrm>
          <a:prstGeom prst="rect">
            <a:avLst/>
          </a:prstGeom>
        </p:spPr>
        <p:txBody>
          <a:bodyPr lIns="0" tIns="0" rIns="0" bIns="0" rtlCol="0" anchor="t">
            <a:spAutoFit/>
          </a:bodyPr>
          <a:lstStyle/>
          <a:p>
            <a:pPr>
              <a:lnSpc>
                <a:spcPct val="150000"/>
              </a:lnSpc>
            </a:pPr>
            <a:r>
              <a:rPr lang="en-US" sz="2600" dirty="0">
                <a:solidFill>
                  <a:srgbClr val="000000"/>
                </a:solidFill>
                <a:latin typeface="Inter"/>
                <a:ea typeface="Inter"/>
                <a:cs typeface="Inter"/>
                <a:sym typeface="Inter"/>
              </a:rPr>
              <a:t>Magic Square is a grid of numbers where the sum of each row, column and both main diagonals is exactly the same. This constant total is called the "Magic Constant."</a:t>
            </a:r>
          </a:p>
        </p:txBody>
      </p:sp>
      <p:pic>
        <p:nvPicPr>
          <p:cNvPr id="1028" name="Picture 4" descr="Magic Square 3 X 3 | MyWorldTheirWay.com | Math Tricks">
            <a:extLst>
              <a:ext uri="{FF2B5EF4-FFF2-40B4-BE49-F238E27FC236}">
                <a16:creationId xmlns:a16="http://schemas.microsoft.com/office/drawing/2014/main" id="{B639425E-6EF4-6FC7-1BC9-3B975B5A02C4}"/>
              </a:ext>
            </a:extLst>
          </p:cNvPr>
          <p:cNvPicPr>
            <a:picLocks noChangeAspect="1" noChangeArrowheads="1"/>
          </p:cNvPicPr>
          <p:nvPr/>
        </p:nvPicPr>
        <p:blipFill>
          <a:blip r:embed="rId2">
            <a:duotone>
              <a:schemeClr val="accent1">
                <a:shade val="45000"/>
                <a:satMod val="135000"/>
              </a:schemeClr>
              <a:prstClr val="white"/>
            </a:duotone>
          </a:blip>
          <a:srcRect/>
          <a:stretch/>
        </p:blipFill>
        <p:spPr bwMode="auto">
          <a:xfrm>
            <a:off x="990600" y="1931021"/>
            <a:ext cx="6093711" cy="60780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2CBE6479-7AE7-B4F4-9E40-65C2437F2657}"/>
            </a:ext>
          </a:extLst>
        </p:cNvPr>
        <p:cNvGrpSpPr/>
        <p:nvPr/>
      </p:nvGrpSpPr>
      <p:grpSpPr>
        <a:xfrm>
          <a:off x="0" y="0"/>
          <a:ext cx="0" cy="0"/>
          <a:chOff x="0" y="0"/>
          <a:chExt cx="0" cy="0"/>
        </a:xfrm>
      </p:grpSpPr>
      <p:grpSp>
        <p:nvGrpSpPr>
          <p:cNvPr id="10" name="Group 2">
            <a:extLst>
              <a:ext uri="{FF2B5EF4-FFF2-40B4-BE49-F238E27FC236}">
                <a16:creationId xmlns:a16="http://schemas.microsoft.com/office/drawing/2014/main" id="{D6CFB33F-5229-4B9A-EEB1-ED0EB690D728}"/>
              </a:ext>
            </a:extLst>
          </p:cNvPr>
          <p:cNvGrpSpPr/>
          <p:nvPr/>
        </p:nvGrpSpPr>
        <p:grpSpPr>
          <a:xfrm>
            <a:off x="680480" y="625871"/>
            <a:ext cx="16927040" cy="9035258"/>
            <a:chOff x="0" y="0"/>
            <a:chExt cx="126402652" cy="67470777"/>
          </a:xfrm>
        </p:grpSpPr>
        <p:sp>
          <p:nvSpPr>
            <p:cNvPr id="11" name="Freeform 3">
              <a:extLst>
                <a:ext uri="{FF2B5EF4-FFF2-40B4-BE49-F238E27FC236}">
                  <a16:creationId xmlns:a16="http://schemas.microsoft.com/office/drawing/2014/main" id="{3FCFAD0B-852F-B029-375D-0FDA120CBE93}"/>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2" name="Freeform 4">
              <a:extLst>
                <a:ext uri="{FF2B5EF4-FFF2-40B4-BE49-F238E27FC236}">
                  <a16:creationId xmlns:a16="http://schemas.microsoft.com/office/drawing/2014/main" id="{5990434E-5916-F173-A563-923C2EA62F53}"/>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Freeform 5">
            <a:extLst>
              <a:ext uri="{FF2B5EF4-FFF2-40B4-BE49-F238E27FC236}">
                <a16:creationId xmlns:a16="http://schemas.microsoft.com/office/drawing/2014/main" id="{C0228D9B-4695-E099-A942-23C3A77D6BAD}"/>
              </a:ext>
            </a:extLst>
          </p:cNvPr>
          <p:cNvSpPr/>
          <p:nvPr/>
        </p:nvSpPr>
        <p:spPr>
          <a:xfrm>
            <a:off x="7616002" y="2854350"/>
            <a:ext cx="9196507" cy="4231431"/>
          </a:xfrm>
          <a:custGeom>
            <a:avLst/>
            <a:gdLst/>
            <a:ahLst/>
            <a:cxnLst/>
            <a:rect l="l" t="t" r="r" b="b"/>
            <a:pathLst>
              <a:path w="9196507" h="4231431">
                <a:moveTo>
                  <a:pt x="9092980" y="0"/>
                </a:moveTo>
                <a:lnTo>
                  <a:pt x="228600" y="0"/>
                </a:lnTo>
                <a:cubicBezTo>
                  <a:pt x="167971" y="0"/>
                  <a:pt x="109826" y="24084"/>
                  <a:pt x="66955" y="66955"/>
                </a:cubicBezTo>
                <a:cubicBezTo>
                  <a:pt x="24084" y="109826"/>
                  <a:pt x="0" y="167971"/>
                  <a:pt x="0" y="228600"/>
                </a:cubicBezTo>
                <a:lnTo>
                  <a:pt x="0" y="4002831"/>
                </a:lnTo>
                <a:cubicBezTo>
                  <a:pt x="0" y="4129083"/>
                  <a:pt x="102348" y="4231431"/>
                  <a:pt x="228600" y="4231431"/>
                </a:cubicBezTo>
                <a:lnTo>
                  <a:pt x="9196507" y="4231431"/>
                </a:lnTo>
              </a:path>
            </a:pathLst>
          </a:custGeom>
          <a:ln w="38100" cap="flat">
            <a:solidFill>
              <a:srgbClr val="000000"/>
            </a:solidFill>
            <a:prstDash val="solid"/>
            <a:headEnd type="oval" w="lg" len="lg"/>
            <a:tailEnd type="oval" w="lg" len="lg"/>
          </a:ln>
        </p:spPr>
        <p:txBody>
          <a:bodyPr/>
          <a:lstStyle/>
          <a:p>
            <a:endParaRPr lang="en-US"/>
          </a:p>
        </p:txBody>
      </p:sp>
      <p:sp>
        <p:nvSpPr>
          <p:cNvPr id="8" name="TextBox 8">
            <a:extLst>
              <a:ext uri="{FF2B5EF4-FFF2-40B4-BE49-F238E27FC236}">
                <a16:creationId xmlns:a16="http://schemas.microsoft.com/office/drawing/2014/main" id="{6321D1B1-EABA-9D8C-4D7E-F11985F50EF4}"/>
              </a:ext>
            </a:extLst>
          </p:cNvPr>
          <p:cNvSpPr txBox="1"/>
          <p:nvPr/>
        </p:nvSpPr>
        <p:spPr>
          <a:xfrm>
            <a:off x="8195685" y="3339396"/>
            <a:ext cx="7210087" cy="589905"/>
          </a:xfrm>
          <a:prstGeom prst="rect">
            <a:avLst/>
          </a:prstGeom>
        </p:spPr>
        <p:txBody>
          <a:bodyPr lIns="0" tIns="0" rIns="0" bIns="0" rtlCol="0" anchor="t">
            <a:spAutoFit/>
          </a:bodyPr>
          <a:lstStyle/>
          <a:p>
            <a:pPr algn="just">
              <a:lnSpc>
                <a:spcPts val="4599"/>
              </a:lnSpc>
            </a:pPr>
            <a:r>
              <a:rPr lang="ja-JP" altLang="en-US" sz="4181" b="1" dirty="0">
                <a:solidFill>
                  <a:srgbClr val="000000"/>
                </a:solidFill>
                <a:latin typeface="Agrandir"/>
                <a:ea typeface="Agrandir"/>
                <a:cs typeface="Agrandir"/>
                <a:sym typeface="Agrandir"/>
              </a:rPr>
              <a:t>魔方陣とは？</a:t>
            </a:r>
            <a:endParaRPr lang="en-US" sz="4181" b="1" dirty="0">
              <a:solidFill>
                <a:srgbClr val="000000"/>
              </a:solidFill>
              <a:latin typeface="Agrandir"/>
              <a:ea typeface="Agrandir"/>
              <a:cs typeface="Agrandir"/>
              <a:sym typeface="Agrandir"/>
            </a:endParaRPr>
          </a:p>
        </p:txBody>
      </p:sp>
      <p:sp>
        <p:nvSpPr>
          <p:cNvPr id="9" name="TextBox 9">
            <a:extLst>
              <a:ext uri="{FF2B5EF4-FFF2-40B4-BE49-F238E27FC236}">
                <a16:creationId xmlns:a16="http://schemas.microsoft.com/office/drawing/2014/main" id="{CDD44118-33A9-7298-A0C4-3000F51C64C8}"/>
              </a:ext>
            </a:extLst>
          </p:cNvPr>
          <p:cNvSpPr txBox="1"/>
          <p:nvPr/>
        </p:nvSpPr>
        <p:spPr>
          <a:xfrm>
            <a:off x="8195685" y="4229100"/>
            <a:ext cx="7210087" cy="2329036"/>
          </a:xfrm>
          <a:prstGeom prst="rect">
            <a:avLst/>
          </a:prstGeom>
        </p:spPr>
        <p:txBody>
          <a:bodyPr lIns="0" tIns="0" rIns="0" bIns="0" rtlCol="0" anchor="t">
            <a:spAutoFit/>
          </a:bodyPr>
          <a:lstStyle/>
          <a:p>
            <a:pPr>
              <a:lnSpc>
                <a:spcPct val="150000"/>
              </a:lnSpc>
            </a:pPr>
            <a:r>
              <a:rPr lang="ja-JP" altLang="en-US" sz="2600" dirty="0">
                <a:solidFill>
                  <a:srgbClr val="000000"/>
                </a:solidFill>
                <a:latin typeface="Inter"/>
                <a:ea typeface="Inter"/>
                <a:cs typeface="Inter"/>
                <a:sym typeface="Inter"/>
              </a:rPr>
              <a:t>魔方陣とは、各行、各列、および</a:t>
            </a:r>
            <a:r>
              <a:rPr lang="en-US" altLang="ja-JP" sz="2600" dirty="0">
                <a:solidFill>
                  <a:srgbClr val="000000"/>
                </a:solidFill>
                <a:latin typeface="Inter"/>
                <a:ea typeface="Inter"/>
                <a:cs typeface="Inter"/>
                <a:sym typeface="Inter"/>
              </a:rPr>
              <a:t>2</a:t>
            </a:r>
            <a:r>
              <a:rPr lang="ja-JP" altLang="en-US" sz="2600" dirty="0">
                <a:solidFill>
                  <a:srgbClr val="000000"/>
                </a:solidFill>
                <a:latin typeface="Inter"/>
                <a:ea typeface="Inter"/>
                <a:cs typeface="Inter"/>
                <a:sym typeface="Inter"/>
              </a:rPr>
              <a:t>つの対角線の合計がすべて等しくなるように数字を配置した格子状のものです。この一定の合計値は「魔方陣定数 </a:t>
            </a:r>
            <a:r>
              <a:rPr lang="en-US" altLang="ja-JP" sz="2600" dirty="0">
                <a:solidFill>
                  <a:srgbClr val="000000"/>
                </a:solidFill>
                <a:latin typeface="Inter"/>
                <a:ea typeface="Inter"/>
                <a:cs typeface="Inter"/>
                <a:sym typeface="Inter"/>
              </a:rPr>
              <a:t>(Magic Constant)</a:t>
            </a:r>
            <a:r>
              <a:rPr lang="ja-JP" altLang="en-US" sz="2600" dirty="0">
                <a:solidFill>
                  <a:srgbClr val="000000"/>
                </a:solidFill>
                <a:latin typeface="Inter"/>
                <a:ea typeface="Inter"/>
                <a:cs typeface="Inter"/>
                <a:sym typeface="Inter"/>
              </a:rPr>
              <a:t>」と呼ばれます。</a:t>
            </a:r>
            <a:endParaRPr lang="en-US" sz="2600" dirty="0">
              <a:solidFill>
                <a:srgbClr val="000000"/>
              </a:solidFill>
              <a:latin typeface="Inter"/>
              <a:ea typeface="Inter"/>
              <a:cs typeface="Inter"/>
              <a:sym typeface="Inter"/>
            </a:endParaRPr>
          </a:p>
        </p:txBody>
      </p:sp>
      <p:pic>
        <p:nvPicPr>
          <p:cNvPr id="1028" name="Picture 4" descr="Magic Square 3 X 3 | MyWorldTheirWay.com | Math Tricks">
            <a:extLst>
              <a:ext uri="{FF2B5EF4-FFF2-40B4-BE49-F238E27FC236}">
                <a16:creationId xmlns:a16="http://schemas.microsoft.com/office/drawing/2014/main" id="{176C64C2-1F0C-4B0E-DC39-4E972B6121D7}"/>
              </a:ext>
            </a:extLst>
          </p:cNvPr>
          <p:cNvPicPr>
            <a:picLocks noChangeAspect="1" noChangeArrowheads="1"/>
          </p:cNvPicPr>
          <p:nvPr/>
        </p:nvPicPr>
        <p:blipFill>
          <a:blip r:embed="rId2">
            <a:duotone>
              <a:schemeClr val="accent1">
                <a:shade val="45000"/>
                <a:satMod val="135000"/>
              </a:schemeClr>
              <a:prstClr val="white"/>
            </a:duotone>
          </a:blip>
          <a:srcRect/>
          <a:stretch/>
        </p:blipFill>
        <p:spPr bwMode="auto">
          <a:xfrm>
            <a:off x="990600" y="1931021"/>
            <a:ext cx="6093711" cy="6078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480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27ADB213-48D5-8511-5D51-72B2AC821AC3}"/>
            </a:ext>
          </a:extLst>
        </p:cNvPr>
        <p:cNvGrpSpPr/>
        <p:nvPr/>
      </p:nvGrpSpPr>
      <p:grpSpPr>
        <a:xfrm>
          <a:off x="0" y="0"/>
          <a:ext cx="0" cy="0"/>
          <a:chOff x="0" y="0"/>
          <a:chExt cx="0" cy="0"/>
        </a:xfrm>
      </p:grpSpPr>
      <p:grpSp>
        <p:nvGrpSpPr>
          <p:cNvPr id="11" name="Group 2">
            <a:extLst>
              <a:ext uri="{FF2B5EF4-FFF2-40B4-BE49-F238E27FC236}">
                <a16:creationId xmlns:a16="http://schemas.microsoft.com/office/drawing/2014/main" id="{DBF505A8-B545-AB7F-0066-81FE20D0F1F4}"/>
              </a:ext>
            </a:extLst>
          </p:cNvPr>
          <p:cNvGrpSpPr/>
          <p:nvPr/>
        </p:nvGrpSpPr>
        <p:grpSpPr>
          <a:xfrm>
            <a:off x="680480" y="625871"/>
            <a:ext cx="16927040" cy="9035258"/>
            <a:chOff x="0" y="0"/>
            <a:chExt cx="126402652" cy="67470777"/>
          </a:xfrm>
        </p:grpSpPr>
        <p:sp>
          <p:nvSpPr>
            <p:cNvPr id="12" name="Freeform 3">
              <a:extLst>
                <a:ext uri="{FF2B5EF4-FFF2-40B4-BE49-F238E27FC236}">
                  <a16:creationId xmlns:a16="http://schemas.microsoft.com/office/drawing/2014/main" id="{BEAA369B-5B7C-91B8-3094-27D33B9DF678}"/>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3" name="Freeform 4">
              <a:extLst>
                <a:ext uri="{FF2B5EF4-FFF2-40B4-BE49-F238E27FC236}">
                  <a16:creationId xmlns:a16="http://schemas.microsoft.com/office/drawing/2014/main" id="{1DF14413-C412-70F9-631D-D97DF3224702}"/>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Freeform 5">
            <a:extLst>
              <a:ext uri="{FF2B5EF4-FFF2-40B4-BE49-F238E27FC236}">
                <a16:creationId xmlns:a16="http://schemas.microsoft.com/office/drawing/2014/main" id="{3408BAFB-B6C9-3FD8-002D-8D2CF917F54D}"/>
              </a:ext>
            </a:extLst>
          </p:cNvPr>
          <p:cNvSpPr/>
          <p:nvPr/>
        </p:nvSpPr>
        <p:spPr>
          <a:xfrm>
            <a:off x="7773664" y="3411899"/>
            <a:ext cx="1030310" cy="3463201"/>
          </a:xfrm>
          <a:custGeom>
            <a:avLst/>
            <a:gdLst/>
            <a:ahLst/>
            <a:cxnLst/>
            <a:rect l="l" t="t" r="r" b="b"/>
            <a:pathLst>
              <a:path w="1030310" h="3463201">
                <a:moveTo>
                  <a:pt x="1030310" y="0"/>
                </a:moveTo>
                <a:lnTo>
                  <a:pt x="228600" y="0"/>
                </a:lnTo>
                <a:cubicBezTo>
                  <a:pt x="102348" y="0"/>
                  <a:pt x="0" y="102348"/>
                  <a:pt x="0" y="228600"/>
                </a:cubicBezTo>
                <a:lnTo>
                  <a:pt x="0" y="3234602"/>
                </a:lnTo>
                <a:cubicBezTo>
                  <a:pt x="0" y="3360853"/>
                  <a:pt x="102348" y="3463202"/>
                  <a:pt x="228600" y="3463202"/>
                </a:cubicBezTo>
                <a:lnTo>
                  <a:pt x="1030310" y="3463202"/>
                </a:lnTo>
              </a:path>
            </a:pathLst>
          </a:custGeom>
          <a:ln w="38100" cap="flat">
            <a:solidFill>
              <a:srgbClr val="000000"/>
            </a:solidFill>
            <a:prstDash val="solid"/>
            <a:headEnd type="oval" w="lg" len="lg"/>
            <a:tailEnd type="oval" w="lg" len="lg"/>
          </a:ln>
        </p:spPr>
        <p:txBody>
          <a:bodyPr/>
          <a:lstStyle/>
          <a:p>
            <a:endParaRPr lang="en-US"/>
          </a:p>
        </p:txBody>
      </p:sp>
      <p:sp>
        <p:nvSpPr>
          <p:cNvPr id="6" name="TextBox 6">
            <a:extLst>
              <a:ext uri="{FF2B5EF4-FFF2-40B4-BE49-F238E27FC236}">
                <a16:creationId xmlns:a16="http://schemas.microsoft.com/office/drawing/2014/main" id="{01E4F9AC-F2DE-5456-36AA-5D0E03E29FC4}"/>
              </a:ext>
            </a:extLst>
          </p:cNvPr>
          <p:cNvSpPr txBox="1"/>
          <p:nvPr/>
        </p:nvSpPr>
        <p:spPr>
          <a:xfrm>
            <a:off x="9435585" y="2940094"/>
            <a:ext cx="6855131" cy="1347998"/>
          </a:xfrm>
          <a:prstGeom prst="rect">
            <a:avLst/>
          </a:prstGeom>
        </p:spPr>
        <p:txBody>
          <a:bodyPr lIns="0" tIns="0" rIns="0" bIns="0" rtlCol="0" anchor="t">
            <a:spAutoFit/>
          </a:bodyPr>
          <a:lstStyle/>
          <a:p>
            <a:pPr>
              <a:lnSpc>
                <a:spcPts val="3640"/>
              </a:lnSpc>
            </a:pPr>
            <a:r>
              <a:rPr lang="en-US" sz="2600" dirty="0">
                <a:solidFill>
                  <a:srgbClr val="000000"/>
                </a:solidFill>
                <a:latin typeface="Inter"/>
                <a:ea typeface="Inter"/>
                <a:cs typeface="Inter"/>
                <a:sym typeface="Inter"/>
              </a:rPr>
              <a:t>Designing a recruitment exhibit to spark elementary and junior high school students interest in engineering.</a:t>
            </a:r>
          </a:p>
        </p:txBody>
      </p:sp>
      <p:sp>
        <p:nvSpPr>
          <p:cNvPr id="7" name="TextBox 7">
            <a:extLst>
              <a:ext uri="{FF2B5EF4-FFF2-40B4-BE49-F238E27FC236}">
                <a16:creationId xmlns:a16="http://schemas.microsoft.com/office/drawing/2014/main" id="{7EEC2419-8618-07DD-F62C-1F894DA38692}"/>
              </a:ext>
            </a:extLst>
          </p:cNvPr>
          <p:cNvSpPr txBox="1"/>
          <p:nvPr/>
        </p:nvSpPr>
        <p:spPr>
          <a:xfrm>
            <a:off x="9435585" y="5946096"/>
            <a:ext cx="6855131" cy="1810385"/>
          </a:xfrm>
          <a:prstGeom prst="rect">
            <a:avLst/>
          </a:prstGeom>
        </p:spPr>
        <p:txBody>
          <a:bodyPr lIns="0" tIns="0" rIns="0" bIns="0" rtlCol="0" anchor="t">
            <a:spAutoFit/>
          </a:bodyPr>
          <a:lstStyle/>
          <a:p>
            <a:pPr>
              <a:lnSpc>
                <a:spcPts val="3640"/>
              </a:lnSpc>
            </a:pPr>
            <a:r>
              <a:rPr lang="en-US" sz="2600" dirty="0">
                <a:solidFill>
                  <a:srgbClr val="000000"/>
                </a:solidFill>
                <a:latin typeface="Inter"/>
                <a:ea typeface="Inter"/>
                <a:cs typeface="Inter"/>
                <a:sym typeface="Inter"/>
              </a:rPr>
              <a:t>To cultivate engineering literacy by using Magic Squares as an interactive platform for algorithmic thinking and logical problem-solving.</a:t>
            </a:r>
          </a:p>
        </p:txBody>
      </p:sp>
      <p:sp>
        <p:nvSpPr>
          <p:cNvPr id="8" name="AutoShape 8">
            <a:extLst>
              <a:ext uri="{FF2B5EF4-FFF2-40B4-BE49-F238E27FC236}">
                <a16:creationId xmlns:a16="http://schemas.microsoft.com/office/drawing/2014/main" id="{CCFC9DF1-B791-5AD3-DC2B-9D2DFF658E03}"/>
              </a:ext>
            </a:extLst>
          </p:cNvPr>
          <p:cNvSpPr/>
          <p:nvPr/>
        </p:nvSpPr>
        <p:spPr>
          <a:xfrm>
            <a:off x="6968081" y="5133975"/>
            <a:ext cx="787581" cy="0"/>
          </a:xfrm>
          <a:prstGeom prst="line">
            <a:avLst/>
          </a:prstGeom>
          <a:ln w="38100" cap="flat">
            <a:solidFill>
              <a:srgbClr val="000000"/>
            </a:solidFill>
            <a:prstDash val="solid"/>
            <a:headEnd type="oval" w="lg" len="lg"/>
            <a:tailEnd type="none" w="sm" len="sm"/>
          </a:ln>
        </p:spPr>
        <p:txBody>
          <a:bodyPr/>
          <a:lstStyle/>
          <a:p>
            <a:endParaRPr lang="en-US"/>
          </a:p>
        </p:txBody>
      </p:sp>
      <p:sp>
        <p:nvSpPr>
          <p:cNvPr id="9" name="TextBox 9">
            <a:extLst>
              <a:ext uri="{FF2B5EF4-FFF2-40B4-BE49-F238E27FC236}">
                <a16:creationId xmlns:a16="http://schemas.microsoft.com/office/drawing/2014/main" id="{05A94C18-1F5F-41B0-A8DC-5B1B98598C1F}"/>
              </a:ext>
            </a:extLst>
          </p:cNvPr>
          <p:cNvSpPr txBox="1"/>
          <p:nvPr/>
        </p:nvSpPr>
        <p:spPr>
          <a:xfrm>
            <a:off x="396481" y="4532108"/>
            <a:ext cx="8042254" cy="1079909"/>
          </a:xfrm>
          <a:prstGeom prst="rect">
            <a:avLst/>
          </a:prstGeom>
        </p:spPr>
        <p:txBody>
          <a:bodyPr lIns="0" tIns="0" rIns="0" bIns="0" rtlCol="0" anchor="t">
            <a:spAutoFit/>
          </a:bodyPr>
          <a:lstStyle/>
          <a:p>
            <a:pPr algn="ctr">
              <a:lnSpc>
                <a:spcPts val="6952"/>
              </a:lnSpc>
            </a:pPr>
            <a:r>
              <a:rPr lang="en-US" sz="6320" dirty="0">
                <a:solidFill>
                  <a:srgbClr val="000000"/>
                </a:solidFill>
                <a:latin typeface="Agrandir"/>
                <a:ea typeface="Agrandir"/>
                <a:cs typeface="Agrandir"/>
                <a:sym typeface="Agrandir"/>
              </a:rPr>
              <a:t>Objectives</a:t>
            </a:r>
          </a:p>
        </p:txBody>
      </p:sp>
      <p:pic>
        <p:nvPicPr>
          <p:cNvPr id="10" name="図 6">
            <a:extLst>
              <a:ext uri="{FF2B5EF4-FFF2-40B4-BE49-F238E27FC236}">
                <a16:creationId xmlns:a16="http://schemas.microsoft.com/office/drawing/2014/main" id="{524DCE6C-0624-A5A1-DDCD-07B45BD49E4E}"/>
              </a:ext>
            </a:extLst>
          </p:cNvPr>
          <p:cNvPicPr>
            <a:picLocks noChangeAspect="1"/>
          </p:cNvPicPr>
          <p:nvPr/>
        </p:nvPicPr>
        <p:blipFill rotWithShape="1">
          <a:blip r:embed="rId2"/>
          <a:srcRect l="25199" t="19950" r="26081" b="60100"/>
          <a:stretch/>
        </p:blipFill>
        <p:spPr>
          <a:xfrm>
            <a:off x="1171945" y="5808208"/>
            <a:ext cx="5796136" cy="3797466"/>
          </a:xfrm>
          <a:prstGeom prst="rect">
            <a:avLst/>
          </a:prstGeom>
        </p:spPr>
      </p:pic>
    </p:spTree>
    <p:extLst>
      <p:ext uri="{BB962C8B-B14F-4D97-AF65-F5344CB8AC3E}">
        <p14:creationId xmlns:p14="http://schemas.microsoft.com/office/powerpoint/2010/main" val="2732286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11" name="Group 2">
            <a:extLst>
              <a:ext uri="{FF2B5EF4-FFF2-40B4-BE49-F238E27FC236}">
                <a16:creationId xmlns:a16="http://schemas.microsoft.com/office/drawing/2014/main" id="{D55C07BF-7E95-B8B1-DEE4-78C3A4A1A60A}"/>
              </a:ext>
            </a:extLst>
          </p:cNvPr>
          <p:cNvGrpSpPr/>
          <p:nvPr/>
        </p:nvGrpSpPr>
        <p:grpSpPr>
          <a:xfrm>
            <a:off x="680480" y="625871"/>
            <a:ext cx="16927040" cy="9035258"/>
            <a:chOff x="0" y="0"/>
            <a:chExt cx="126402652" cy="67470777"/>
          </a:xfrm>
        </p:grpSpPr>
        <p:sp>
          <p:nvSpPr>
            <p:cNvPr id="12" name="Freeform 3">
              <a:extLst>
                <a:ext uri="{FF2B5EF4-FFF2-40B4-BE49-F238E27FC236}">
                  <a16:creationId xmlns:a16="http://schemas.microsoft.com/office/drawing/2014/main" id="{5C8799C2-238E-9C4E-4094-7432036D5F9E}"/>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3" name="Freeform 4">
              <a:extLst>
                <a:ext uri="{FF2B5EF4-FFF2-40B4-BE49-F238E27FC236}">
                  <a16:creationId xmlns:a16="http://schemas.microsoft.com/office/drawing/2014/main" id="{4EE0E9CA-DF43-4A2B-8FCD-50A113E694A1}"/>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Freeform 5"/>
          <p:cNvSpPr/>
          <p:nvPr/>
        </p:nvSpPr>
        <p:spPr>
          <a:xfrm>
            <a:off x="7773664" y="3411899"/>
            <a:ext cx="1030310" cy="3463201"/>
          </a:xfrm>
          <a:custGeom>
            <a:avLst/>
            <a:gdLst/>
            <a:ahLst/>
            <a:cxnLst/>
            <a:rect l="l" t="t" r="r" b="b"/>
            <a:pathLst>
              <a:path w="1030310" h="3463201">
                <a:moveTo>
                  <a:pt x="1030310" y="0"/>
                </a:moveTo>
                <a:lnTo>
                  <a:pt x="228600" y="0"/>
                </a:lnTo>
                <a:cubicBezTo>
                  <a:pt x="102348" y="0"/>
                  <a:pt x="0" y="102348"/>
                  <a:pt x="0" y="228600"/>
                </a:cubicBezTo>
                <a:lnTo>
                  <a:pt x="0" y="3234602"/>
                </a:lnTo>
                <a:cubicBezTo>
                  <a:pt x="0" y="3360853"/>
                  <a:pt x="102348" y="3463202"/>
                  <a:pt x="228600" y="3463202"/>
                </a:cubicBezTo>
                <a:lnTo>
                  <a:pt x="1030310" y="3463202"/>
                </a:lnTo>
              </a:path>
            </a:pathLst>
          </a:custGeom>
          <a:ln w="38100" cap="flat">
            <a:solidFill>
              <a:srgbClr val="000000"/>
            </a:solidFill>
            <a:prstDash val="solid"/>
            <a:headEnd type="oval" w="lg" len="lg"/>
            <a:tailEnd type="oval" w="lg" len="lg"/>
          </a:ln>
        </p:spPr>
        <p:txBody>
          <a:bodyPr/>
          <a:lstStyle/>
          <a:p>
            <a:endParaRPr lang="en-US"/>
          </a:p>
        </p:txBody>
      </p:sp>
      <p:sp>
        <p:nvSpPr>
          <p:cNvPr id="6" name="TextBox 6"/>
          <p:cNvSpPr txBox="1"/>
          <p:nvPr/>
        </p:nvSpPr>
        <p:spPr>
          <a:xfrm>
            <a:off x="9435585" y="2940094"/>
            <a:ext cx="6855131" cy="882229"/>
          </a:xfrm>
          <a:prstGeom prst="rect">
            <a:avLst/>
          </a:prstGeom>
        </p:spPr>
        <p:txBody>
          <a:bodyPr lIns="0" tIns="0" rIns="0" bIns="0" rtlCol="0" anchor="t">
            <a:spAutoFit/>
          </a:bodyPr>
          <a:lstStyle/>
          <a:p>
            <a:pPr>
              <a:lnSpc>
                <a:spcPts val="3640"/>
              </a:lnSpc>
            </a:pPr>
            <a:r>
              <a:rPr lang="ja-JP" altLang="en-US" sz="2600" dirty="0">
                <a:solidFill>
                  <a:srgbClr val="000000"/>
                </a:solidFill>
                <a:latin typeface="Inter"/>
                <a:ea typeface="Inter"/>
                <a:cs typeface="Inter"/>
                <a:sym typeface="Inter"/>
              </a:rPr>
              <a:t>小中学生の工学への興味を喚起するための募集展示の設計</a:t>
            </a:r>
            <a:endParaRPr lang="en-US" sz="2600" dirty="0">
              <a:solidFill>
                <a:srgbClr val="000000"/>
              </a:solidFill>
              <a:latin typeface="Inter"/>
              <a:ea typeface="Inter"/>
              <a:cs typeface="Inter"/>
              <a:sym typeface="Inter"/>
            </a:endParaRPr>
          </a:p>
        </p:txBody>
      </p:sp>
      <p:sp>
        <p:nvSpPr>
          <p:cNvPr id="7" name="TextBox 7"/>
          <p:cNvSpPr txBox="1"/>
          <p:nvPr/>
        </p:nvSpPr>
        <p:spPr>
          <a:xfrm>
            <a:off x="9435585" y="5946096"/>
            <a:ext cx="6855131" cy="1810385"/>
          </a:xfrm>
          <a:prstGeom prst="rect">
            <a:avLst/>
          </a:prstGeom>
        </p:spPr>
        <p:txBody>
          <a:bodyPr lIns="0" tIns="0" rIns="0" bIns="0" rtlCol="0" anchor="t">
            <a:spAutoFit/>
          </a:bodyPr>
          <a:lstStyle/>
          <a:p>
            <a:pPr>
              <a:lnSpc>
                <a:spcPts val="3640"/>
              </a:lnSpc>
            </a:pPr>
            <a:r>
              <a:rPr lang="ja-JP" altLang="en-US" sz="2600" dirty="0">
                <a:solidFill>
                  <a:srgbClr val="000000"/>
                </a:solidFill>
                <a:latin typeface="Inter"/>
                <a:ea typeface="Inter"/>
                <a:cs typeface="Inter"/>
                <a:sym typeface="Inter"/>
              </a:rPr>
              <a:t>魔方陣をアルゴリズム的思考と論理的な問題解決のためのインタラクティブなプラットフォームとして活用し、工学的リテラシーを育成すること</a:t>
            </a:r>
            <a:endParaRPr lang="en-US" sz="2600" dirty="0">
              <a:solidFill>
                <a:srgbClr val="000000"/>
              </a:solidFill>
              <a:latin typeface="Inter"/>
              <a:ea typeface="Inter"/>
              <a:cs typeface="Inter"/>
              <a:sym typeface="Inter"/>
            </a:endParaRPr>
          </a:p>
        </p:txBody>
      </p:sp>
      <p:sp>
        <p:nvSpPr>
          <p:cNvPr id="8" name="AutoShape 8"/>
          <p:cNvSpPr/>
          <p:nvPr/>
        </p:nvSpPr>
        <p:spPr>
          <a:xfrm>
            <a:off x="5715001" y="5133975"/>
            <a:ext cx="2040662" cy="0"/>
          </a:xfrm>
          <a:prstGeom prst="line">
            <a:avLst/>
          </a:prstGeom>
          <a:ln w="38100" cap="flat">
            <a:solidFill>
              <a:srgbClr val="000000"/>
            </a:solidFill>
            <a:prstDash val="solid"/>
            <a:headEnd type="oval" w="lg" len="lg"/>
            <a:tailEnd type="none" w="sm" len="sm"/>
          </a:ln>
        </p:spPr>
        <p:txBody>
          <a:bodyPr/>
          <a:lstStyle/>
          <a:p>
            <a:endParaRPr lang="en-US"/>
          </a:p>
        </p:txBody>
      </p:sp>
      <p:sp>
        <p:nvSpPr>
          <p:cNvPr id="9" name="TextBox 9"/>
          <p:cNvSpPr txBox="1"/>
          <p:nvPr/>
        </p:nvSpPr>
        <p:spPr>
          <a:xfrm>
            <a:off x="396481" y="4532108"/>
            <a:ext cx="8042254" cy="897682"/>
          </a:xfrm>
          <a:prstGeom prst="rect">
            <a:avLst/>
          </a:prstGeom>
        </p:spPr>
        <p:txBody>
          <a:bodyPr lIns="0" tIns="0" rIns="0" bIns="0" rtlCol="0" anchor="t">
            <a:spAutoFit/>
          </a:bodyPr>
          <a:lstStyle/>
          <a:p>
            <a:pPr algn="ctr">
              <a:lnSpc>
                <a:spcPts val="6952"/>
              </a:lnSpc>
            </a:pPr>
            <a:r>
              <a:rPr lang="en-US" sz="6600" dirty="0" err="1"/>
              <a:t>目的</a:t>
            </a:r>
            <a:endParaRPr lang="en-US" sz="6320" dirty="0">
              <a:solidFill>
                <a:srgbClr val="000000"/>
              </a:solidFill>
              <a:latin typeface="Agrandir"/>
              <a:ea typeface="Agrandir"/>
              <a:cs typeface="Agrandir"/>
              <a:sym typeface="Agrandir"/>
            </a:endParaRPr>
          </a:p>
        </p:txBody>
      </p:sp>
      <p:pic>
        <p:nvPicPr>
          <p:cNvPr id="10" name="図 6">
            <a:extLst>
              <a:ext uri="{FF2B5EF4-FFF2-40B4-BE49-F238E27FC236}">
                <a16:creationId xmlns:a16="http://schemas.microsoft.com/office/drawing/2014/main" id="{1D9EEF1E-19E1-2C16-43EB-D0E431FE8B0C}"/>
              </a:ext>
            </a:extLst>
          </p:cNvPr>
          <p:cNvPicPr>
            <a:picLocks noChangeAspect="1"/>
          </p:cNvPicPr>
          <p:nvPr/>
        </p:nvPicPr>
        <p:blipFill rotWithShape="1">
          <a:blip r:embed="rId2"/>
          <a:srcRect l="25199" t="19950" r="26081" b="60100"/>
          <a:stretch/>
        </p:blipFill>
        <p:spPr>
          <a:xfrm>
            <a:off x="1171945" y="5808208"/>
            <a:ext cx="5796136" cy="379746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12" name="Group 2">
            <a:extLst>
              <a:ext uri="{FF2B5EF4-FFF2-40B4-BE49-F238E27FC236}">
                <a16:creationId xmlns:a16="http://schemas.microsoft.com/office/drawing/2014/main" id="{CC249398-571F-7774-4B71-CB66B903C77B}"/>
              </a:ext>
            </a:extLst>
          </p:cNvPr>
          <p:cNvGrpSpPr/>
          <p:nvPr/>
        </p:nvGrpSpPr>
        <p:grpSpPr>
          <a:xfrm>
            <a:off x="680480" y="625871"/>
            <a:ext cx="16927040" cy="9035258"/>
            <a:chOff x="0" y="0"/>
            <a:chExt cx="126402652" cy="67470777"/>
          </a:xfrm>
        </p:grpSpPr>
        <p:sp>
          <p:nvSpPr>
            <p:cNvPr id="13" name="Freeform 3">
              <a:extLst>
                <a:ext uri="{FF2B5EF4-FFF2-40B4-BE49-F238E27FC236}">
                  <a16:creationId xmlns:a16="http://schemas.microsoft.com/office/drawing/2014/main" id="{D61D7C3D-76EE-480A-44F9-1EFCB7442961}"/>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4" name="Freeform 4">
              <a:extLst>
                <a:ext uri="{FF2B5EF4-FFF2-40B4-BE49-F238E27FC236}">
                  <a16:creationId xmlns:a16="http://schemas.microsoft.com/office/drawing/2014/main" id="{C50312E4-7283-EB2F-FBB8-74C4B3665BFB}"/>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TextBox 5"/>
          <p:cNvSpPr txBox="1"/>
          <p:nvPr/>
        </p:nvSpPr>
        <p:spPr>
          <a:xfrm>
            <a:off x="5122873" y="1302745"/>
            <a:ext cx="8042254" cy="1079909"/>
          </a:xfrm>
          <a:prstGeom prst="rect">
            <a:avLst/>
          </a:prstGeom>
        </p:spPr>
        <p:txBody>
          <a:bodyPr lIns="0" tIns="0" rIns="0" bIns="0" rtlCol="0" anchor="t">
            <a:spAutoFit/>
          </a:bodyPr>
          <a:lstStyle/>
          <a:p>
            <a:pPr algn="ctr">
              <a:lnSpc>
                <a:spcPts val="6952"/>
              </a:lnSpc>
            </a:pPr>
            <a:r>
              <a:rPr lang="en-US" sz="6320" dirty="0">
                <a:solidFill>
                  <a:srgbClr val="000000"/>
                </a:solidFill>
                <a:latin typeface="Agrandir"/>
                <a:ea typeface="Agrandir"/>
                <a:cs typeface="Agrandir"/>
                <a:sym typeface="Agrandir"/>
              </a:rPr>
              <a:t>Requirements</a:t>
            </a:r>
          </a:p>
        </p:txBody>
      </p:sp>
      <p:sp>
        <p:nvSpPr>
          <p:cNvPr id="6" name="Freeform 6"/>
          <p:cNvSpPr/>
          <p:nvPr/>
        </p:nvSpPr>
        <p:spPr>
          <a:xfrm>
            <a:off x="1241302" y="2951973"/>
            <a:ext cx="3483098" cy="818860"/>
          </a:xfrm>
          <a:custGeom>
            <a:avLst/>
            <a:gdLst/>
            <a:ahLst/>
            <a:cxnLst/>
            <a:rect l="l" t="t" r="r" b="b"/>
            <a:pathLst>
              <a:path w="6107647" h="818860">
                <a:moveTo>
                  <a:pt x="0" y="818859"/>
                </a:moveTo>
                <a:lnTo>
                  <a:pt x="5879046" y="818859"/>
                </a:lnTo>
                <a:cubicBezTo>
                  <a:pt x="5939675" y="818859"/>
                  <a:pt x="5997820" y="794775"/>
                  <a:pt x="6040691" y="751904"/>
                </a:cubicBezTo>
                <a:cubicBezTo>
                  <a:pt x="6083562" y="709033"/>
                  <a:pt x="6107646" y="650888"/>
                  <a:pt x="6107646" y="590259"/>
                </a:cubicBezTo>
                <a:lnTo>
                  <a:pt x="6107646" y="228600"/>
                </a:lnTo>
                <a:cubicBezTo>
                  <a:pt x="6107646" y="102347"/>
                  <a:pt x="6005298" y="0"/>
                  <a:pt x="5879046" y="0"/>
                </a:cubicBezTo>
                <a:lnTo>
                  <a:pt x="566414" y="0"/>
                </a:lnTo>
              </a:path>
            </a:pathLst>
          </a:custGeom>
          <a:ln w="38100" cap="flat">
            <a:solidFill>
              <a:srgbClr val="000000"/>
            </a:solidFill>
            <a:prstDash val="solid"/>
            <a:headEnd type="oval" w="lg" len="lg"/>
            <a:tailEnd type="oval" w="lg" len="lg"/>
          </a:ln>
        </p:spPr>
        <p:txBody>
          <a:bodyPr/>
          <a:lstStyle/>
          <a:p>
            <a:endParaRPr lang="en-US"/>
          </a:p>
        </p:txBody>
      </p:sp>
      <p:sp>
        <p:nvSpPr>
          <p:cNvPr id="7" name="TextBox 7"/>
          <p:cNvSpPr txBox="1"/>
          <p:nvPr/>
        </p:nvSpPr>
        <p:spPr>
          <a:xfrm>
            <a:off x="5121525" y="2656525"/>
            <a:ext cx="11427450" cy="1347998"/>
          </a:xfrm>
          <a:prstGeom prst="rect">
            <a:avLst/>
          </a:prstGeom>
        </p:spPr>
        <p:txBody>
          <a:bodyPr wrap="square" lIns="0" tIns="0" rIns="0" bIns="0" rtlCol="0" anchor="t">
            <a:spAutoFit/>
          </a:bodyPr>
          <a:lstStyle/>
          <a:p>
            <a:pPr>
              <a:lnSpc>
                <a:spcPts val="3640"/>
              </a:lnSpc>
            </a:pPr>
            <a:r>
              <a:rPr lang="en-US" sz="2600" dirty="0">
                <a:solidFill>
                  <a:srgbClr val="000000"/>
                </a:solidFill>
                <a:latin typeface="Inter"/>
                <a:ea typeface="Inter"/>
                <a:cs typeface="Inter"/>
                <a:sym typeface="Inter"/>
              </a:rPr>
              <a:t>A high-level, general-purpose programming language known for its readability and simplicity. It uses a syntax that looks much like English, making it a popular choice for beginners and professionals.</a:t>
            </a:r>
          </a:p>
        </p:txBody>
      </p:sp>
      <p:sp>
        <p:nvSpPr>
          <p:cNvPr id="8" name="TextBox 8"/>
          <p:cNvSpPr txBox="1"/>
          <p:nvPr/>
        </p:nvSpPr>
        <p:spPr>
          <a:xfrm>
            <a:off x="2086599" y="3029615"/>
            <a:ext cx="2998743" cy="596901"/>
          </a:xfrm>
          <a:prstGeom prst="rect">
            <a:avLst/>
          </a:prstGeom>
        </p:spPr>
        <p:txBody>
          <a:bodyPr lIns="0" tIns="0" rIns="0" bIns="0" rtlCol="0" anchor="t">
            <a:spAutoFit/>
          </a:bodyPr>
          <a:lstStyle/>
          <a:p>
            <a:pPr algn="just">
              <a:lnSpc>
                <a:spcPts val="4899"/>
              </a:lnSpc>
            </a:pPr>
            <a:r>
              <a:rPr lang="en-US" sz="3499" b="1" dirty="0">
                <a:solidFill>
                  <a:srgbClr val="000000"/>
                </a:solidFill>
                <a:latin typeface="Inter Bold"/>
                <a:ea typeface="Inter Bold"/>
                <a:cs typeface="Inter Bold"/>
                <a:sym typeface="Inter Bold"/>
              </a:rPr>
              <a:t>Python</a:t>
            </a:r>
          </a:p>
        </p:txBody>
      </p:sp>
      <p:sp>
        <p:nvSpPr>
          <p:cNvPr id="9" name="Freeform 9"/>
          <p:cNvSpPr/>
          <p:nvPr/>
        </p:nvSpPr>
        <p:spPr>
          <a:xfrm>
            <a:off x="1082725" y="4746466"/>
            <a:ext cx="3641675" cy="818860"/>
          </a:xfrm>
          <a:custGeom>
            <a:avLst/>
            <a:gdLst/>
            <a:ahLst/>
            <a:cxnLst/>
            <a:rect l="l" t="t" r="r" b="b"/>
            <a:pathLst>
              <a:path w="6107647" h="818860">
                <a:moveTo>
                  <a:pt x="0" y="818859"/>
                </a:moveTo>
                <a:lnTo>
                  <a:pt x="5879047" y="818859"/>
                </a:lnTo>
                <a:cubicBezTo>
                  <a:pt x="5939676" y="818859"/>
                  <a:pt x="5997821" y="794775"/>
                  <a:pt x="6040691" y="751904"/>
                </a:cubicBezTo>
                <a:cubicBezTo>
                  <a:pt x="6083563" y="709033"/>
                  <a:pt x="6107647" y="650888"/>
                  <a:pt x="6107647" y="590259"/>
                </a:cubicBezTo>
                <a:lnTo>
                  <a:pt x="6107647" y="228600"/>
                </a:lnTo>
                <a:cubicBezTo>
                  <a:pt x="6107647" y="102347"/>
                  <a:pt x="6005300" y="0"/>
                  <a:pt x="5879047" y="0"/>
                </a:cubicBezTo>
                <a:lnTo>
                  <a:pt x="566414" y="0"/>
                </a:lnTo>
              </a:path>
            </a:pathLst>
          </a:custGeom>
          <a:ln w="38100" cap="flat">
            <a:solidFill>
              <a:srgbClr val="000000"/>
            </a:solidFill>
            <a:prstDash val="solid"/>
            <a:headEnd type="oval" w="lg" len="lg"/>
            <a:tailEnd type="oval" w="lg" len="lg"/>
          </a:ln>
        </p:spPr>
        <p:txBody>
          <a:bodyPr/>
          <a:lstStyle/>
          <a:p>
            <a:endParaRPr lang="en-US"/>
          </a:p>
        </p:txBody>
      </p:sp>
      <p:sp>
        <p:nvSpPr>
          <p:cNvPr id="10" name="TextBox 10"/>
          <p:cNvSpPr txBox="1"/>
          <p:nvPr/>
        </p:nvSpPr>
        <p:spPr>
          <a:xfrm>
            <a:off x="5157583" y="4558411"/>
            <a:ext cx="11427450" cy="1347998"/>
          </a:xfrm>
          <a:prstGeom prst="rect">
            <a:avLst/>
          </a:prstGeom>
        </p:spPr>
        <p:txBody>
          <a:bodyPr wrap="square" lIns="0" tIns="0" rIns="0" bIns="0" rtlCol="0" anchor="t">
            <a:spAutoFit/>
          </a:bodyPr>
          <a:lstStyle/>
          <a:p>
            <a:pPr>
              <a:lnSpc>
                <a:spcPts val="3640"/>
              </a:lnSpc>
            </a:pPr>
            <a:r>
              <a:rPr lang="en-US" sz="2600" dirty="0">
                <a:solidFill>
                  <a:srgbClr val="000000"/>
                </a:solidFill>
                <a:latin typeface="Inter"/>
                <a:ea typeface="Inter"/>
                <a:cs typeface="Inter"/>
                <a:sym typeface="Inter"/>
              </a:rPr>
              <a:t>A Python UI (User Interface) library based on Tkinter, which is Python's built-in tool for creating windows and buttons. It modernizes the look of traditional applications.</a:t>
            </a:r>
          </a:p>
        </p:txBody>
      </p:sp>
      <p:sp>
        <p:nvSpPr>
          <p:cNvPr id="11" name="TextBox 11"/>
          <p:cNvSpPr txBox="1"/>
          <p:nvPr/>
        </p:nvSpPr>
        <p:spPr>
          <a:xfrm>
            <a:off x="1207462" y="4842734"/>
            <a:ext cx="3733530" cy="596901"/>
          </a:xfrm>
          <a:prstGeom prst="rect">
            <a:avLst/>
          </a:prstGeom>
        </p:spPr>
        <p:txBody>
          <a:bodyPr lIns="0" tIns="0" rIns="0" bIns="0" rtlCol="0" anchor="t">
            <a:spAutoFit/>
          </a:bodyPr>
          <a:lstStyle/>
          <a:p>
            <a:pPr algn="just">
              <a:lnSpc>
                <a:spcPts val="4899"/>
              </a:lnSpc>
            </a:pPr>
            <a:r>
              <a:rPr lang="en-US" sz="3499" b="1" dirty="0">
                <a:solidFill>
                  <a:srgbClr val="000000"/>
                </a:solidFill>
                <a:latin typeface="Inter Bold"/>
                <a:ea typeface="Inter Bold"/>
                <a:cs typeface="Inter Bold"/>
                <a:sym typeface="Inter Bold"/>
              </a:rPr>
              <a:t>Customtkinter</a:t>
            </a:r>
          </a:p>
        </p:txBody>
      </p:sp>
      <p:sp>
        <p:nvSpPr>
          <p:cNvPr id="3" name="TextBox 11">
            <a:extLst>
              <a:ext uri="{FF2B5EF4-FFF2-40B4-BE49-F238E27FC236}">
                <a16:creationId xmlns:a16="http://schemas.microsoft.com/office/drawing/2014/main" id="{2127BDBB-CD39-BE8D-32BE-F40E045ABAD0}"/>
              </a:ext>
            </a:extLst>
          </p:cNvPr>
          <p:cNvSpPr txBox="1"/>
          <p:nvPr/>
        </p:nvSpPr>
        <p:spPr>
          <a:xfrm>
            <a:off x="2086599" y="6550790"/>
            <a:ext cx="3733530" cy="596901"/>
          </a:xfrm>
          <a:prstGeom prst="rect">
            <a:avLst/>
          </a:prstGeom>
        </p:spPr>
        <p:txBody>
          <a:bodyPr lIns="0" tIns="0" rIns="0" bIns="0" rtlCol="0" anchor="t">
            <a:spAutoFit/>
          </a:bodyPr>
          <a:lstStyle/>
          <a:p>
            <a:pPr algn="just">
              <a:lnSpc>
                <a:spcPts val="4899"/>
              </a:lnSpc>
            </a:pPr>
            <a:r>
              <a:rPr lang="en-US" sz="3499" b="1" dirty="0">
                <a:solidFill>
                  <a:srgbClr val="000000"/>
                </a:solidFill>
                <a:latin typeface="Inter Bold"/>
                <a:ea typeface="Inter Bold"/>
                <a:cs typeface="Inter Bold"/>
                <a:sym typeface="Inter Bold"/>
              </a:rPr>
              <a:t>Pillow </a:t>
            </a:r>
          </a:p>
        </p:txBody>
      </p:sp>
      <p:sp>
        <p:nvSpPr>
          <p:cNvPr id="4" name="TextBox 11">
            <a:extLst>
              <a:ext uri="{FF2B5EF4-FFF2-40B4-BE49-F238E27FC236}">
                <a16:creationId xmlns:a16="http://schemas.microsoft.com/office/drawing/2014/main" id="{F28DFCAE-0E04-DCC6-B47E-308B58A608BE}"/>
              </a:ext>
            </a:extLst>
          </p:cNvPr>
          <p:cNvSpPr txBox="1"/>
          <p:nvPr/>
        </p:nvSpPr>
        <p:spPr>
          <a:xfrm>
            <a:off x="2086599" y="8154225"/>
            <a:ext cx="3733530" cy="596901"/>
          </a:xfrm>
          <a:prstGeom prst="rect">
            <a:avLst/>
          </a:prstGeom>
        </p:spPr>
        <p:txBody>
          <a:bodyPr lIns="0" tIns="0" rIns="0" bIns="0" rtlCol="0" anchor="t">
            <a:spAutoFit/>
          </a:bodyPr>
          <a:lstStyle/>
          <a:p>
            <a:pPr algn="just">
              <a:lnSpc>
                <a:spcPts val="4899"/>
              </a:lnSpc>
            </a:pPr>
            <a:r>
              <a:rPr lang="en-US" sz="3499" b="1" dirty="0">
                <a:solidFill>
                  <a:srgbClr val="000000"/>
                </a:solidFill>
                <a:latin typeface="Inter Bold"/>
                <a:ea typeface="Inter Bold"/>
                <a:cs typeface="Inter Bold"/>
                <a:sym typeface="Inter Bold"/>
              </a:rPr>
              <a:t>Json</a:t>
            </a:r>
          </a:p>
        </p:txBody>
      </p:sp>
      <p:sp>
        <p:nvSpPr>
          <p:cNvPr id="16" name="Freeform 9">
            <a:extLst>
              <a:ext uri="{FF2B5EF4-FFF2-40B4-BE49-F238E27FC236}">
                <a16:creationId xmlns:a16="http://schemas.microsoft.com/office/drawing/2014/main" id="{14AB42BC-411A-EA59-A65E-3696CF4EFECC}"/>
              </a:ext>
            </a:extLst>
          </p:cNvPr>
          <p:cNvSpPr/>
          <p:nvPr/>
        </p:nvSpPr>
        <p:spPr>
          <a:xfrm>
            <a:off x="1082724" y="6439811"/>
            <a:ext cx="3641675" cy="818860"/>
          </a:xfrm>
          <a:custGeom>
            <a:avLst/>
            <a:gdLst/>
            <a:ahLst/>
            <a:cxnLst/>
            <a:rect l="l" t="t" r="r" b="b"/>
            <a:pathLst>
              <a:path w="6107647" h="818860">
                <a:moveTo>
                  <a:pt x="0" y="818859"/>
                </a:moveTo>
                <a:lnTo>
                  <a:pt x="5879047" y="818859"/>
                </a:lnTo>
                <a:cubicBezTo>
                  <a:pt x="5939676" y="818859"/>
                  <a:pt x="5997821" y="794775"/>
                  <a:pt x="6040691" y="751904"/>
                </a:cubicBezTo>
                <a:cubicBezTo>
                  <a:pt x="6083563" y="709033"/>
                  <a:pt x="6107647" y="650888"/>
                  <a:pt x="6107647" y="590259"/>
                </a:cubicBezTo>
                <a:lnTo>
                  <a:pt x="6107647" y="228600"/>
                </a:lnTo>
                <a:cubicBezTo>
                  <a:pt x="6107647" y="102347"/>
                  <a:pt x="6005300" y="0"/>
                  <a:pt x="5879047" y="0"/>
                </a:cubicBezTo>
                <a:lnTo>
                  <a:pt x="566414" y="0"/>
                </a:lnTo>
              </a:path>
            </a:pathLst>
          </a:custGeom>
          <a:ln w="38100" cap="flat">
            <a:solidFill>
              <a:srgbClr val="000000"/>
            </a:solidFill>
            <a:prstDash val="solid"/>
            <a:headEnd type="oval" w="lg" len="lg"/>
            <a:tailEnd type="oval" w="lg" len="lg"/>
          </a:ln>
        </p:spPr>
        <p:txBody>
          <a:bodyPr/>
          <a:lstStyle/>
          <a:p>
            <a:endParaRPr lang="en-US"/>
          </a:p>
        </p:txBody>
      </p:sp>
      <p:sp>
        <p:nvSpPr>
          <p:cNvPr id="17" name="Freeform 9">
            <a:extLst>
              <a:ext uri="{FF2B5EF4-FFF2-40B4-BE49-F238E27FC236}">
                <a16:creationId xmlns:a16="http://schemas.microsoft.com/office/drawing/2014/main" id="{BC3036BA-D027-9D07-D508-552567802DF1}"/>
              </a:ext>
            </a:extLst>
          </p:cNvPr>
          <p:cNvSpPr/>
          <p:nvPr/>
        </p:nvSpPr>
        <p:spPr>
          <a:xfrm>
            <a:off x="1062252" y="8045623"/>
            <a:ext cx="3641675" cy="818860"/>
          </a:xfrm>
          <a:custGeom>
            <a:avLst/>
            <a:gdLst/>
            <a:ahLst/>
            <a:cxnLst/>
            <a:rect l="l" t="t" r="r" b="b"/>
            <a:pathLst>
              <a:path w="6107647" h="818860">
                <a:moveTo>
                  <a:pt x="0" y="818859"/>
                </a:moveTo>
                <a:lnTo>
                  <a:pt x="5879047" y="818859"/>
                </a:lnTo>
                <a:cubicBezTo>
                  <a:pt x="5939676" y="818859"/>
                  <a:pt x="5997821" y="794775"/>
                  <a:pt x="6040691" y="751904"/>
                </a:cubicBezTo>
                <a:cubicBezTo>
                  <a:pt x="6083563" y="709033"/>
                  <a:pt x="6107647" y="650888"/>
                  <a:pt x="6107647" y="590259"/>
                </a:cubicBezTo>
                <a:lnTo>
                  <a:pt x="6107647" y="228600"/>
                </a:lnTo>
                <a:cubicBezTo>
                  <a:pt x="6107647" y="102347"/>
                  <a:pt x="6005300" y="0"/>
                  <a:pt x="5879047" y="0"/>
                </a:cubicBezTo>
                <a:lnTo>
                  <a:pt x="566414" y="0"/>
                </a:lnTo>
              </a:path>
            </a:pathLst>
          </a:custGeom>
          <a:ln w="38100" cap="flat">
            <a:solidFill>
              <a:srgbClr val="000000"/>
            </a:solidFill>
            <a:prstDash val="solid"/>
            <a:headEnd type="oval" w="lg" len="lg"/>
            <a:tailEnd type="oval" w="lg" len="lg"/>
          </a:ln>
        </p:spPr>
        <p:txBody>
          <a:bodyPr/>
          <a:lstStyle/>
          <a:p>
            <a:endParaRPr lang="en-US"/>
          </a:p>
        </p:txBody>
      </p:sp>
      <p:sp>
        <p:nvSpPr>
          <p:cNvPr id="19" name="TextBox 10">
            <a:extLst>
              <a:ext uri="{FF2B5EF4-FFF2-40B4-BE49-F238E27FC236}">
                <a16:creationId xmlns:a16="http://schemas.microsoft.com/office/drawing/2014/main" id="{10BB4743-6407-D0CD-04D1-69F1920517FD}"/>
              </a:ext>
            </a:extLst>
          </p:cNvPr>
          <p:cNvSpPr txBox="1"/>
          <p:nvPr/>
        </p:nvSpPr>
        <p:spPr>
          <a:xfrm>
            <a:off x="5157583" y="6356318"/>
            <a:ext cx="11427450" cy="1347998"/>
          </a:xfrm>
          <a:prstGeom prst="rect">
            <a:avLst/>
          </a:prstGeom>
        </p:spPr>
        <p:txBody>
          <a:bodyPr wrap="square" lIns="0" tIns="0" rIns="0" bIns="0" rtlCol="0" anchor="t">
            <a:spAutoFit/>
          </a:bodyPr>
          <a:lstStyle/>
          <a:p>
            <a:pPr>
              <a:lnSpc>
                <a:spcPts val="3640"/>
              </a:lnSpc>
            </a:pPr>
            <a:r>
              <a:rPr lang="en-US" sz="2600" dirty="0">
                <a:solidFill>
                  <a:srgbClr val="000000"/>
                </a:solidFill>
                <a:latin typeface="Inter"/>
                <a:ea typeface="Inter"/>
                <a:cs typeface="Inter"/>
                <a:sym typeface="Inter"/>
              </a:rPr>
              <a:t>Also known as PIL (Python Imaging Library) a free, open-source library for the Python programming language that provides extensive tools for image processing and manipulation</a:t>
            </a:r>
          </a:p>
        </p:txBody>
      </p:sp>
      <p:sp>
        <p:nvSpPr>
          <p:cNvPr id="20" name="TextBox 10">
            <a:extLst>
              <a:ext uri="{FF2B5EF4-FFF2-40B4-BE49-F238E27FC236}">
                <a16:creationId xmlns:a16="http://schemas.microsoft.com/office/drawing/2014/main" id="{F6840E68-A356-B778-5EF6-D8CDBD0B62BE}"/>
              </a:ext>
            </a:extLst>
          </p:cNvPr>
          <p:cNvSpPr txBox="1"/>
          <p:nvPr/>
        </p:nvSpPr>
        <p:spPr>
          <a:xfrm>
            <a:off x="5157583" y="8045623"/>
            <a:ext cx="11427450" cy="886333"/>
          </a:xfrm>
          <a:prstGeom prst="rect">
            <a:avLst/>
          </a:prstGeom>
        </p:spPr>
        <p:txBody>
          <a:bodyPr wrap="square" lIns="0" tIns="0" rIns="0" bIns="0" rtlCol="0" anchor="t">
            <a:spAutoFit/>
          </a:bodyPr>
          <a:lstStyle/>
          <a:p>
            <a:pPr>
              <a:lnSpc>
                <a:spcPts val="3640"/>
              </a:lnSpc>
            </a:pPr>
            <a:r>
              <a:rPr lang="en-US" sz="2600" dirty="0">
                <a:solidFill>
                  <a:srgbClr val="000000"/>
                </a:solidFill>
                <a:latin typeface="Inter"/>
                <a:ea typeface="Inter"/>
                <a:cs typeface="Inter"/>
                <a:sym typeface="Inter"/>
              </a:rPr>
              <a:t>stands for JavaScript Object Notation It is a lightweight, text-based format used to store and exchange structured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EBC03708-33AD-5D67-188A-7A0D87CC7ADC}"/>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C5652F68-ED8B-9A1B-64F8-36365DD95B33}"/>
              </a:ext>
            </a:extLst>
          </p:cNvPr>
          <p:cNvGrpSpPr/>
          <p:nvPr/>
        </p:nvGrpSpPr>
        <p:grpSpPr>
          <a:xfrm>
            <a:off x="680480" y="625871"/>
            <a:ext cx="16927040" cy="9035258"/>
            <a:chOff x="0" y="0"/>
            <a:chExt cx="126402652" cy="67470777"/>
          </a:xfrm>
        </p:grpSpPr>
        <p:sp>
          <p:nvSpPr>
            <p:cNvPr id="13" name="Freeform 3">
              <a:extLst>
                <a:ext uri="{FF2B5EF4-FFF2-40B4-BE49-F238E27FC236}">
                  <a16:creationId xmlns:a16="http://schemas.microsoft.com/office/drawing/2014/main" id="{2332C01A-F106-CD5A-872C-BC77E72D06CE}"/>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4" name="Freeform 4">
              <a:extLst>
                <a:ext uri="{FF2B5EF4-FFF2-40B4-BE49-F238E27FC236}">
                  <a16:creationId xmlns:a16="http://schemas.microsoft.com/office/drawing/2014/main" id="{C097D6BE-E864-14FF-8364-0DD0DE37F8EA}"/>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TextBox 5">
            <a:extLst>
              <a:ext uri="{FF2B5EF4-FFF2-40B4-BE49-F238E27FC236}">
                <a16:creationId xmlns:a16="http://schemas.microsoft.com/office/drawing/2014/main" id="{33328B26-2958-E367-7074-44E388CD415A}"/>
              </a:ext>
            </a:extLst>
          </p:cNvPr>
          <p:cNvSpPr txBox="1"/>
          <p:nvPr/>
        </p:nvSpPr>
        <p:spPr>
          <a:xfrm>
            <a:off x="5122873" y="1302745"/>
            <a:ext cx="8042254" cy="899157"/>
          </a:xfrm>
          <a:prstGeom prst="rect">
            <a:avLst/>
          </a:prstGeom>
        </p:spPr>
        <p:txBody>
          <a:bodyPr lIns="0" tIns="0" rIns="0" bIns="0" rtlCol="0" anchor="t">
            <a:spAutoFit/>
          </a:bodyPr>
          <a:lstStyle/>
          <a:p>
            <a:pPr algn="ctr">
              <a:lnSpc>
                <a:spcPts val="6952"/>
              </a:lnSpc>
            </a:pPr>
            <a:r>
              <a:rPr lang="ja-JP" altLang="en-US" sz="6320" b="1" dirty="0">
                <a:solidFill>
                  <a:srgbClr val="000000"/>
                </a:solidFill>
                <a:latin typeface="Agrandir"/>
                <a:ea typeface="Agrandir"/>
                <a:cs typeface="Agrandir"/>
                <a:sym typeface="Agrandir"/>
              </a:rPr>
              <a:t>要件</a:t>
            </a:r>
            <a:endParaRPr lang="en-US" sz="6320" b="1" dirty="0">
              <a:solidFill>
                <a:srgbClr val="000000"/>
              </a:solidFill>
              <a:latin typeface="Agrandir"/>
              <a:ea typeface="Agrandir"/>
              <a:cs typeface="Agrandir"/>
              <a:sym typeface="Agrandir"/>
            </a:endParaRPr>
          </a:p>
        </p:txBody>
      </p:sp>
      <p:sp>
        <p:nvSpPr>
          <p:cNvPr id="6" name="Freeform 6">
            <a:extLst>
              <a:ext uri="{FF2B5EF4-FFF2-40B4-BE49-F238E27FC236}">
                <a16:creationId xmlns:a16="http://schemas.microsoft.com/office/drawing/2014/main" id="{7843B7FE-06F8-5F37-6A4C-F8055FF4CA4B}"/>
              </a:ext>
            </a:extLst>
          </p:cNvPr>
          <p:cNvSpPr/>
          <p:nvPr/>
        </p:nvSpPr>
        <p:spPr>
          <a:xfrm>
            <a:off x="1241302" y="2951973"/>
            <a:ext cx="3483098" cy="818860"/>
          </a:xfrm>
          <a:custGeom>
            <a:avLst/>
            <a:gdLst/>
            <a:ahLst/>
            <a:cxnLst/>
            <a:rect l="l" t="t" r="r" b="b"/>
            <a:pathLst>
              <a:path w="6107647" h="818860">
                <a:moveTo>
                  <a:pt x="0" y="818859"/>
                </a:moveTo>
                <a:lnTo>
                  <a:pt x="5879046" y="818859"/>
                </a:lnTo>
                <a:cubicBezTo>
                  <a:pt x="5939675" y="818859"/>
                  <a:pt x="5997820" y="794775"/>
                  <a:pt x="6040691" y="751904"/>
                </a:cubicBezTo>
                <a:cubicBezTo>
                  <a:pt x="6083562" y="709033"/>
                  <a:pt x="6107646" y="650888"/>
                  <a:pt x="6107646" y="590259"/>
                </a:cubicBezTo>
                <a:lnTo>
                  <a:pt x="6107646" y="228600"/>
                </a:lnTo>
                <a:cubicBezTo>
                  <a:pt x="6107646" y="102347"/>
                  <a:pt x="6005298" y="0"/>
                  <a:pt x="5879046" y="0"/>
                </a:cubicBezTo>
                <a:lnTo>
                  <a:pt x="566414" y="0"/>
                </a:lnTo>
              </a:path>
            </a:pathLst>
          </a:custGeom>
          <a:ln w="38100" cap="flat">
            <a:solidFill>
              <a:srgbClr val="000000"/>
            </a:solidFill>
            <a:prstDash val="solid"/>
            <a:headEnd type="oval" w="lg" len="lg"/>
            <a:tailEnd type="oval" w="lg" len="lg"/>
          </a:ln>
        </p:spPr>
        <p:txBody>
          <a:bodyPr/>
          <a:lstStyle/>
          <a:p>
            <a:endParaRPr lang="en-US"/>
          </a:p>
        </p:txBody>
      </p:sp>
      <p:sp>
        <p:nvSpPr>
          <p:cNvPr id="7" name="TextBox 7">
            <a:extLst>
              <a:ext uri="{FF2B5EF4-FFF2-40B4-BE49-F238E27FC236}">
                <a16:creationId xmlns:a16="http://schemas.microsoft.com/office/drawing/2014/main" id="{82752BB6-8B8A-958E-3395-FEA8B213FAC1}"/>
              </a:ext>
            </a:extLst>
          </p:cNvPr>
          <p:cNvSpPr txBox="1"/>
          <p:nvPr/>
        </p:nvSpPr>
        <p:spPr>
          <a:xfrm>
            <a:off x="5121525" y="2656525"/>
            <a:ext cx="11427450" cy="1347998"/>
          </a:xfrm>
          <a:prstGeom prst="rect">
            <a:avLst/>
          </a:prstGeom>
        </p:spPr>
        <p:txBody>
          <a:bodyPr wrap="square" lIns="0" tIns="0" rIns="0" bIns="0" rtlCol="0" anchor="t">
            <a:spAutoFit/>
          </a:bodyPr>
          <a:lstStyle/>
          <a:p>
            <a:pPr>
              <a:lnSpc>
                <a:spcPts val="3640"/>
              </a:lnSpc>
            </a:pPr>
            <a:r>
              <a:rPr lang="ja-JP" altLang="en-US" sz="2600" dirty="0">
                <a:solidFill>
                  <a:srgbClr val="000000"/>
                </a:solidFill>
                <a:latin typeface="Inter"/>
                <a:ea typeface="Inter"/>
                <a:cs typeface="Inter"/>
                <a:sym typeface="Inter"/>
              </a:rPr>
              <a:t>読みやすさとシンプルさで知られる、汎用性の高い高水準プログラミング言語です。英語に近い構文を使用するため、初心者からプロまで幅広く人気があります。</a:t>
            </a:r>
            <a:endParaRPr lang="en-US" sz="2600" dirty="0">
              <a:solidFill>
                <a:srgbClr val="000000"/>
              </a:solidFill>
              <a:latin typeface="Inter"/>
              <a:ea typeface="Inter"/>
              <a:cs typeface="Inter"/>
              <a:sym typeface="Inter"/>
            </a:endParaRPr>
          </a:p>
        </p:txBody>
      </p:sp>
      <p:sp>
        <p:nvSpPr>
          <p:cNvPr id="8" name="TextBox 8">
            <a:extLst>
              <a:ext uri="{FF2B5EF4-FFF2-40B4-BE49-F238E27FC236}">
                <a16:creationId xmlns:a16="http://schemas.microsoft.com/office/drawing/2014/main" id="{59C58F30-8F8D-7DFF-147E-78F85F9D5C01}"/>
              </a:ext>
            </a:extLst>
          </p:cNvPr>
          <p:cNvSpPr txBox="1"/>
          <p:nvPr/>
        </p:nvSpPr>
        <p:spPr>
          <a:xfrm>
            <a:off x="2086599" y="3029615"/>
            <a:ext cx="2998743" cy="596901"/>
          </a:xfrm>
          <a:prstGeom prst="rect">
            <a:avLst/>
          </a:prstGeom>
        </p:spPr>
        <p:txBody>
          <a:bodyPr lIns="0" tIns="0" rIns="0" bIns="0" rtlCol="0" anchor="t">
            <a:spAutoFit/>
          </a:bodyPr>
          <a:lstStyle/>
          <a:p>
            <a:pPr algn="just">
              <a:lnSpc>
                <a:spcPts val="4899"/>
              </a:lnSpc>
            </a:pPr>
            <a:r>
              <a:rPr lang="en-US" sz="3499" b="1" dirty="0">
                <a:solidFill>
                  <a:srgbClr val="000000"/>
                </a:solidFill>
                <a:latin typeface="Inter Bold"/>
                <a:ea typeface="Inter Bold"/>
                <a:cs typeface="Inter Bold"/>
                <a:sym typeface="Inter Bold"/>
              </a:rPr>
              <a:t>Python</a:t>
            </a:r>
          </a:p>
        </p:txBody>
      </p:sp>
      <p:sp>
        <p:nvSpPr>
          <p:cNvPr id="9" name="Freeform 9">
            <a:extLst>
              <a:ext uri="{FF2B5EF4-FFF2-40B4-BE49-F238E27FC236}">
                <a16:creationId xmlns:a16="http://schemas.microsoft.com/office/drawing/2014/main" id="{87F43D59-9803-2047-29BE-7B50C35C09CD}"/>
              </a:ext>
            </a:extLst>
          </p:cNvPr>
          <p:cNvSpPr/>
          <p:nvPr/>
        </p:nvSpPr>
        <p:spPr>
          <a:xfrm>
            <a:off x="1082725" y="4746466"/>
            <a:ext cx="3641675" cy="818860"/>
          </a:xfrm>
          <a:custGeom>
            <a:avLst/>
            <a:gdLst/>
            <a:ahLst/>
            <a:cxnLst/>
            <a:rect l="l" t="t" r="r" b="b"/>
            <a:pathLst>
              <a:path w="6107647" h="818860">
                <a:moveTo>
                  <a:pt x="0" y="818859"/>
                </a:moveTo>
                <a:lnTo>
                  <a:pt x="5879047" y="818859"/>
                </a:lnTo>
                <a:cubicBezTo>
                  <a:pt x="5939676" y="818859"/>
                  <a:pt x="5997821" y="794775"/>
                  <a:pt x="6040691" y="751904"/>
                </a:cubicBezTo>
                <a:cubicBezTo>
                  <a:pt x="6083563" y="709033"/>
                  <a:pt x="6107647" y="650888"/>
                  <a:pt x="6107647" y="590259"/>
                </a:cubicBezTo>
                <a:lnTo>
                  <a:pt x="6107647" y="228600"/>
                </a:lnTo>
                <a:cubicBezTo>
                  <a:pt x="6107647" y="102347"/>
                  <a:pt x="6005300" y="0"/>
                  <a:pt x="5879047" y="0"/>
                </a:cubicBezTo>
                <a:lnTo>
                  <a:pt x="566414" y="0"/>
                </a:lnTo>
              </a:path>
            </a:pathLst>
          </a:custGeom>
          <a:ln w="38100" cap="flat">
            <a:solidFill>
              <a:srgbClr val="000000"/>
            </a:solidFill>
            <a:prstDash val="solid"/>
            <a:headEnd type="oval" w="lg" len="lg"/>
            <a:tailEnd type="oval" w="lg" len="lg"/>
          </a:ln>
        </p:spPr>
        <p:txBody>
          <a:bodyPr/>
          <a:lstStyle/>
          <a:p>
            <a:endParaRPr lang="en-US"/>
          </a:p>
        </p:txBody>
      </p:sp>
      <p:sp>
        <p:nvSpPr>
          <p:cNvPr id="10" name="TextBox 10">
            <a:extLst>
              <a:ext uri="{FF2B5EF4-FFF2-40B4-BE49-F238E27FC236}">
                <a16:creationId xmlns:a16="http://schemas.microsoft.com/office/drawing/2014/main" id="{09A71DB7-6E3D-16DA-CF3C-4D4BE73F6C8B}"/>
              </a:ext>
            </a:extLst>
          </p:cNvPr>
          <p:cNvSpPr txBox="1"/>
          <p:nvPr/>
        </p:nvSpPr>
        <p:spPr>
          <a:xfrm>
            <a:off x="5157583" y="4558411"/>
            <a:ext cx="11427450" cy="882229"/>
          </a:xfrm>
          <a:prstGeom prst="rect">
            <a:avLst/>
          </a:prstGeom>
        </p:spPr>
        <p:txBody>
          <a:bodyPr wrap="square" lIns="0" tIns="0" rIns="0" bIns="0" rtlCol="0" anchor="t">
            <a:spAutoFit/>
          </a:bodyPr>
          <a:lstStyle/>
          <a:p>
            <a:pPr>
              <a:lnSpc>
                <a:spcPts val="3640"/>
              </a:lnSpc>
            </a:pPr>
            <a:r>
              <a:rPr lang="en-US" altLang="ja-JP" sz="2600" dirty="0">
                <a:solidFill>
                  <a:srgbClr val="000000"/>
                </a:solidFill>
                <a:latin typeface="Inter"/>
                <a:ea typeface="Inter"/>
                <a:cs typeface="Inter"/>
                <a:sym typeface="Inter"/>
              </a:rPr>
              <a:t>Python</a:t>
            </a:r>
            <a:r>
              <a:rPr lang="ja-JP" altLang="en-US" sz="2600" dirty="0">
                <a:solidFill>
                  <a:srgbClr val="000000"/>
                </a:solidFill>
                <a:latin typeface="Inter"/>
                <a:ea typeface="Inter"/>
                <a:cs typeface="Inter"/>
                <a:sym typeface="Inter"/>
              </a:rPr>
              <a:t>の標準</a:t>
            </a:r>
            <a:r>
              <a:rPr lang="en-US" altLang="ja-JP" sz="2600" dirty="0">
                <a:solidFill>
                  <a:srgbClr val="000000"/>
                </a:solidFill>
                <a:latin typeface="Inter"/>
                <a:ea typeface="Inter"/>
                <a:cs typeface="Inter"/>
                <a:sym typeface="Inter"/>
              </a:rPr>
              <a:t>GUI</a:t>
            </a:r>
            <a:r>
              <a:rPr lang="ja-JP" altLang="en-US" sz="2600" dirty="0">
                <a:solidFill>
                  <a:srgbClr val="000000"/>
                </a:solidFill>
                <a:latin typeface="Inter"/>
                <a:ea typeface="Inter"/>
                <a:cs typeface="Inter"/>
                <a:sym typeface="Inter"/>
              </a:rPr>
              <a:t>ライブラリである</a:t>
            </a:r>
            <a:r>
              <a:rPr lang="en-US" altLang="ja-JP" sz="2600" dirty="0">
                <a:solidFill>
                  <a:srgbClr val="000000"/>
                </a:solidFill>
                <a:latin typeface="Inter"/>
                <a:ea typeface="Inter"/>
                <a:cs typeface="Inter"/>
                <a:sym typeface="Inter"/>
              </a:rPr>
              <a:t>Tkinter</a:t>
            </a:r>
            <a:r>
              <a:rPr lang="ja-JP" altLang="en-US" sz="2600" dirty="0">
                <a:solidFill>
                  <a:srgbClr val="000000"/>
                </a:solidFill>
                <a:latin typeface="Inter"/>
                <a:ea typeface="Inter"/>
                <a:cs typeface="Inter"/>
                <a:sym typeface="Inter"/>
              </a:rPr>
              <a:t>をベースにした、</a:t>
            </a:r>
            <a:r>
              <a:rPr lang="en-US" altLang="ja-JP" sz="2600" dirty="0">
                <a:solidFill>
                  <a:srgbClr val="000000"/>
                </a:solidFill>
                <a:latin typeface="Inter"/>
                <a:ea typeface="Inter"/>
                <a:cs typeface="Inter"/>
                <a:sym typeface="Inter"/>
              </a:rPr>
              <a:t>Python</a:t>
            </a:r>
            <a:r>
              <a:rPr lang="ja-JP" altLang="en-US" sz="2600" dirty="0">
                <a:solidFill>
                  <a:srgbClr val="000000"/>
                </a:solidFill>
                <a:latin typeface="Inter"/>
                <a:ea typeface="Inter"/>
                <a:cs typeface="Inter"/>
                <a:sym typeface="Inter"/>
              </a:rPr>
              <a:t>用の</a:t>
            </a:r>
            <a:r>
              <a:rPr lang="en-US" altLang="ja-JP" sz="2600" dirty="0">
                <a:solidFill>
                  <a:srgbClr val="000000"/>
                </a:solidFill>
                <a:latin typeface="Inter"/>
                <a:ea typeface="Inter"/>
                <a:cs typeface="Inter"/>
                <a:sym typeface="Inter"/>
              </a:rPr>
              <a:t>UI</a:t>
            </a:r>
            <a:r>
              <a:rPr lang="ja-JP" altLang="en-US" sz="2600" dirty="0">
                <a:solidFill>
                  <a:srgbClr val="000000"/>
                </a:solidFill>
                <a:latin typeface="Inter"/>
                <a:ea typeface="Inter"/>
                <a:cs typeface="Inter"/>
                <a:sym typeface="Inter"/>
              </a:rPr>
              <a:t>ライブラリです。従来のアプリケーションの見た目をモダンに刷新します。</a:t>
            </a:r>
            <a:endParaRPr lang="en-US" sz="2600" dirty="0">
              <a:solidFill>
                <a:srgbClr val="000000"/>
              </a:solidFill>
              <a:latin typeface="Inter"/>
              <a:ea typeface="Inter"/>
              <a:cs typeface="Inter"/>
              <a:sym typeface="Inter"/>
            </a:endParaRPr>
          </a:p>
        </p:txBody>
      </p:sp>
      <p:sp>
        <p:nvSpPr>
          <p:cNvPr id="11" name="TextBox 11">
            <a:extLst>
              <a:ext uri="{FF2B5EF4-FFF2-40B4-BE49-F238E27FC236}">
                <a16:creationId xmlns:a16="http://schemas.microsoft.com/office/drawing/2014/main" id="{D86AC23C-B954-6F2B-E7C0-C4BA608D4C03}"/>
              </a:ext>
            </a:extLst>
          </p:cNvPr>
          <p:cNvSpPr txBox="1"/>
          <p:nvPr/>
        </p:nvSpPr>
        <p:spPr>
          <a:xfrm>
            <a:off x="1207462" y="4842734"/>
            <a:ext cx="3733530" cy="596901"/>
          </a:xfrm>
          <a:prstGeom prst="rect">
            <a:avLst/>
          </a:prstGeom>
        </p:spPr>
        <p:txBody>
          <a:bodyPr lIns="0" tIns="0" rIns="0" bIns="0" rtlCol="0" anchor="t">
            <a:spAutoFit/>
          </a:bodyPr>
          <a:lstStyle/>
          <a:p>
            <a:pPr algn="just">
              <a:lnSpc>
                <a:spcPts val="4899"/>
              </a:lnSpc>
            </a:pPr>
            <a:r>
              <a:rPr lang="en-US" sz="3499" b="1" dirty="0">
                <a:solidFill>
                  <a:srgbClr val="000000"/>
                </a:solidFill>
                <a:latin typeface="Inter Bold"/>
                <a:ea typeface="Inter Bold"/>
                <a:cs typeface="Inter Bold"/>
                <a:sym typeface="Inter Bold"/>
              </a:rPr>
              <a:t>Customtkinter</a:t>
            </a:r>
          </a:p>
        </p:txBody>
      </p:sp>
      <p:sp>
        <p:nvSpPr>
          <p:cNvPr id="3" name="TextBox 11">
            <a:extLst>
              <a:ext uri="{FF2B5EF4-FFF2-40B4-BE49-F238E27FC236}">
                <a16:creationId xmlns:a16="http://schemas.microsoft.com/office/drawing/2014/main" id="{EBEE0C22-971D-FA84-4E7F-F18F7F005CF3}"/>
              </a:ext>
            </a:extLst>
          </p:cNvPr>
          <p:cNvSpPr txBox="1"/>
          <p:nvPr/>
        </p:nvSpPr>
        <p:spPr>
          <a:xfrm>
            <a:off x="2086599" y="6550790"/>
            <a:ext cx="3733530" cy="596901"/>
          </a:xfrm>
          <a:prstGeom prst="rect">
            <a:avLst/>
          </a:prstGeom>
        </p:spPr>
        <p:txBody>
          <a:bodyPr lIns="0" tIns="0" rIns="0" bIns="0" rtlCol="0" anchor="t">
            <a:spAutoFit/>
          </a:bodyPr>
          <a:lstStyle/>
          <a:p>
            <a:pPr algn="just">
              <a:lnSpc>
                <a:spcPts val="4899"/>
              </a:lnSpc>
            </a:pPr>
            <a:r>
              <a:rPr lang="en-US" sz="3499" b="1" dirty="0">
                <a:solidFill>
                  <a:srgbClr val="000000"/>
                </a:solidFill>
                <a:latin typeface="Inter Bold"/>
                <a:ea typeface="Inter Bold"/>
                <a:cs typeface="Inter Bold"/>
                <a:sym typeface="Inter Bold"/>
              </a:rPr>
              <a:t>Pillow </a:t>
            </a:r>
          </a:p>
        </p:txBody>
      </p:sp>
      <p:sp>
        <p:nvSpPr>
          <p:cNvPr id="4" name="TextBox 11">
            <a:extLst>
              <a:ext uri="{FF2B5EF4-FFF2-40B4-BE49-F238E27FC236}">
                <a16:creationId xmlns:a16="http://schemas.microsoft.com/office/drawing/2014/main" id="{15064777-F5EF-D0AC-660F-89B838926B89}"/>
              </a:ext>
            </a:extLst>
          </p:cNvPr>
          <p:cNvSpPr txBox="1"/>
          <p:nvPr/>
        </p:nvSpPr>
        <p:spPr>
          <a:xfrm>
            <a:off x="2086599" y="8154225"/>
            <a:ext cx="3733530" cy="596901"/>
          </a:xfrm>
          <a:prstGeom prst="rect">
            <a:avLst/>
          </a:prstGeom>
        </p:spPr>
        <p:txBody>
          <a:bodyPr lIns="0" tIns="0" rIns="0" bIns="0" rtlCol="0" anchor="t">
            <a:spAutoFit/>
          </a:bodyPr>
          <a:lstStyle/>
          <a:p>
            <a:pPr algn="just">
              <a:lnSpc>
                <a:spcPts val="4899"/>
              </a:lnSpc>
            </a:pPr>
            <a:r>
              <a:rPr lang="en-US" sz="3499" b="1" dirty="0">
                <a:solidFill>
                  <a:srgbClr val="000000"/>
                </a:solidFill>
                <a:latin typeface="Inter Bold"/>
                <a:ea typeface="Inter Bold"/>
                <a:cs typeface="Inter Bold"/>
                <a:sym typeface="Inter Bold"/>
              </a:rPr>
              <a:t>Json</a:t>
            </a:r>
          </a:p>
        </p:txBody>
      </p:sp>
      <p:sp>
        <p:nvSpPr>
          <p:cNvPr id="16" name="Freeform 9">
            <a:extLst>
              <a:ext uri="{FF2B5EF4-FFF2-40B4-BE49-F238E27FC236}">
                <a16:creationId xmlns:a16="http://schemas.microsoft.com/office/drawing/2014/main" id="{BE059F8E-32B4-1D67-FCAA-8C326B378ABF}"/>
              </a:ext>
            </a:extLst>
          </p:cNvPr>
          <p:cNvSpPr/>
          <p:nvPr/>
        </p:nvSpPr>
        <p:spPr>
          <a:xfrm>
            <a:off x="1082724" y="6439811"/>
            <a:ext cx="3641675" cy="818860"/>
          </a:xfrm>
          <a:custGeom>
            <a:avLst/>
            <a:gdLst/>
            <a:ahLst/>
            <a:cxnLst/>
            <a:rect l="l" t="t" r="r" b="b"/>
            <a:pathLst>
              <a:path w="6107647" h="818860">
                <a:moveTo>
                  <a:pt x="0" y="818859"/>
                </a:moveTo>
                <a:lnTo>
                  <a:pt x="5879047" y="818859"/>
                </a:lnTo>
                <a:cubicBezTo>
                  <a:pt x="5939676" y="818859"/>
                  <a:pt x="5997821" y="794775"/>
                  <a:pt x="6040691" y="751904"/>
                </a:cubicBezTo>
                <a:cubicBezTo>
                  <a:pt x="6083563" y="709033"/>
                  <a:pt x="6107647" y="650888"/>
                  <a:pt x="6107647" y="590259"/>
                </a:cubicBezTo>
                <a:lnTo>
                  <a:pt x="6107647" y="228600"/>
                </a:lnTo>
                <a:cubicBezTo>
                  <a:pt x="6107647" y="102347"/>
                  <a:pt x="6005300" y="0"/>
                  <a:pt x="5879047" y="0"/>
                </a:cubicBezTo>
                <a:lnTo>
                  <a:pt x="566414" y="0"/>
                </a:lnTo>
              </a:path>
            </a:pathLst>
          </a:custGeom>
          <a:ln w="38100" cap="flat">
            <a:solidFill>
              <a:srgbClr val="000000"/>
            </a:solidFill>
            <a:prstDash val="solid"/>
            <a:headEnd type="oval" w="lg" len="lg"/>
            <a:tailEnd type="oval" w="lg" len="lg"/>
          </a:ln>
        </p:spPr>
        <p:txBody>
          <a:bodyPr/>
          <a:lstStyle/>
          <a:p>
            <a:endParaRPr lang="en-US"/>
          </a:p>
        </p:txBody>
      </p:sp>
      <p:sp>
        <p:nvSpPr>
          <p:cNvPr id="17" name="Freeform 9">
            <a:extLst>
              <a:ext uri="{FF2B5EF4-FFF2-40B4-BE49-F238E27FC236}">
                <a16:creationId xmlns:a16="http://schemas.microsoft.com/office/drawing/2014/main" id="{27587008-ABF5-C8FB-F60F-CE45ABF5165C}"/>
              </a:ext>
            </a:extLst>
          </p:cNvPr>
          <p:cNvSpPr/>
          <p:nvPr/>
        </p:nvSpPr>
        <p:spPr>
          <a:xfrm>
            <a:off x="1062252" y="8045623"/>
            <a:ext cx="3641675" cy="818860"/>
          </a:xfrm>
          <a:custGeom>
            <a:avLst/>
            <a:gdLst/>
            <a:ahLst/>
            <a:cxnLst/>
            <a:rect l="l" t="t" r="r" b="b"/>
            <a:pathLst>
              <a:path w="6107647" h="818860">
                <a:moveTo>
                  <a:pt x="0" y="818859"/>
                </a:moveTo>
                <a:lnTo>
                  <a:pt x="5879047" y="818859"/>
                </a:lnTo>
                <a:cubicBezTo>
                  <a:pt x="5939676" y="818859"/>
                  <a:pt x="5997821" y="794775"/>
                  <a:pt x="6040691" y="751904"/>
                </a:cubicBezTo>
                <a:cubicBezTo>
                  <a:pt x="6083563" y="709033"/>
                  <a:pt x="6107647" y="650888"/>
                  <a:pt x="6107647" y="590259"/>
                </a:cubicBezTo>
                <a:lnTo>
                  <a:pt x="6107647" y="228600"/>
                </a:lnTo>
                <a:cubicBezTo>
                  <a:pt x="6107647" y="102347"/>
                  <a:pt x="6005300" y="0"/>
                  <a:pt x="5879047" y="0"/>
                </a:cubicBezTo>
                <a:lnTo>
                  <a:pt x="566414" y="0"/>
                </a:lnTo>
              </a:path>
            </a:pathLst>
          </a:custGeom>
          <a:ln w="38100" cap="flat">
            <a:solidFill>
              <a:srgbClr val="000000"/>
            </a:solidFill>
            <a:prstDash val="solid"/>
            <a:headEnd type="oval" w="lg" len="lg"/>
            <a:tailEnd type="oval" w="lg" len="lg"/>
          </a:ln>
        </p:spPr>
        <p:txBody>
          <a:bodyPr/>
          <a:lstStyle/>
          <a:p>
            <a:endParaRPr lang="en-US"/>
          </a:p>
        </p:txBody>
      </p:sp>
      <p:sp>
        <p:nvSpPr>
          <p:cNvPr id="19" name="TextBox 10">
            <a:extLst>
              <a:ext uri="{FF2B5EF4-FFF2-40B4-BE49-F238E27FC236}">
                <a16:creationId xmlns:a16="http://schemas.microsoft.com/office/drawing/2014/main" id="{EDB977FD-0533-71F0-C18E-A0D7938FAA11}"/>
              </a:ext>
            </a:extLst>
          </p:cNvPr>
          <p:cNvSpPr txBox="1"/>
          <p:nvPr/>
        </p:nvSpPr>
        <p:spPr>
          <a:xfrm>
            <a:off x="5157583" y="6356318"/>
            <a:ext cx="11427450" cy="1347998"/>
          </a:xfrm>
          <a:prstGeom prst="rect">
            <a:avLst/>
          </a:prstGeom>
        </p:spPr>
        <p:txBody>
          <a:bodyPr wrap="square" lIns="0" tIns="0" rIns="0" bIns="0" rtlCol="0" anchor="t">
            <a:spAutoFit/>
          </a:bodyPr>
          <a:lstStyle/>
          <a:p>
            <a:pPr>
              <a:lnSpc>
                <a:spcPts val="3640"/>
              </a:lnSpc>
            </a:pPr>
            <a:r>
              <a:rPr lang="en-US" altLang="ja-JP" sz="2600" dirty="0">
                <a:solidFill>
                  <a:srgbClr val="000000"/>
                </a:solidFill>
                <a:latin typeface="Inter"/>
                <a:ea typeface="Inter"/>
                <a:cs typeface="Inter"/>
                <a:sym typeface="Inter"/>
              </a:rPr>
              <a:t>PIL (Python Imaging Library) </a:t>
            </a:r>
            <a:r>
              <a:rPr lang="ja-JP" altLang="en-US" sz="2600" dirty="0">
                <a:solidFill>
                  <a:srgbClr val="000000"/>
                </a:solidFill>
                <a:latin typeface="Inter"/>
                <a:ea typeface="Inter"/>
                <a:cs typeface="Inter"/>
                <a:sym typeface="Inter"/>
              </a:rPr>
              <a:t>とも呼ばれ、</a:t>
            </a:r>
            <a:r>
              <a:rPr lang="en-US" altLang="ja-JP" sz="2600" dirty="0">
                <a:solidFill>
                  <a:srgbClr val="000000"/>
                </a:solidFill>
                <a:latin typeface="Inter"/>
                <a:ea typeface="Inter"/>
                <a:cs typeface="Inter"/>
                <a:sym typeface="Inter"/>
              </a:rPr>
              <a:t>Python</a:t>
            </a:r>
            <a:r>
              <a:rPr lang="ja-JP" altLang="en-US" sz="2600" dirty="0">
                <a:solidFill>
                  <a:srgbClr val="000000"/>
                </a:solidFill>
                <a:latin typeface="Inter"/>
                <a:ea typeface="Inter"/>
                <a:cs typeface="Inter"/>
                <a:sym typeface="Inter"/>
              </a:rPr>
              <a:t>プログラミング言語用のオープンソースライブラリです。画像処理や編集のための広範なツールを提供します。</a:t>
            </a:r>
            <a:endParaRPr lang="en-US" sz="2600" dirty="0">
              <a:solidFill>
                <a:srgbClr val="000000"/>
              </a:solidFill>
              <a:latin typeface="Inter"/>
              <a:ea typeface="Inter"/>
              <a:cs typeface="Inter"/>
              <a:sym typeface="Inter"/>
            </a:endParaRPr>
          </a:p>
        </p:txBody>
      </p:sp>
      <p:sp>
        <p:nvSpPr>
          <p:cNvPr id="20" name="TextBox 10">
            <a:extLst>
              <a:ext uri="{FF2B5EF4-FFF2-40B4-BE49-F238E27FC236}">
                <a16:creationId xmlns:a16="http://schemas.microsoft.com/office/drawing/2014/main" id="{AEDB4986-F053-7687-F5C0-CB1FAB1B69D1}"/>
              </a:ext>
            </a:extLst>
          </p:cNvPr>
          <p:cNvSpPr txBox="1"/>
          <p:nvPr/>
        </p:nvSpPr>
        <p:spPr>
          <a:xfrm>
            <a:off x="5157583" y="8045623"/>
            <a:ext cx="11427450" cy="886333"/>
          </a:xfrm>
          <a:prstGeom prst="rect">
            <a:avLst/>
          </a:prstGeom>
        </p:spPr>
        <p:txBody>
          <a:bodyPr wrap="square" lIns="0" tIns="0" rIns="0" bIns="0" rtlCol="0" anchor="t">
            <a:spAutoFit/>
          </a:bodyPr>
          <a:lstStyle/>
          <a:p>
            <a:pPr>
              <a:lnSpc>
                <a:spcPts val="3640"/>
              </a:lnSpc>
            </a:pPr>
            <a:r>
              <a:rPr lang="en-US" altLang="ja-JP" sz="2600" dirty="0">
                <a:solidFill>
                  <a:srgbClr val="000000"/>
                </a:solidFill>
                <a:latin typeface="Inter"/>
                <a:ea typeface="Inter"/>
                <a:cs typeface="Inter"/>
                <a:sym typeface="Inter"/>
              </a:rPr>
              <a:t>JavaScript Object Notation </a:t>
            </a:r>
            <a:r>
              <a:rPr lang="ja-JP" altLang="en-US" sz="2600" dirty="0">
                <a:solidFill>
                  <a:srgbClr val="000000"/>
                </a:solidFill>
                <a:latin typeface="Inter"/>
                <a:ea typeface="Inter"/>
                <a:cs typeface="Inter"/>
                <a:sym typeface="Inter"/>
              </a:rPr>
              <a:t>の略です。構造化データを保存および交換するために使用される、軽量でテキストベースのフォーマットです。</a:t>
            </a:r>
            <a:endParaRPr lang="en-US" sz="2600" dirty="0">
              <a:solidFill>
                <a:srgbClr val="000000"/>
              </a:solidFill>
              <a:latin typeface="Inter"/>
              <a:ea typeface="Inter"/>
              <a:cs typeface="Inter"/>
              <a:sym typeface="Inter"/>
            </a:endParaRPr>
          </a:p>
        </p:txBody>
      </p:sp>
    </p:spTree>
    <p:extLst>
      <p:ext uri="{BB962C8B-B14F-4D97-AF65-F5344CB8AC3E}">
        <p14:creationId xmlns:p14="http://schemas.microsoft.com/office/powerpoint/2010/main" val="2779205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74C90BC4-CDB0-B3D6-B4EA-A8E368F91F8F}"/>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4D07F7A2-EF3D-D676-4150-934781B930B4}"/>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2DDD4A8F-069E-57DB-9EBF-3C686AB48E42}"/>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32F93019-E1D6-2A23-AD9D-E5308EE8BB29}"/>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2" name="TextBox 5">
            <a:extLst>
              <a:ext uri="{FF2B5EF4-FFF2-40B4-BE49-F238E27FC236}">
                <a16:creationId xmlns:a16="http://schemas.microsoft.com/office/drawing/2014/main" id="{51DFCCDD-E9BF-111B-3905-CD786AFE8F6F}"/>
              </a:ext>
            </a:extLst>
          </p:cNvPr>
          <p:cNvSpPr txBox="1"/>
          <p:nvPr/>
        </p:nvSpPr>
        <p:spPr>
          <a:xfrm>
            <a:off x="4202297" y="3541330"/>
            <a:ext cx="9883405" cy="3204339"/>
          </a:xfrm>
          <a:prstGeom prst="rect">
            <a:avLst/>
          </a:prstGeom>
        </p:spPr>
        <p:txBody>
          <a:bodyPr lIns="0" tIns="0" rIns="0" bIns="0" rtlCol="0" anchor="t">
            <a:spAutoFit/>
          </a:bodyPr>
          <a:lstStyle/>
          <a:p>
            <a:pPr algn="ctr">
              <a:lnSpc>
                <a:spcPts val="8543"/>
              </a:lnSpc>
            </a:pPr>
            <a:r>
              <a:rPr lang="en-US" sz="7766" b="1" dirty="0">
                <a:solidFill>
                  <a:srgbClr val="000000"/>
                </a:solidFill>
                <a:latin typeface="Agrandir"/>
                <a:ea typeface="Agrandir"/>
                <a:cs typeface="Agrandir"/>
                <a:sym typeface="Agrandir"/>
              </a:rPr>
              <a:t>02</a:t>
            </a:r>
          </a:p>
          <a:p>
            <a:pPr algn="ctr">
              <a:lnSpc>
                <a:spcPts val="8543"/>
              </a:lnSpc>
            </a:pPr>
            <a:r>
              <a:rPr lang="en-US" sz="6000" spc="600" dirty="0">
                <a:solidFill>
                  <a:srgbClr val="000000"/>
                </a:solidFill>
                <a:latin typeface="Agrandir"/>
                <a:ea typeface="Agrandir"/>
                <a:cs typeface="Agrandir"/>
                <a:sym typeface="Agrandir"/>
              </a:rPr>
              <a:t>Gameplay &amp; </a:t>
            </a:r>
          </a:p>
          <a:p>
            <a:pPr algn="ctr">
              <a:lnSpc>
                <a:spcPts val="8543"/>
              </a:lnSpc>
            </a:pPr>
            <a:r>
              <a:rPr lang="en-US" sz="6000" spc="600" dirty="0">
                <a:solidFill>
                  <a:srgbClr val="000000"/>
                </a:solidFill>
                <a:latin typeface="Agrandir"/>
                <a:ea typeface="Agrandir"/>
                <a:cs typeface="Agrandir"/>
                <a:sym typeface="Agrandir"/>
              </a:rPr>
              <a:t>System Overview</a:t>
            </a:r>
            <a:endParaRPr lang="en-US" sz="7766" dirty="0">
              <a:solidFill>
                <a:srgbClr val="000000"/>
              </a:solidFill>
              <a:latin typeface="Agrandir"/>
              <a:ea typeface="Agrandir"/>
              <a:cs typeface="Agrandir"/>
              <a:sym typeface="Agrandir"/>
            </a:endParaRPr>
          </a:p>
        </p:txBody>
      </p:sp>
    </p:spTree>
    <p:extLst>
      <p:ext uri="{BB962C8B-B14F-4D97-AF65-F5344CB8AC3E}">
        <p14:creationId xmlns:p14="http://schemas.microsoft.com/office/powerpoint/2010/main" val="1316228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F9F47E11-04BB-BBC7-8795-30206C5D1F3F}"/>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696F6648-AAF2-36A6-88EA-8F576212736E}"/>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90DEDE71-9627-2B81-B1F2-F286D2244A25}"/>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28BB858A-2642-B8A2-098D-56CFBD690199}"/>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2" name="TextBox 5">
            <a:extLst>
              <a:ext uri="{FF2B5EF4-FFF2-40B4-BE49-F238E27FC236}">
                <a16:creationId xmlns:a16="http://schemas.microsoft.com/office/drawing/2014/main" id="{9B10D253-EF53-F104-81A3-CBA882B7264A}"/>
              </a:ext>
            </a:extLst>
          </p:cNvPr>
          <p:cNvSpPr txBox="1"/>
          <p:nvPr/>
        </p:nvSpPr>
        <p:spPr>
          <a:xfrm>
            <a:off x="4202297" y="3541330"/>
            <a:ext cx="9883405" cy="3204339"/>
          </a:xfrm>
          <a:prstGeom prst="rect">
            <a:avLst/>
          </a:prstGeom>
        </p:spPr>
        <p:txBody>
          <a:bodyPr lIns="0" tIns="0" rIns="0" bIns="0" rtlCol="0" anchor="t">
            <a:spAutoFit/>
          </a:bodyPr>
          <a:lstStyle/>
          <a:p>
            <a:pPr algn="ctr">
              <a:lnSpc>
                <a:spcPts val="8543"/>
              </a:lnSpc>
            </a:pPr>
            <a:r>
              <a:rPr lang="en-US" sz="7766" b="1" dirty="0">
                <a:solidFill>
                  <a:srgbClr val="000000"/>
                </a:solidFill>
                <a:latin typeface="Agrandir"/>
                <a:ea typeface="Agrandir"/>
                <a:cs typeface="Agrandir"/>
                <a:sym typeface="Agrandir"/>
              </a:rPr>
              <a:t>02</a:t>
            </a:r>
          </a:p>
          <a:p>
            <a:pPr algn="ctr">
              <a:lnSpc>
                <a:spcPts val="8543"/>
              </a:lnSpc>
            </a:pPr>
            <a:r>
              <a:rPr lang="ja-JP" altLang="en-US" sz="6000" spc="600" dirty="0">
                <a:solidFill>
                  <a:srgbClr val="000000"/>
                </a:solidFill>
                <a:latin typeface="Agrandir"/>
                <a:ea typeface="Agrandir"/>
                <a:cs typeface="Agrandir"/>
                <a:sym typeface="Agrandir"/>
              </a:rPr>
              <a:t>ゲームプレイとシステム概要</a:t>
            </a:r>
            <a:endParaRPr lang="en-US" sz="7766" dirty="0">
              <a:solidFill>
                <a:srgbClr val="000000"/>
              </a:solidFill>
              <a:latin typeface="Agrandir"/>
              <a:ea typeface="Agrandir"/>
              <a:cs typeface="Agrandir"/>
              <a:sym typeface="Agrandir"/>
            </a:endParaRPr>
          </a:p>
        </p:txBody>
      </p:sp>
    </p:spTree>
    <p:extLst>
      <p:ext uri="{BB962C8B-B14F-4D97-AF65-F5344CB8AC3E}">
        <p14:creationId xmlns:p14="http://schemas.microsoft.com/office/powerpoint/2010/main" val="1842457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15" name="Group 2">
            <a:extLst>
              <a:ext uri="{FF2B5EF4-FFF2-40B4-BE49-F238E27FC236}">
                <a16:creationId xmlns:a16="http://schemas.microsoft.com/office/drawing/2014/main" id="{A3905BD3-7036-BC95-165E-95CE97750FE2}"/>
              </a:ext>
            </a:extLst>
          </p:cNvPr>
          <p:cNvGrpSpPr/>
          <p:nvPr/>
        </p:nvGrpSpPr>
        <p:grpSpPr>
          <a:xfrm>
            <a:off x="680480" y="625871"/>
            <a:ext cx="16927040" cy="9035258"/>
            <a:chOff x="0" y="0"/>
            <a:chExt cx="126402652" cy="67470777"/>
          </a:xfrm>
        </p:grpSpPr>
        <p:sp>
          <p:nvSpPr>
            <p:cNvPr id="16" name="Freeform 3">
              <a:extLst>
                <a:ext uri="{FF2B5EF4-FFF2-40B4-BE49-F238E27FC236}">
                  <a16:creationId xmlns:a16="http://schemas.microsoft.com/office/drawing/2014/main" id="{019C4AAD-5A92-58FD-6C28-0CC577583773}"/>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7" name="Freeform 4">
              <a:extLst>
                <a:ext uri="{FF2B5EF4-FFF2-40B4-BE49-F238E27FC236}">
                  <a16:creationId xmlns:a16="http://schemas.microsoft.com/office/drawing/2014/main" id="{444D203D-9BB8-58C9-5021-E2C1A8166662}"/>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Freeform 5"/>
          <p:cNvSpPr/>
          <p:nvPr/>
        </p:nvSpPr>
        <p:spPr>
          <a:xfrm>
            <a:off x="1069319" y="4068671"/>
            <a:ext cx="16149362" cy="4068034"/>
          </a:xfrm>
          <a:custGeom>
            <a:avLst/>
            <a:gdLst/>
            <a:ahLst/>
            <a:cxnLst/>
            <a:rect l="l" t="t" r="r" b="b"/>
            <a:pathLst>
              <a:path w="16149362" h="4068034">
                <a:moveTo>
                  <a:pt x="0" y="4068034"/>
                </a:moveTo>
                <a:lnTo>
                  <a:pt x="3833703" y="4068034"/>
                </a:lnTo>
                <a:cubicBezTo>
                  <a:pt x="3889279" y="4068034"/>
                  <a:pt x="3942579" y="4045956"/>
                  <a:pt x="3981877" y="4006658"/>
                </a:cubicBezTo>
                <a:cubicBezTo>
                  <a:pt x="4021176" y="3967360"/>
                  <a:pt x="4043253" y="3914060"/>
                  <a:pt x="4043253" y="3858484"/>
                </a:cubicBezTo>
                <a:lnTo>
                  <a:pt x="4043253" y="209550"/>
                </a:lnTo>
                <a:cubicBezTo>
                  <a:pt x="4043253" y="93819"/>
                  <a:pt x="4137072" y="0"/>
                  <a:pt x="4252803" y="0"/>
                </a:cubicBezTo>
                <a:lnTo>
                  <a:pt x="7960656" y="0"/>
                </a:lnTo>
                <a:cubicBezTo>
                  <a:pt x="8076387" y="0"/>
                  <a:pt x="8170206" y="93819"/>
                  <a:pt x="8170206" y="209550"/>
                </a:cubicBezTo>
                <a:lnTo>
                  <a:pt x="8170206" y="3858484"/>
                </a:lnTo>
                <a:cubicBezTo>
                  <a:pt x="8170206" y="3974215"/>
                  <a:pt x="8264025" y="4068034"/>
                  <a:pt x="8379756" y="4068034"/>
                </a:cubicBezTo>
                <a:lnTo>
                  <a:pt x="11924328" y="4068034"/>
                </a:lnTo>
                <a:cubicBezTo>
                  <a:pt x="11979905" y="4068034"/>
                  <a:pt x="12033204" y="4045956"/>
                  <a:pt x="12072502" y="4006658"/>
                </a:cubicBezTo>
                <a:cubicBezTo>
                  <a:pt x="12111800" y="3967360"/>
                  <a:pt x="12133878" y="3914060"/>
                  <a:pt x="12133878" y="3858484"/>
                </a:cubicBezTo>
                <a:lnTo>
                  <a:pt x="12133878" y="209550"/>
                </a:lnTo>
                <a:cubicBezTo>
                  <a:pt x="12133878" y="93819"/>
                  <a:pt x="12227697" y="0"/>
                  <a:pt x="12343428" y="0"/>
                </a:cubicBezTo>
                <a:lnTo>
                  <a:pt x="16149362" y="0"/>
                </a:lnTo>
              </a:path>
            </a:pathLst>
          </a:custGeom>
          <a:ln w="38100" cap="flat">
            <a:solidFill>
              <a:srgbClr val="000000"/>
            </a:solidFill>
            <a:prstDash val="solid"/>
            <a:headEnd type="oval" w="lg" len="lg"/>
            <a:tailEnd type="oval" w="lg" len="lg"/>
          </a:ln>
        </p:spPr>
        <p:txBody>
          <a:bodyPr/>
          <a:lstStyle/>
          <a:p>
            <a:endParaRPr lang="en-US"/>
          </a:p>
        </p:txBody>
      </p:sp>
      <p:sp>
        <p:nvSpPr>
          <p:cNvPr id="6" name="TextBox 6"/>
          <p:cNvSpPr txBox="1"/>
          <p:nvPr/>
        </p:nvSpPr>
        <p:spPr>
          <a:xfrm>
            <a:off x="1516579" y="4880865"/>
            <a:ext cx="3221337" cy="2579489"/>
          </a:xfrm>
          <a:prstGeom prst="rect">
            <a:avLst/>
          </a:prstGeom>
        </p:spPr>
        <p:txBody>
          <a:bodyPr lIns="0" tIns="0" rIns="0" bIns="0" rtlCol="0" anchor="t">
            <a:spAutoFit/>
          </a:bodyPr>
          <a:lstStyle/>
          <a:p>
            <a:pPr algn="ctr">
              <a:lnSpc>
                <a:spcPts val="3361"/>
              </a:lnSpc>
            </a:pPr>
            <a:r>
              <a:rPr lang="en-US" sz="2400" dirty="0">
                <a:solidFill>
                  <a:srgbClr val="000000"/>
                </a:solidFill>
                <a:latin typeface="Inter"/>
                <a:ea typeface="Inter"/>
                <a:cs typeface="Inter"/>
                <a:sym typeface="Inter"/>
              </a:rPr>
              <a:t>Enter your name, select the desired grid size, choose a game mode, pattern and pick your preferred visual style.</a:t>
            </a:r>
          </a:p>
        </p:txBody>
      </p:sp>
      <p:sp>
        <p:nvSpPr>
          <p:cNvPr id="7" name="TextBox 7"/>
          <p:cNvSpPr txBox="1"/>
          <p:nvPr/>
        </p:nvSpPr>
        <p:spPr>
          <a:xfrm>
            <a:off x="1708005" y="4157015"/>
            <a:ext cx="2838484" cy="530273"/>
          </a:xfrm>
          <a:prstGeom prst="rect">
            <a:avLst/>
          </a:prstGeom>
        </p:spPr>
        <p:txBody>
          <a:bodyPr lIns="0" tIns="0" rIns="0" bIns="0" rtlCol="0" anchor="t">
            <a:spAutoFit/>
          </a:bodyPr>
          <a:lstStyle/>
          <a:p>
            <a:pPr algn="ctr">
              <a:lnSpc>
                <a:spcPts val="4524"/>
              </a:lnSpc>
            </a:pPr>
            <a:r>
              <a:rPr lang="en-US" sz="3231" b="1" dirty="0">
                <a:latin typeface="Inter Bold"/>
                <a:ea typeface="Inter Bold"/>
                <a:cs typeface="Inter Bold"/>
                <a:sym typeface="Inter Bold"/>
              </a:rPr>
              <a:t>Phase 01</a:t>
            </a:r>
          </a:p>
        </p:txBody>
      </p:sp>
      <p:sp>
        <p:nvSpPr>
          <p:cNvPr id="8" name="TextBox 8"/>
          <p:cNvSpPr txBox="1"/>
          <p:nvPr/>
        </p:nvSpPr>
        <p:spPr>
          <a:xfrm>
            <a:off x="5356461" y="4880865"/>
            <a:ext cx="3563910" cy="3451522"/>
          </a:xfrm>
          <a:prstGeom prst="rect">
            <a:avLst/>
          </a:prstGeom>
        </p:spPr>
        <p:txBody>
          <a:bodyPr wrap="square" lIns="0" tIns="0" rIns="0" bIns="0" rtlCol="0" anchor="t">
            <a:spAutoFit/>
          </a:bodyPr>
          <a:lstStyle/>
          <a:p>
            <a:pPr algn="ctr">
              <a:lnSpc>
                <a:spcPts val="3361"/>
              </a:lnSpc>
            </a:pPr>
            <a:r>
              <a:rPr lang="en-US" sz="2400" dirty="0">
                <a:solidFill>
                  <a:srgbClr val="000000"/>
                </a:solidFill>
                <a:latin typeface="Inter"/>
                <a:ea typeface="Inter"/>
                <a:cs typeface="Inter"/>
                <a:sym typeface="Inter"/>
              </a:rPr>
              <a:t>In Style we have two option is Standard and Creative.</a:t>
            </a:r>
          </a:p>
          <a:p>
            <a:pPr algn="ctr">
              <a:lnSpc>
                <a:spcPts val="3361"/>
              </a:lnSpc>
            </a:pPr>
            <a:r>
              <a:rPr lang="en-US" sz="2400" dirty="0">
                <a:solidFill>
                  <a:srgbClr val="000000"/>
                </a:solidFill>
                <a:latin typeface="Inter"/>
                <a:ea typeface="Inter"/>
                <a:cs typeface="Inter"/>
                <a:sym typeface="Inter"/>
              </a:rPr>
              <a:t>Choose Standard for a classic Magic Square experience or Creative for a Jigsaw-themed background.</a:t>
            </a:r>
          </a:p>
        </p:txBody>
      </p:sp>
      <p:sp>
        <p:nvSpPr>
          <p:cNvPr id="9" name="TextBox 9"/>
          <p:cNvSpPr txBox="1"/>
          <p:nvPr/>
        </p:nvSpPr>
        <p:spPr>
          <a:xfrm>
            <a:off x="5719174" y="4157015"/>
            <a:ext cx="2838484" cy="530273"/>
          </a:xfrm>
          <a:prstGeom prst="rect">
            <a:avLst/>
          </a:prstGeom>
        </p:spPr>
        <p:txBody>
          <a:bodyPr lIns="0" tIns="0" rIns="0" bIns="0" rtlCol="0" anchor="t">
            <a:spAutoFit/>
          </a:bodyPr>
          <a:lstStyle/>
          <a:p>
            <a:pPr algn="ctr">
              <a:lnSpc>
                <a:spcPts val="4524"/>
              </a:lnSpc>
            </a:pPr>
            <a:r>
              <a:rPr lang="en-US" sz="3231" b="1">
                <a:latin typeface="Inter Bold"/>
                <a:ea typeface="Inter Bold"/>
                <a:cs typeface="Inter Bold"/>
                <a:sym typeface="Inter Bold"/>
              </a:rPr>
              <a:t>Phase 02</a:t>
            </a:r>
          </a:p>
        </p:txBody>
      </p:sp>
      <p:sp>
        <p:nvSpPr>
          <p:cNvPr id="10" name="TextBox 10"/>
          <p:cNvSpPr txBox="1"/>
          <p:nvPr/>
        </p:nvSpPr>
        <p:spPr>
          <a:xfrm>
            <a:off x="9602950" y="4624961"/>
            <a:ext cx="3221337" cy="3451522"/>
          </a:xfrm>
          <a:prstGeom prst="rect">
            <a:avLst/>
          </a:prstGeom>
        </p:spPr>
        <p:txBody>
          <a:bodyPr lIns="0" tIns="0" rIns="0" bIns="0" rtlCol="0" anchor="t">
            <a:spAutoFit/>
          </a:bodyPr>
          <a:lstStyle/>
          <a:p>
            <a:pPr algn="ctr">
              <a:lnSpc>
                <a:spcPts val="3361"/>
              </a:lnSpc>
            </a:pPr>
            <a:r>
              <a:rPr lang="en-US" sz="2400" dirty="0">
                <a:solidFill>
                  <a:srgbClr val="000000"/>
                </a:solidFill>
                <a:latin typeface="Inter"/>
                <a:ea typeface="Inter"/>
                <a:cs typeface="Inter"/>
                <a:sym typeface="Inter"/>
              </a:rPr>
              <a:t>Once your settings are finalized, you may begin the game immediately and after completing the challenge, click the "Submit" button to finalize your results.</a:t>
            </a:r>
          </a:p>
        </p:txBody>
      </p:sp>
      <p:sp>
        <p:nvSpPr>
          <p:cNvPr id="11" name="TextBox 11"/>
          <p:cNvSpPr txBox="1"/>
          <p:nvPr/>
        </p:nvSpPr>
        <p:spPr>
          <a:xfrm>
            <a:off x="9730342" y="3899759"/>
            <a:ext cx="2838484" cy="530273"/>
          </a:xfrm>
          <a:prstGeom prst="rect">
            <a:avLst/>
          </a:prstGeom>
        </p:spPr>
        <p:txBody>
          <a:bodyPr lIns="0" tIns="0" rIns="0" bIns="0" rtlCol="0" anchor="t">
            <a:spAutoFit/>
          </a:bodyPr>
          <a:lstStyle/>
          <a:p>
            <a:pPr algn="ctr">
              <a:lnSpc>
                <a:spcPts val="4524"/>
              </a:lnSpc>
            </a:pPr>
            <a:r>
              <a:rPr lang="en-US" sz="3231" b="1" dirty="0">
                <a:latin typeface="Inter Bold"/>
                <a:ea typeface="Inter Bold"/>
                <a:cs typeface="Inter Bold"/>
                <a:sym typeface="Inter Bold"/>
              </a:rPr>
              <a:t>Phase 03</a:t>
            </a:r>
          </a:p>
        </p:txBody>
      </p:sp>
      <p:sp>
        <p:nvSpPr>
          <p:cNvPr id="12" name="TextBox 12"/>
          <p:cNvSpPr txBox="1"/>
          <p:nvPr/>
        </p:nvSpPr>
        <p:spPr>
          <a:xfrm>
            <a:off x="13550085" y="4880865"/>
            <a:ext cx="3221337" cy="2579489"/>
          </a:xfrm>
          <a:prstGeom prst="rect">
            <a:avLst/>
          </a:prstGeom>
        </p:spPr>
        <p:txBody>
          <a:bodyPr lIns="0" tIns="0" rIns="0" bIns="0" rtlCol="0" anchor="t">
            <a:spAutoFit/>
          </a:bodyPr>
          <a:lstStyle/>
          <a:p>
            <a:pPr algn="ctr">
              <a:lnSpc>
                <a:spcPts val="3361"/>
              </a:lnSpc>
            </a:pPr>
            <a:r>
              <a:rPr lang="en-US" sz="2400" dirty="0">
                <a:solidFill>
                  <a:srgbClr val="000000"/>
                </a:solidFill>
                <a:latin typeface="Inter"/>
                <a:ea typeface="Inter"/>
                <a:cs typeface="Inter"/>
                <a:sym typeface="Inter"/>
              </a:rPr>
              <a:t>After you click Submit the system will automatically generate a PNG file, ready for you to download and print.</a:t>
            </a:r>
          </a:p>
        </p:txBody>
      </p:sp>
      <p:sp>
        <p:nvSpPr>
          <p:cNvPr id="13" name="TextBox 13"/>
          <p:cNvSpPr txBox="1"/>
          <p:nvPr/>
        </p:nvSpPr>
        <p:spPr>
          <a:xfrm>
            <a:off x="13741511" y="4157015"/>
            <a:ext cx="2838484" cy="530273"/>
          </a:xfrm>
          <a:prstGeom prst="rect">
            <a:avLst/>
          </a:prstGeom>
        </p:spPr>
        <p:txBody>
          <a:bodyPr lIns="0" tIns="0" rIns="0" bIns="0" rtlCol="0" anchor="t">
            <a:spAutoFit/>
          </a:bodyPr>
          <a:lstStyle/>
          <a:p>
            <a:pPr algn="ctr">
              <a:lnSpc>
                <a:spcPts val="4524"/>
              </a:lnSpc>
            </a:pPr>
            <a:r>
              <a:rPr lang="en-US" sz="3231" b="1">
                <a:latin typeface="Inter Bold"/>
                <a:ea typeface="Inter Bold"/>
                <a:cs typeface="Inter Bold"/>
                <a:sym typeface="Inter Bold"/>
              </a:rPr>
              <a:t>Phase 04</a:t>
            </a:r>
          </a:p>
        </p:txBody>
      </p:sp>
      <p:sp>
        <p:nvSpPr>
          <p:cNvPr id="14" name="TextBox 14"/>
          <p:cNvSpPr txBox="1"/>
          <p:nvPr/>
        </p:nvSpPr>
        <p:spPr>
          <a:xfrm>
            <a:off x="5122873" y="1864783"/>
            <a:ext cx="8042254" cy="897682"/>
          </a:xfrm>
          <a:prstGeom prst="rect">
            <a:avLst/>
          </a:prstGeom>
        </p:spPr>
        <p:txBody>
          <a:bodyPr lIns="0" tIns="0" rIns="0" bIns="0" rtlCol="0" anchor="t">
            <a:spAutoFit/>
          </a:bodyPr>
          <a:lstStyle/>
          <a:p>
            <a:pPr algn="ctr">
              <a:lnSpc>
                <a:spcPts val="6952"/>
              </a:lnSpc>
            </a:pPr>
            <a:r>
              <a:rPr lang="en-US" sz="6320" b="1" dirty="0">
                <a:solidFill>
                  <a:srgbClr val="000000"/>
                </a:solidFill>
                <a:latin typeface="Agrandir"/>
                <a:ea typeface="Agrandir"/>
                <a:cs typeface="Agrandir"/>
                <a:sym typeface="Agrandir"/>
              </a:rPr>
              <a:t>How to play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6E2821B8-FD8D-28D6-6613-F54C03DB8F83}"/>
            </a:ext>
          </a:extLst>
        </p:cNvPr>
        <p:cNvGrpSpPr/>
        <p:nvPr/>
      </p:nvGrpSpPr>
      <p:grpSpPr>
        <a:xfrm>
          <a:off x="0" y="0"/>
          <a:ext cx="0" cy="0"/>
          <a:chOff x="0" y="0"/>
          <a:chExt cx="0" cy="0"/>
        </a:xfrm>
      </p:grpSpPr>
      <p:grpSp>
        <p:nvGrpSpPr>
          <p:cNvPr id="15" name="Group 2">
            <a:extLst>
              <a:ext uri="{FF2B5EF4-FFF2-40B4-BE49-F238E27FC236}">
                <a16:creationId xmlns:a16="http://schemas.microsoft.com/office/drawing/2014/main" id="{653AA93A-61B9-A93C-397D-BFA733401012}"/>
              </a:ext>
            </a:extLst>
          </p:cNvPr>
          <p:cNvGrpSpPr/>
          <p:nvPr/>
        </p:nvGrpSpPr>
        <p:grpSpPr>
          <a:xfrm>
            <a:off x="680480" y="625871"/>
            <a:ext cx="16927040" cy="9035258"/>
            <a:chOff x="0" y="0"/>
            <a:chExt cx="126402652" cy="67470777"/>
          </a:xfrm>
        </p:grpSpPr>
        <p:sp>
          <p:nvSpPr>
            <p:cNvPr id="16" name="Freeform 3">
              <a:extLst>
                <a:ext uri="{FF2B5EF4-FFF2-40B4-BE49-F238E27FC236}">
                  <a16:creationId xmlns:a16="http://schemas.microsoft.com/office/drawing/2014/main" id="{03EF5847-8990-690C-767F-1408B3BCEBE7}"/>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7" name="Freeform 4">
              <a:extLst>
                <a:ext uri="{FF2B5EF4-FFF2-40B4-BE49-F238E27FC236}">
                  <a16:creationId xmlns:a16="http://schemas.microsoft.com/office/drawing/2014/main" id="{29C047F3-E2E4-3978-1496-E50767BDE7F6}"/>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Freeform 5">
            <a:extLst>
              <a:ext uri="{FF2B5EF4-FFF2-40B4-BE49-F238E27FC236}">
                <a16:creationId xmlns:a16="http://schemas.microsoft.com/office/drawing/2014/main" id="{7FBC18D0-512E-6020-FD37-F897912E592E}"/>
              </a:ext>
            </a:extLst>
          </p:cNvPr>
          <p:cNvSpPr/>
          <p:nvPr/>
        </p:nvSpPr>
        <p:spPr>
          <a:xfrm>
            <a:off x="1069319" y="4068671"/>
            <a:ext cx="16149362" cy="4068034"/>
          </a:xfrm>
          <a:custGeom>
            <a:avLst/>
            <a:gdLst/>
            <a:ahLst/>
            <a:cxnLst/>
            <a:rect l="l" t="t" r="r" b="b"/>
            <a:pathLst>
              <a:path w="16149362" h="4068034">
                <a:moveTo>
                  <a:pt x="0" y="4068034"/>
                </a:moveTo>
                <a:lnTo>
                  <a:pt x="3833703" y="4068034"/>
                </a:lnTo>
                <a:cubicBezTo>
                  <a:pt x="3889279" y="4068034"/>
                  <a:pt x="3942579" y="4045956"/>
                  <a:pt x="3981877" y="4006658"/>
                </a:cubicBezTo>
                <a:cubicBezTo>
                  <a:pt x="4021176" y="3967360"/>
                  <a:pt x="4043253" y="3914060"/>
                  <a:pt x="4043253" y="3858484"/>
                </a:cubicBezTo>
                <a:lnTo>
                  <a:pt x="4043253" y="209550"/>
                </a:lnTo>
                <a:cubicBezTo>
                  <a:pt x="4043253" y="93819"/>
                  <a:pt x="4137072" y="0"/>
                  <a:pt x="4252803" y="0"/>
                </a:cubicBezTo>
                <a:lnTo>
                  <a:pt x="7960656" y="0"/>
                </a:lnTo>
                <a:cubicBezTo>
                  <a:pt x="8076387" y="0"/>
                  <a:pt x="8170206" y="93819"/>
                  <a:pt x="8170206" y="209550"/>
                </a:cubicBezTo>
                <a:lnTo>
                  <a:pt x="8170206" y="3858484"/>
                </a:lnTo>
                <a:cubicBezTo>
                  <a:pt x="8170206" y="3974215"/>
                  <a:pt x="8264025" y="4068034"/>
                  <a:pt x="8379756" y="4068034"/>
                </a:cubicBezTo>
                <a:lnTo>
                  <a:pt x="11924328" y="4068034"/>
                </a:lnTo>
                <a:cubicBezTo>
                  <a:pt x="11979905" y="4068034"/>
                  <a:pt x="12033204" y="4045956"/>
                  <a:pt x="12072502" y="4006658"/>
                </a:cubicBezTo>
                <a:cubicBezTo>
                  <a:pt x="12111800" y="3967360"/>
                  <a:pt x="12133878" y="3914060"/>
                  <a:pt x="12133878" y="3858484"/>
                </a:cubicBezTo>
                <a:lnTo>
                  <a:pt x="12133878" y="209550"/>
                </a:lnTo>
                <a:cubicBezTo>
                  <a:pt x="12133878" y="93819"/>
                  <a:pt x="12227697" y="0"/>
                  <a:pt x="12343428" y="0"/>
                </a:cubicBezTo>
                <a:lnTo>
                  <a:pt x="16149362" y="0"/>
                </a:lnTo>
              </a:path>
            </a:pathLst>
          </a:custGeom>
          <a:ln w="38100" cap="flat">
            <a:solidFill>
              <a:srgbClr val="000000"/>
            </a:solidFill>
            <a:prstDash val="solid"/>
            <a:headEnd type="oval" w="lg" len="lg"/>
            <a:tailEnd type="oval" w="lg" len="lg"/>
          </a:ln>
        </p:spPr>
        <p:txBody>
          <a:bodyPr/>
          <a:lstStyle/>
          <a:p>
            <a:endParaRPr lang="en-US"/>
          </a:p>
        </p:txBody>
      </p:sp>
      <p:sp>
        <p:nvSpPr>
          <p:cNvPr id="6" name="TextBox 6">
            <a:extLst>
              <a:ext uri="{FF2B5EF4-FFF2-40B4-BE49-F238E27FC236}">
                <a16:creationId xmlns:a16="http://schemas.microsoft.com/office/drawing/2014/main" id="{33FCCA4F-B316-6332-6EEC-973C105E20E8}"/>
              </a:ext>
            </a:extLst>
          </p:cNvPr>
          <p:cNvSpPr txBox="1"/>
          <p:nvPr/>
        </p:nvSpPr>
        <p:spPr>
          <a:xfrm>
            <a:off x="1516579" y="4880864"/>
            <a:ext cx="3392623" cy="2564292"/>
          </a:xfrm>
          <a:prstGeom prst="rect">
            <a:avLst/>
          </a:prstGeom>
        </p:spPr>
        <p:txBody>
          <a:bodyPr wrap="square" lIns="0" tIns="0" rIns="0" bIns="0" rtlCol="0" anchor="t">
            <a:spAutoFit/>
          </a:bodyPr>
          <a:lstStyle/>
          <a:p>
            <a:pPr algn="ctr">
              <a:lnSpc>
                <a:spcPts val="3361"/>
              </a:lnSpc>
            </a:pPr>
            <a:r>
              <a:rPr lang="ja-JP" altLang="en-US" sz="2000" dirty="0">
                <a:solidFill>
                  <a:srgbClr val="000000"/>
                </a:solidFill>
                <a:latin typeface="Inter"/>
                <a:ea typeface="Inter"/>
                <a:cs typeface="Inter"/>
                <a:sym typeface="Inter"/>
              </a:rPr>
              <a:t>名前を入力し、希望するグリッドサイズ（マスの大きさ）を選択します。次に、ゲームモード、パターン、そしてお好みのビジュアルスタイルを選んでください。</a:t>
            </a:r>
            <a:endParaRPr lang="en-US" sz="2000" dirty="0">
              <a:solidFill>
                <a:srgbClr val="000000"/>
              </a:solidFill>
              <a:latin typeface="Inter"/>
              <a:ea typeface="Inter"/>
              <a:cs typeface="Inter"/>
              <a:sym typeface="Inter"/>
            </a:endParaRPr>
          </a:p>
        </p:txBody>
      </p:sp>
      <p:sp>
        <p:nvSpPr>
          <p:cNvPr id="7" name="TextBox 7">
            <a:extLst>
              <a:ext uri="{FF2B5EF4-FFF2-40B4-BE49-F238E27FC236}">
                <a16:creationId xmlns:a16="http://schemas.microsoft.com/office/drawing/2014/main" id="{0102A9DA-BBD6-BA44-A351-AFBF44171B8E}"/>
              </a:ext>
            </a:extLst>
          </p:cNvPr>
          <p:cNvSpPr txBox="1"/>
          <p:nvPr/>
        </p:nvSpPr>
        <p:spPr>
          <a:xfrm>
            <a:off x="1708005" y="4157015"/>
            <a:ext cx="2838484" cy="525144"/>
          </a:xfrm>
          <a:prstGeom prst="rect">
            <a:avLst/>
          </a:prstGeom>
        </p:spPr>
        <p:txBody>
          <a:bodyPr lIns="0" tIns="0" rIns="0" bIns="0" rtlCol="0" anchor="t">
            <a:spAutoFit/>
          </a:bodyPr>
          <a:lstStyle/>
          <a:p>
            <a:pPr algn="ctr">
              <a:lnSpc>
                <a:spcPts val="4524"/>
              </a:lnSpc>
            </a:pPr>
            <a:r>
              <a:rPr lang="ja-JP" altLang="en-US" sz="3231" b="1" dirty="0">
                <a:latin typeface="Inter Bold"/>
                <a:ea typeface="Inter Bold"/>
                <a:cs typeface="Inter Bold"/>
                <a:sym typeface="Inter Bold"/>
              </a:rPr>
              <a:t>フェーズ </a:t>
            </a:r>
            <a:r>
              <a:rPr lang="en-US" altLang="ja-JP" sz="3231" b="1" dirty="0">
                <a:latin typeface="Inter Bold"/>
                <a:ea typeface="Inter Bold"/>
                <a:cs typeface="Inter Bold"/>
                <a:sym typeface="Inter Bold"/>
              </a:rPr>
              <a:t>01</a:t>
            </a:r>
            <a:endParaRPr lang="en-US" sz="3231" b="1" dirty="0">
              <a:latin typeface="Inter Bold"/>
              <a:ea typeface="Inter Bold"/>
              <a:cs typeface="Inter Bold"/>
              <a:sym typeface="Inter Bold"/>
            </a:endParaRPr>
          </a:p>
        </p:txBody>
      </p:sp>
      <p:sp>
        <p:nvSpPr>
          <p:cNvPr id="8" name="TextBox 8">
            <a:extLst>
              <a:ext uri="{FF2B5EF4-FFF2-40B4-BE49-F238E27FC236}">
                <a16:creationId xmlns:a16="http://schemas.microsoft.com/office/drawing/2014/main" id="{D7E4FD53-6F8C-882F-18C0-F5A5FC4D6349}"/>
              </a:ext>
            </a:extLst>
          </p:cNvPr>
          <p:cNvSpPr txBox="1"/>
          <p:nvPr/>
        </p:nvSpPr>
        <p:spPr>
          <a:xfrm>
            <a:off x="5356461" y="4880865"/>
            <a:ext cx="3563910" cy="4308359"/>
          </a:xfrm>
          <a:prstGeom prst="rect">
            <a:avLst/>
          </a:prstGeom>
        </p:spPr>
        <p:txBody>
          <a:bodyPr wrap="square" lIns="0" tIns="0" rIns="0" bIns="0" rtlCol="0" anchor="t">
            <a:spAutoFit/>
          </a:bodyPr>
          <a:lstStyle/>
          <a:p>
            <a:pPr algn="ctr">
              <a:lnSpc>
                <a:spcPts val="3361"/>
              </a:lnSpc>
            </a:pPr>
            <a:r>
              <a:rPr lang="ja-JP" altLang="en-US" sz="2000" dirty="0">
                <a:solidFill>
                  <a:srgbClr val="000000"/>
                </a:solidFill>
                <a:latin typeface="Inter"/>
                <a:ea typeface="Inter"/>
                <a:cs typeface="Inter"/>
                <a:sym typeface="Inter"/>
              </a:rPr>
              <a:t>スタイルには「スタンダード（</a:t>
            </a:r>
            <a:r>
              <a:rPr lang="en-US" altLang="ja-JP" sz="2000" dirty="0">
                <a:solidFill>
                  <a:srgbClr val="000000"/>
                </a:solidFill>
                <a:latin typeface="Inter"/>
                <a:ea typeface="Inter"/>
                <a:cs typeface="Inter"/>
                <a:sym typeface="Inter"/>
              </a:rPr>
              <a:t>Standard</a:t>
            </a:r>
            <a:r>
              <a:rPr lang="ja-JP" altLang="en-US" sz="2000" dirty="0">
                <a:solidFill>
                  <a:srgbClr val="000000"/>
                </a:solidFill>
                <a:latin typeface="Inter"/>
                <a:ea typeface="Inter"/>
                <a:cs typeface="Inter"/>
                <a:sym typeface="Inter"/>
              </a:rPr>
              <a:t>）」と「クリエイティブ（</a:t>
            </a:r>
            <a:r>
              <a:rPr lang="en-US" altLang="ja-JP" sz="2000" dirty="0">
                <a:solidFill>
                  <a:srgbClr val="000000"/>
                </a:solidFill>
                <a:latin typeface="Inter"/>
                <a:ea typeface="Inter"/>
                <a:cs typeface="Inter"/>
                <a:sym typeface="Inter"/>
              </a:rPr>
              <a:t>Creative</a:t>
            </a:r>
            <a:r>
              <a:rPr lang="ja-JP" altLang="en-US" sz="2000" dirty="0">
                <a:solidFill>
                  <a:srgbClr val="000000"/>
                </a:solidFill>
                <a:latin typeface="Inter"/>
                <a:ea typeface="Inter"/>
                <a:cs typeface="Inter"/>
                <a:sym typeface="Inter"/>
              </a:rPr>
              <a:t>）」の</a:t>
            </a:r>
            <a:r>
              <a:rPr lang="en-US" altLang="ja-JP" sz="2000" dirty="0">
                <a:solidFill>
                  <a:srgbClr val="000000"/>
                </a:solidFill>
                <a:latin typeface="Inter"/>
                <a:ea typeface="Inter"/>
                <a:cs typeface="Inter"/>
                <a:sym typeface="Inter"/>
              </a:rPr>
              <a:t>2</a:t>
            </a:r>
            <a:r>
              <a:rPr lang="ja-JP" altLang="en-US" sz="2000" dirty="0">
                <a:solidFill>
                  <a:srgbClr val="000000"/>
                </a:solidFill>
                <a:latin typeface="Inter"/>
                <a:ea typeface="Inter"/>
                <a:cs typeface="Inter"/>
                <a:sym typeface="Inter"/>
              </a:rPr>
              <a:t>つの選択肢があります。</a:t>
            </a:r>
          </a:p>
          <a:p>
            <a:pPr algn="ctr">
              <a:lnSpc>
                <a:spcPts val="3361"/>
              </a:lnSpc>
            </a:pPr>
            <a:r>
              <a:rPr lang="ja-JP" altLang="en-US" sz="2000" dirty="0">
                <a:solidFill>
                  <a:srgbClr val="000000"/>
                </a:solidFill>
                <a:latin typeface="Inter"/>
                <a:ea typeface="Inter"/>
                <a:cs typeface="Inter"/>
                <a:sym typeface="Inter"/>
              </a:rPr>
              <a:t>クラシックな魔方陣（</a:t>
            </a:r>
            <a:r>
              <a:rPr lang="en-US" altLang="ja-JP" sz="2000" dirty="0">
                <a:solidFill>
                  <a:srgbClr val="000000"/>
                </a:solidFill>
                <a:latin typeface="Inter"/>
                <a:ea typeface="Inter"/>
                <a:cs typeface="Inter"/>
                <a:sym typeface="Inter"/>
              </a:rPr>
              <a:t>Magic Square</a:t>
            </a:r>
            <a:r>
              <a:rPr lang="ja-JP" altLang="en-US" sz="2000" dirty="0">
                <a:solidFill>
                  <a:srgbClr val="000000"/>
                </a:solidFill>
                <a:latin typeface="Inter"/>
                <a:ea typeface="Inter"/>
                <a:cs typeface="Inter"/>
                <a:sym typeface="Inter"/>
              </a:rPr>
              <a:t>）を楽しみたい場合は「スタンダード」を、ジグソーパズルをテーマにした背景にしたい場合は「クリエイティブ」を選択してください。</a:t>
            </a:r>
            <a:endParaRPr lang="en-US" sz="2000" dirty="0">
              <a:solidFill>
                <a:srgbClr val="000000"/>
              </a:solidFill>
              <a:latin typeface="Inter"/>
              <a:ea typeface="Inter"/>
              <a:cs typeface="Inter"/>
              <a:sym typeface="Inter"/>
            </a:endParaRPr>
          </a:p>
        </p:txBody>
      </p:sp>
      <p:sp>
        <p:nvSpPr>
          <p:cNvPr id="9" name="TextBox 9">
            <a:extLst>
              <a:ext uri="{FF2B5EF4-FFF2-40B4-BE49-F238E27FC236}">
                <a16:creationId xmlns:a16="http://schemas.microsoft.com/office/drawing/2014/main" id="{DE63AB45-7DEE-1A4D-9CB8-33980733ACA0}"/>
              </a:ext>
            </a:extLst>
          </p:cNvPr>
          <p:cNvSpPr txBox="1"/>
          <p:nvPr/>
        </p:nvSpPr>
        <p:spPr>
          <a:xfrm>
            <a:off x="5719174" y="4157015"/>
            <a:ext cx="2838484" cy="525144"/>
          </a:xfrm>
          <a:prstGeom prst="rect">
            <a:avLst/>
          </a:prstGeom>
        </p:spPr>
        <p:txBody>
          <a:bodyPr lIns="0" tIns="0" rIns="0" bIns="0" rtlCol="0" anchor="t">
            <a:spAutoFit/>
          </a:bodyPr>
          <a:lstStyle/>
          <a:p>
            <a:pPr algn="ctr">
              <a:lnSpc>
                <a:spcPts val="4524"/>
              </a:lnSpc>
            </a:pPr>
            <a:r>
              <a:rPr lang="ja-JP" altLang="en-US" sz="3231" b="1" dirty="0">
                <a:latin typeface="Inter Bold"/>
                <a:ea typeface="Inter Bold"/>
                <a:cs typeface="Inter Bold"/>
                <a:sym typeface="Inter Bold"/>
              </a:rPr>
              <a:t>フェーズ </a:t>
            </a:r>
            <a:r>
              <a:rPr lang="en-US" altLang="ja-JP" sz="3231" b="1" dirty="0">
                <a:latin typeface="Inter Bold"/>
                <a:ea typeface="Inter Bold"/>
                <a:cs typeface="Inter Bold"/>
                <a:sym typeface="Inter Bold"/>
              </a:rPr>
              <a:t>02</a:t>
            </a:r>
            <a:endParaRPr lang="en-US" sz="3231" b="1" dirty="0">
              <a:latin typeface="Inter Bold"/>
              <a:ea typeface="Inter Bold"/>
              <a:cs typeface="Inter Bold"/>
              <a:sym typeface="Inter Bold"/>
            </a:endParaRPr>
          </a:p>
        </p:txBody>
      </p:sp>
      <p:sp>
        <p:nvSpPr>
          <p:cNvPr id="10" name="TextBox 10">
            <a:extLst>
              <a:ext uri="{FF2B5EF4-FFF2-40B4-BE49-F238E27FC236}">
                <a16:creationId xmlns:a16="http://schemas.microsoft.com/office/drawing/2014/main" id="{2FA3C4AE-1232-A063-D019-7EBC04F43EB0}"/>
              </a:ext>
            </a:extLst>
          </p:cNvPr>
          <p:cNvSpPr txBox="1"/>
          <p:nvPr/>
        </p:nvSpPr>
        <p:spPr>
          <a:xfrm>
            <a:off x="9602950" y="4624961"/>
            <a:ext cx="3221337" cy="3451522"/>
          </a:xfrm>
          <a:prstGeom prst="rect">
            <a:avLst/>
          </a:prstGeom>
        </p:spPr>
        <p:txBody>
          <a:bodyPr lIns="0" tIns="0" rIns="0" bIns="0" rtlCol="0" anchor="t">
            <a:spAutoFit/>
          </a:bodyPr>
          <a:lstStyle/>
          <a:p>
            <a:pPr algn="ctr">
              <a:lnSpc>
                <a:spcPts val="3361"/>
              </a:lnSpc>
            </a:pPr>
            <a:r>
              <a:rPr lang="ja-JP" altLang="en-US" sz="2400" dirty="0">
                <a:solidFill>
                  <a:srgbClr val="000000"/>
                </a:solidFill>
                <a:latin typeface="Inter"/>
                <a:ea typeface="Inter"/>
                <a:cs typeface="Inter"/>
                <a:sym typeface="Inter"/>
              </a:rPr>
              <a:t>設定が完了すると、すぐにゲームを開始できます。チャレンジをクリアした後は、「</a:t>
            </a:r>
            <a:r>
              <a:rPr lang="en-US" altLang="ja-JP" sz="2400" dirty="0">
                <a:solidFill>
                  <a:srgbClr val="000000"/>
                </a:solidFill>
                <a:latin typeface="Inter"/>
                <a:ea typeface="Inter"/>
                <a:cs typeface="Inter"/>
                <a:sym typeface="Inter"/>
              </a:rPr>
              <a:t>Submit</a:t>
            </a:r>
            <a:r>
              <a:rPr lang="ja-JP" altLang="en-US" sz="2400" dirty="0">
                <a:solidFill>
                  <a:srgbClr val="000000"/>
                </a:solidFill>
                <a:latin typeface="Inter"/>
                <a:ea typeface="Inter"/>
                <a:cs typeface="Inter"/>
                <a:sym typeface="Inter"/>
              </a:rPr>
              <a:t>（送信）」ボタンをクリックして結果を確定させてください。</a:t>
            </a:r>
            <a:endParaRPr lang="en-US" sz="2400" dirty="0">
              <a:solidFill>
                <a:srgbClr val="000000"/>
              </a:solidFill>
              <a:latin typeface="Inter"/>
              <a:ea typeface="Inter"/>
              <a:cs typeface="Inter"/>
              <a:sym typeface="Inter"/>
            </a:endParaRPr>
          </a:p>
        </p:txBody>
      </p:sp>
      <p:sp>
        <p:nvSpPr>
          <p:cNvPr id="11" name="TextBox 11">
            <a:extLst>
              <a:ext uri="{FF2B5EF4-FFF2-40B4-BE49-F238E27FC236}">
                <a16:creationId xmlns:a16="http://schemas.microsoft.com/office/drawing/2014/main" id="{4257297A-368B-452C-9FA6-455DDEED5566}"/>
              </a:ext>
            </a:extLst>
          </p:cNvPr>
          <p:cNvSpPr txBox="1"/>
          <p:nvPr/>
        </p:nvSpPr>
        <p:spPr>
          <a:xfrm>
            <a:off x="9730342" y="3899759"/>
            <a:ext cx="2838484" cy="525144"/>
          </a:xfrm>
          <a:prstGeom prst="rect">
            <a:avLst/>
          </a:prstGeom>
        </p:spPr>
        <p:txBody>
          <a:bodyPr lIns="0" tIns="0" rIns="0" bIns="0" rtlCol="0" anchor="t">
            <a:spAutoFit/>
          </a:bodyPr>
          <a:lstStyle/>
          <a:p>
            <a:pPr algn="ctr">
              <a:lnSpc>
                <a:spcPts val="4524"/>
              </a:lnSpc>
            </a:pPr>
            <a:r>
              <a:rPr lang="ja-JP" altLang="en-US" sz="3231" b="1" dirty="0">
                <a:latin typeface="Inter Bold"/>
                <a:ea typeface="Inter Bold"/>
                <a:cs typeface="Inter Bold"/>
                <a:sym typeface="Inter Bold"/>
              </a:rPr>
              <a:t>フェーズ </a:t>
            </a:r>
            <a:r>
              <a:rPr lang="en-US" altLang="ja-JP" sz="3231" b="1" dirty="0">
                <a:latin typeface="Inter Bold"/>
                <a:ea typeface="Inter Bold"/>
                <a:cs typeface="Inter Bold"/>
                <a:sym typeface="Inter Bold"/>
              </a:rPr>
              <a:t>03</a:t>
            </a:r>
            <a:endParaRPr lang="en-US" sz="3231" b="1" dirty="0">
              <a:latin typeface="Inter Bold"/>
              <a:ea typeface="Inter Bold"/>
              <a:cs typeface="Inter Bold"/>
              <a:sym typeface="Inter Bold"/>
            </a:endParaRPr>
          </a:p>
        </p:txBody>
      </p:sp>
      <p:sp>
        <p:nvSpPr>
          <p:cNvPr id="12" name="TextBox 12">
            <a:extLst>
              <a:ext uri="{FF2B5EF4-FFF2-40B4-BE49-F238E27FC236}">
                <a16:creationId xmlns:a16="http://schemas.microsoft.com/office/drawing/2014/main" id="{DF98AF38-8461-2CBD-E6BC-FF1A17CD146A}"/>
              </a:ext>
            </a:extLst>
          </p:cNvPr>
          <p:cNvSpPr txBox="1"/>
          <p:nvPr/>
        </p:nvSpPr>
        <p:spPr>
          <a:xfrm>
            <a:off x="13550085" y="4880865"/>
            <a:ext cx="3221337" cy="3011722"/>
          </a:xfrm>
          <a:prstGeom prst="rect">
            <a:avLst/>
          </a:prstGeom>
        </p:spPr>
        <p:txBody>
          <a:bodyPr lIns="0" tIns="0" rIns="0" bIns="0" rtlCol="0" anchor="t">
            <a:spAutoFit/>
          </a:bodyPr>
          <a:lstStyle/>
          <a:p>
            <a:pPr algn="ctr">
              <a:lnSpc>
                <a:spcPts val="3361"/>
              </a:lnSpc>
            </a:pPr>
            <a:r>
              <a:rPr lang="ja-JP" altLang="en-US" sz="2400" dirty="0">
                <a:solidFill>
                  <a:srgbClr val="000000"/>
                </a:solidFill>
                <a:latin typeface="Inter"/>
                <a:ea typeface="Inter"/>
                <a:cs typeface="Inter"/>
                <a:sym typeface="Inter"/>
              </a:rPr>
              <a:t>「</a:t>
            </a:r>
            <a:r>
              <a:rPr lang="en-US" altLang="ja-JP" sz="2400" dirty="0">
                <a:solidFill>
                  <a:srgbClr val="000000"/>
                </a:solidFill>
                <a:latin typeface="Inter"/>
                <a:ea typeface="Inter"/>
                <a:cs typeface="Inter"/>
                <a:sym typeface="Inter"/>
              </a:rPr>
              <a:t>Submit</a:t>
            </a:r>
            <a:r>
              <a:rPr lang="ja-JP" altLang="en-US" sz="2400" dirty="0">
                <a:solidFill>
                  <a:srgbClr val="000000"/>
                </a:solidFill>
                <a:latin typeface="Inter"/>
                <a:ea typeface="Inter"/>
                <a:cs typeface="Inter"/>
                <a:sym typeface="Inter"/>
              </a:rPr>
              <a:t>」をクリックすると、システムが自動的に</a:t>
            </a:r>
            <a:r>
              <a:rPr lang="en-US" altLang="ja-JP" sz="2400" dirty="0">
                <a:solidFill>
                  <a:srgbClr val="000000"/>
                </a:solidFill>
                <a:latin typeface="Inter"/>
                <a:ea typeface="Inter"/>
                <a:cs typeface="Inter"/>
                <a:sym typeface="Inter"/>
              </a:rPr>
              <a:t>PNG</a:t>
            </a:r>
            <a:r>
              <a:rPr lang="ja-JP" altLang="en-US" sz="2400" dirty="0">
                <a:solidFill>
                  <a:srgbClr val="000000"/>
                </a:solidFill>
                <a:latin typeface="Inter"/>
                <a:ea typeface="Inter"/>
                <a:cs typeface="Inter"/>
                <a:sym typeface="Inter"/>
              </a:rPr>
              <a:t>ファイルを生成します。ファイルはいつでもダウンロードして印刷することができます。</a:t>
            </a:r>
            <a:endParaRPr lang="en-US" sz="2400" dirty="0">
              <a:solidFill>
                <a:srgbClr val="000000"/>
              </a:solidFill>
              <a:latin typeface="Inter"/>
              <a:ea typeface="Inter"/>
              <a:cs typeface="Inter"/>
              <a:sym typeface="Inter"/>
            </a:endParaRPr>
          </a:p>
        </p:txBody>
      </p:sp>
      <p:sp>
        <p:nvSpPr>
          <p:cNvPr id="13" name="TextBox 13">
            <a:extLst>
              <a:ext uri="{FF2B5EF4-FFF2-40B4-BE49-F238E27FC236}">
                <a16:creationId xmlns:a16="http://schemas.microsoft.com/office/drawing/2014/main" id="{F0C4BA85-4E88-0DDD-CF8A-A4BB05C60A09}"/>
              </a:ext>
            </a:extLst>
          </p:cNvPr>
          <p:cNvSpPr txBox="1"/>
          <p:nvPr/>
        </p:nvSpPr>
        <p:spPr>
          <a:xfrm>
            <a:off x="13741511" y="4157015"/>
            <a:ext cx="2838484" cy="525144"/>
          </a:xfrm>
          <a:prstGeom prst="rect">
            <a:avLst/>
          </a:prstGeom>
        </p:spPr>
        <p:txBody>
          <a:bodyPr lIns="0" tIns="0" rIns="0" bIns="0" rtlCol="0" anchor="t">
            <a:spAutoFit/>
          </a:bodyPr>
          <a:lstStyle/>
          <a:p>
            <a:pPr algn="ctr">
              <a:lnSpc>
                <a:spcPts val="4524"/>
              </a:lnSpc>
            </a:pPr>
            <a:r>
              <a:rPr lang="ja-JP" altLang="en-US" sz="3231" b="1" dirty="0">
                <a:latin typeface="Inter Bold"/>
                <a:ea typeface="Inter Bold"/>
                <a:cs typeface="Inter Bold"/>
                <a:sym typeface="Inter Bold"/>
              </a:rPr>
              <a:t>フェーズ </a:t>
            </a:r>
            <a:r>
              <a:rPr lang="en-US" altLang="ja-JP" sz="3231" b="1" dirty="0">
                <a:latin typeface="Inter Bold"/>
                <a:ea typeface="Inter Bold"/>
                <a:cs typeface="Inter Bold"/>
                <a:sym typeface="Inter Bold"/>
              </a:rPr>
              <a:t>04</a:t>
            </a:r>
            <a:endParaRPr lang="en-US" sz="3231" b="1" dirty="0">
              <a:latin typeface="Inter Bold"/>
              <a:ea typeface="Inter Bold"/>
              <a:cs typeface="Inter Bold"/>
              <a:sym typeface="Inter Bold"/>
            </a:endParaRPr>
          </a:p>
        </p:txBody>
      </p:sp>
      <p:sp>
        <p:nvSpPr>
          <p:cNvPr id="14" name="TextBox 14">
            <a:extLst>
              <a:ext uri="{FF2B5EF4-FFF2-40B4-BE49-F238E27FC236}">
                <a16:creationId xmlns:a16="http://schemas.microsoft.com/office/drawing/2014/main" id="{18C04F50-025A-9C4A-1AC7-BCD7800282FF}"/>
              </a:ext>
            </a:extLst>
          </p:cNvPr>
          <p:cNvSpPr txBox="1"/>
          <p:nvPr/>
        </p:nvSpPr>
        <p:spPr>
          <a:xfrm>
            <a:off x="5122873" y="1864783"/>
            <a:ext cx="8042254" cy="897682"/>
          </a:xfrm>
          <a:prstGeom prst="rect">
            <a:avLst/>
          </a:prstGeom>
        </p:spPr>
        <p:txBody>
          <a:bodyPr lIns="0" tIns="0" rIns="0" bIns="0" rtlCol="0" anchor="t">
            <a:spAutoFit/>
          </a:bodyPr>
          <a:lstStyle/>
          <a:p>
            <a:pPr algn="ctr">
              <a:lnSpc>
                <a:spcPts val="6952"/>
              </a:lnSpc>
            </a:pPr>
            <a:r>
              <a:rPr lang="ja-JP" altLang="en-US" sz="6320" b="1" dirty="0">
                <a:solidFill>
                  <a:srgbClr val="000000"/>
                </a:solidFill>
                <a:latin typeface="Agrandir"/>
                <a:ea typeface="Agrandir"/>
                <a:cs typeface="Agrandir"/>
                <a:sym typeface="Agrandir"/>
              </a:rPr>
              <a:t>プレイ方法</a:t>
            </a:r>
            <a:endParaRPr lang="en-US" sz="6320" b="1" dirty="0">
              <a:solidFill>
                <a:srgbClr val="000000"/>
              </a:solidFill>
              <a:latin typeface="Agrandir"/>
              <a:ea typeface="Agrandir"/>
              <a:cs typeface="Agrandir"/>
              <a:sym typeface="Agrandir"/>
            </a:endParaRPr>
          </a:p>
        </p:txBody>
      </p:sp>
    </p:spTree>
    <p:extLst>
      <p:ext uri="{BB962C8B-B14F-4D97-AF65-F5344CB8AC3E}">
        <p14:creationId xmlns:p14="http://schemas.microsoft.com/office/powerpoint/2010/main" val="1555012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AC51FE6F-9F18-3B0F-0B19-3CCE09C9C356}"/>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5472F19D-9175-E279-0B1B-B3F54498B011}"/>
              </a:ext>
            </a:extLst>
          </p:cNvPr>
          <p:cNvGrpSpPr/>
          <p:nvPr/>
        </p:nvGrpSpPr>
        <p:grpSpPr>
          <a:xfrm>
            <a:off x="660160" y="625871"/>
            <a:ext cx="16927040" cy="9035258"/>
            <a:chOff x="0" y="0"/>
            <a:chExt cx="126402652" cy="67470777"/>
          </a:xfrm>
        </p:grpSpPr>
        <p:sp>
          <p:nvSpPr>
            <p:cNvPr id="7" name="Freeform 3">
              <a:extLst>
                <a:ext uri="{FF2B5EF4-FFF2-40B4-BE49-F238E27FC236}">
                  <a16:creationId xmlns:a16="http://schemas.microsoft.com/office/drawing/2014/main" id="{B782CA5B-58D5-67E2-08EF-7548423234F1}"/>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E366373A-D27F-208D-F233-46A7DBBB0B54}"/>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grpSp>
        <p:nvGrpSpPr>
          <p:cNvPr id="61" name="Group 2">
            <a:extLst>
              <a:ext uri="{FF2B5EF4-FFF2-40B4-BE49-F238E27FC236}">
                <a16:creationId xmlns:a16="http://schemas.microsoft.com/office/drawing/2014/main" id="{E0516CB6-6EFB-808E-6CAB-10C1A03C679D}"/>
              </a:ext>
            </a:extLst>
          </p:cNvPr>
          <p:cNvGrpSpPr/>
          <p:nvPr/>
        </p:nvGrpSpPr>
        <p:grpSpPr>
          <a:xfrm>
            <a:off x="8498753" y="3105081"/>
            <a:ext cx="6109876" cy="5120195"/>
            <a:chOff x="0" y="0"/>
            <a:chExt cx="126402654" cy="67470778"/>
          </a:xfrm>
        </p:grpSpPr>
        <p:sp>
          <p:nvSpPr>
            <p:cNvPr id="62" name="Freeform 3">
              <a:extLst>
                <a:ext uri="{FF2B5EF4-FFF2-40B4-BE49-F238E27FC236}">
                  <a16:creationId xmlns:a16="http://schemas.microsoft.com/office/drawing/2014/main" id="{4C02E7BE-154D-EEF6-AF63-76AF0F0C14E1}"/>
                </a:ext>
              </a:extLst>
            </p:cNvPr>
            <p:cNvSpPr/>
            <p:nvPr/>
          </p:nvSpPr>
          <p:spPr>
            <a:xfrm>
              <a:off x="72388" y="72397"/>
              <a:ext cx="126257877" cy="67325998"/>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chemeClr val="bg1">
                <a:lumMod val="95000"/>
              </a:schemeClr>
            </a:solidFill>
          </p:spPr>
          <p:txBody>
            <a:bodyPr/>
            <a:lstStyle/>
            <a:p>
              <a:endParaRPr lang="en-US" dirty="0"/>
            </a:p>
          </p:txBody>
        </p:sp>
        <p:sp>
          <p:nvSpPr>
            <p:cNvPr id="63" name="Freeform 4">
              <a:extLst>
                <a:ext uri="{FF2B5EF4-FFF2-40B4-BE49-F238E27FC236}">
                  <a16:creationId xmlns:a16="http://schemas.microsoft.com/office/drawing/2014/main" id="{024F45CB-DD25-DD98-8434-BAD81D533E1F}"/>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grpSp>
        <p:nvGrpSpPr>
          <p:cNvPr id="19" name="Group 2">
            <a:extLst>
              <a:ext uri="{FF2B5EF4-FFF2-40B4-BE49-F238E27FC236}">
                <a16:creationId xmlns:a16="http://schemas.microsoft.com/office/drawing/2014/main" id="{EFF0F02A-9F6A-E60D-16D6-30E33C7A774F}"/>
              </a:ext>
            </a:extLst>
          </p:cNvPr>
          <p:cNvGrpSpPr/>
          <p:nvPr/>
        </p:nvGrpSpPr>
        <p:grpSpPr>
          <a:xfrm>
            <a:off x="3154651" y="3086100"/>
            <a:ext cx="4981896" cy="5120195"/>
            <a:chOff x="0" y="0"/>
            <a:chExt cx="126402652" cy="67470777"/>
          </a:xfrm>
        </p:grpSpPr>
        <p:sp>
          <p:nvSpPr>
            <p:cNvPr id="20" name="Freeform 3">
              <a:extLst>
                <a:ext uri="{FF2B5EF4-FFF2-40B4-BE49-F238E27FC236}">
                  <a16:creationId xmlns:a16="http://schemas.microsoft.com/office/drawing/2014/main" id="{83AA416C-838E-D854-2FE2-6962AC3F8436}"/>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chemeClr val="bg1">
                <a:lumMod val="95000"/>
              </a:schemeClr>
            </a:solidFill>
          </p:spPr>
          <p:txBody>
            <a:bodyPr/>
            <a:lstStyle/>
            <a:p>
              <a:endParaRPr lang="en-US" dirty="0"/>
            </a:p>
          </p:txBody>
        </p:sp>
        <p:sp>
          <p:nvSpPr>
            <p:cNvPr id="21" name="Freeform 4">
              <a:extLst>
                <a:ext uri="{FF2B5EF4-FFF2-40B4-BE49-F238E27FC236}">
                  <a16:creationId xmlns:a16="http://schemas.microsoft.com/office/drawing/2014/main" id="{EB2EB013-D2FA-7189-BFA8-9E163CD05F2A}"/>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pic>
        <p:nvPicPr>
          <p:cNvPr id="22" name="Picture 2" descr="パソコンを使う女の子のイラスト">
            <a:extLst>
              <a:ext uri="{FF2B5EF4-FFF2-40B4-BE49-F238E27FC236}">
                <a16:creationId xmlns:a16="http://schemas.microsoft.com/office/drawing/2014/main" id="{8BEE1028-ABB4-34A5-C639-3624D144BC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243" y="1082014"/>
            <a:ext cx="2012952" cy="202306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155D6AD-7E86-5A0D-4E4C-E55C110BEC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87239" y="3204023"/>
            <a:ext cx="860337" cy="860337"/>
          </a:xfrm>
          <a:prstGeom prst="rect">
            <a:avLst/>
          </a:prstGeom>
        </p:spPr>
      </p:pic>
      <p:pic>
        <p:nvPicPr>
          <p:cNvPr id="1038" name="Picture 14" descr="Print - Free technology icons">
            <a:extLst>
              <a:ext uri="{FF2B5EF4-FFF2-40B4-BE49-F238E27FC236}">
                <a16:creationId xmlns:a16="http://schemas.microsoft.com/office/drawing/2014/main" id="{168AB38A-A39F-30F1-66AF-3E888685014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71111" y="6392139"/>
            <a:ext cx="789781" cy="7897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per Icon SVG Vector &amp; PNG Free Download | UXWing">
            <a:extLst>
              <a:ext uri="{FF2B5EF4-FFF2-40B4-BE49-F238E27FC236}">
                <a16:creationId xmlns:a16="http://schemas.microsoft.com/office/drawing/2014/main" id="{40F97564-DB95-9D80-C5A4-FF3E8253B9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0763" y="7473871"/>
            <a:ext cx="1004582" cy="124948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E374729F-B24D-4D33-DA6E-02E9A3BACEF4}"/>
              </a:ext>
            </a:extLst>
          </p:cNvPr>
          <p:cNvCxnSpPr>
            <a:cxnSpLocks/>
            <a:stCxn id="22" idx="2"/>
          </p:cNvCxnSpPr>
          <p:nvPr/>
        </p:nvCxnSpPr>
        <p:spPr>
          <a:xfrm>
            <a:off x="1946719" y="3105081"/>
            <a:ext cx="2310824" cy="424865"/>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8" name="TextBox 9">
            <a:extLst>
              <a:ext uri="{FF2B5EF4-FFF2-40B4-BE49-F238E27FC236}">
                <a16:creationId xmlns:a16="http://schemas.microsoft.com/office/drawing/2014/main" id="{D7005428-CD8D-CCB6-F5DB-17F4653357C2}"/>
              </a:ext>
            </a:extLst>
          </p:cNvPr>
          <p:cNvSpPr txBox="1"/>
          <p:nvPr/>
        </p:nvSpPr>
        <p:spPr>
          <a:xfrm>
            <a:off x="1732006" y="8365986"/>
            <a:ext cx="7210087" cy="886333"/>
          </a:xfrm>
          <a:prstGeom prst="rect">
            <a:avLst/>
          </a:prstGeom>
        </p:spPr>
        <p:txBody>
          <a:bodyPr lIns="0" tIns="0" rIns="0" bIns="0" rtlCol="0" anchor="t">
            <a:spAutoFit/>
          </a:bodyPr>
          <a:lstStyle/>
          <a:p>
            <a:pPr algn="ctr">
              <a:lnSpc>
                <a:spcPts val="3640"/>
              </a:lnSpc>
            </a:pPr>
            <a:r>
              <a:rPr lang="en-US" sz="2600" b="1" dirty="0">
                <a:solidFill>
                  <a:srgbClr val="000000"/>
                </a:solidFill>
                <a:latin typeface="Inter"/>
                <a:ea typeface="Inter"/>
                <a:cs typeface="Inter"/>
                <a:sym typeface="Inter"/>
              </a:rPr>
              <a:t>Front end </a:t>
            </a:r>
          </a:p>
          <a:p>
            <a:pPr algn="ctr">
              <a:lnSpc>
                <a:spcPts val="3640"/>
              </a:lnSpc>
            </a:pPr>
            <a:r>
              <a:rPr lang="en-US" sz="2600" b="1" dirty="0">
                <a:solidFill>
                  <a:srgbClr val="000000"/>
                </a:solidFill>
                <a:latin typeface="Inter"/>
                <a:ea typeface="Inter"/>
                <a:cs typeface="Inter"/>
                <a:sym typeface="Inter"/>
              </a:rPr>
              <a:t>(UI / Presentation Layer)</a:t>
            </a:r>
          </a:p>
        </p:txBody>
      </p:sp>
      <p:sp>
        <p:nvSpPr>
          <p:cNvPr id="30" name="TextBox 9">
            <a:extLst>
              <a:ext uri="{FF2B5EF4-FFF2-40B4-BE49-F238E27FC236}">
                <a16:creationId xmlns:a16="http://schemas.microsoft.com/office/drawing/2014/main" id="{165B5B4F-D809-69E4-5B8D-70F8122903AC}"/>
              </a:ext>
            </a:extLst>
          </p:cNvPr>
          <p:cNvSpPr txBox="1"/>
          <p:nvPr/>
        </p:nvSpPr>
        <p:spPr>
          <a:xfrm>
            <a:off x="8035461" y="8365985"/>
            <a:ext cx="7210087" cy="886333"/>
          </a:xfrm>
          <a:prstGeom prst="rect">
            <a:avLst/>
          </a:prstGeom>
        </p:spPr>
        <p:txBody>
          <a:bodyPr lIns="0" tIns="0" rIns="0" bIns="0" rtlCol="0" anchor="t">
            <a:spAutoFit/>
          </a:bodyPr>
          <a:lstStyle/>
          <a:p>
            <a:pPr algn="ctr">
              <a:lnSpc>
                <a:spcPts val="3640"/>
              </a:lnSpc>
            </a:pPr>
            <a:r>
              <a:rPr lang="en-US" sz="2600" b="1" dirty="0">
                <a:solidFill>
                  <a:srgbClr val="000000"/>
                </a:solidFill>
                <a:latin typeface="Inter"/>
                <a:ea typeface="Inter"/>
                <a:cs typeface="Inter"/>
                <a:sym typeface="Inter"/>
              </a:rPr>
              <a:t>Back end </a:t>
            </a:r>
          </a:p>
          <a:p>
            <a:pPr algn="ctr">
              <a:lnSpc>
                <a:spcPts val="3640"/>
              </a:lnSpc>
            </a:pPr>
            <a:r>
              <a:rPr lang="en-US" sz="2600" b="1" dirty="0">
                <a:solidFill>
                  <a:srgbClr val="000000"/>
                </a:solidFill>
                <a:latin typeface="Inter"/>
                <a:ea typeface="Inter"/>
                <a:cs typeface="Inter"/>
                <a:sym typeface="Inter"/>
              </a:rPr>
              <a:t>(Logic &amp; Data Layer)</a:t>
            </a:r>
          </a:p>
        </p:txBody>
      </p:sp>
      <p:pic>
        <p:nvPicPr>
          <p:cNvPr id="1046" name="Picture 22" descr="Cog - Free ui icons">
            <a:extLst>
              <a:ext uri="{FF2B5EF4-FFF2-40B4-BE49-F238E27FC236}">
                <a16:creationId xmlns:a16="http://schemas.microsoft.com/office/drawing/2014/main" id="{080BEB7C-CB05-4F51-8FB8-011C1756023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106195" y="3565153"/>
            <a:ext cx="588967" cy="58896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2" descr="Cog - Free ui icons">
            <a:extLst>
              <a:ext uri="{FF2B5EF4-FFF2-40B4-BE49-F238E27FC236}">
                <a16:creationId xmlns:a16="http://schemas.microsoft.com/office/drawing/2014/main" id="{7BA46DEB-3143-C57E-38AF-C3799AE112E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77152" y="4353852"/>
            <a:ext cx="585216" cy="585216"/>
          </a:xfrm>
          <a:prstGeom prst="rect">
            <a:avLst/>
          </a:prstGeom>
          <a:noFill/>
          <a:extLst>
            <a:ext uri="{909E8E84-426E-40DD-AFC4-6F175D3DCCD1}">
              <a14:hiddenFill xmlns:a14="http://schemas.microsoft.com/office/drawing/2010/main">
                <a:solidFill>
                  <a:srgbClr val="FFFFFF"/>
                </a:solidFill>
              </a14:hiddenFill>
            </a:ext>
          </a:extLst>
        </p:spPr>
      </p:pic>
      <p:cxnSp>
        <p:nvCxnSpPr>
          <p:cNvPr id="39" name="Straight Arrow Connector 38">
            <a:extLst>
              <a:ext uri="{FF2B5EF4-FFF2-40B4-BE49-F238E27FC236}">
                <a16:creationId xmlns:a16="http://schemas.microsoft.com/office/drawing/2014/main" id="{72A5BB97-BA37-402D-78FC-20E115D317A4}"/>
              </a:ext>
            </a:extLst>
          </p:cNvPr>
          <p:cNvCxnSpPr>
            <a:cxnSpLocks/>
          </p:cNvCxnSpPr>
          <p:nvPr/>
        </p:nvCxnSpPr>
        <p:spPr>
          <a:xfrm>
            <a:off x="1968324" y="3114775"/>
            <a:ext cx="2023010" cy="1571452"/>
          </a:xfrm>
          <a:prstGeom prst="straightConnector1">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48" name="Straight Arrow Connector 47">
            <a:extLst>
              <a:ext uri="{FF2B5EF4-FFF2-40B4-BE49-F238E27FC236}">
                <a16:creationId xmlns:a16="http://schemas.microsoft.com/office/drawing/2014/main" id="{7AB384C0-6378-2476-EB8B-5149A2750517}"/>
              </a:ext>
            </a:extLst>
          </p:cNvPr>
          <p:cNvCxnSpPr>
            <a:cxnSpLocks/>
          </p:cNvCxnSpPr>
          <p:nvPr/>
        </p:nvCxnSpPr>
        <p:spPr>
          <a:xfrm flipH="1">
            <a:off x="2420824" y="6850023"/>
            <a:ext cx="1779509" cy="1124797"/>
          </a:xfrm>
          <a:prstGeom prst="straightConnector1">
            <a:avLst/>
          </a:prstGeom>
          <a:ln w="3810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Straight Arrow Connector 49">
            <a:extLst>
              <a:ext uri="{FF2B5EF4-FFF2-40B4-BE49-F238E27FC236}">
                <a16:creationId xmlns:a16="http://schemas.microsoft.com/office/drawing/2014/main" id="{C800EB52-B155-8332-653A-28C63608AEFC}"/>
              </a:ext>
            </a:extLst>
          </p:cNvPr>
          <p:cNvCxnSpPr>
            <a:cxnSpLocks/>
          </p:cNvCxnSpPr>
          <p:nvPr/>
        </p:nvCxnSpPr>
        <p:spPr>
          <a:xfrm flipH="1" flipV="1">
            <a:off x="1360794" y="3309246"/>
            <a:ext cx="77348" cy="3872674"/>
          </a:xfrm>
          <a:prstGeom prst="straightConnector1">
            <a:avLst/>
          </a:prstGeom>
          <a:ln w="3810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3" name="Straight Arrow Connector 52">
            <a:extLst>
              <a:ext uri="{FF2B5EF4-FFF2-40B4-BE49-F238E27FC236}">
                <a16:creationId xmlns:a16="http://schemas.microsoft.com/office/drawing/2014/main" id="{7B1977BB-0606-7396-E425-29EE76674442}"/>
              </a:ext>
            </a:extLst>
          </p:cNvPr>
          <p:cNvCxnSpPr>
            <a:cxnSpLocks/>
          </p:cNvCxnSpPr>
          <p:nvPr/>
        </p:nvCxnSpPr>
        <p:spPr>
          <a:xfrm>
            <a:off x="5465996" y="3611175"/>
            <a:ext cx="3521778" cy="220539"/>
          </a:xfrm>
          <a:prstGeom prst="straightConnector1">
            <a:avLst/>
          </a:prstGeom>
          <a:ln w="38100" cap="flat" cmpd="sng" algn="ctr">
            <a:solidFill>
              <a:schemeClr val="tx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5" name="Straight Arrow Connector 54">
            <a:extLst>
              <a:ext uri="{FF2B5EF4-FFF2-40B4-BE49-F238E27FC236}">
                <a16:creationId xmlns:a16="http://schemas.microsoft.com/office/drawing/2014/main" id="{1C119B30-F257-56D8-8995-F890FB771CC6}"/>
              </a:ext>
            </a:extLst>
          </p:cNvPr>
          <p:cNvCxnSpPr>
            <a:cxnSpLocks/>
          </p:cNvCxnSpPr>
          <p:nvPr/>
        </p:nvCxnSpPr>
        <p:spPr>
          <a:xfrm flipV="1">
            <a:off x="5618080" y="4676085"/>
            <a:ext cx="3527211" cy="244994"/>
          </a:xfrm>
          <a:prstGeom prst="straightConnector1">
            <a:avLst/>
          </a:prstGeom>
          <a:ln w="38100" cap="flat" cmpd="sng" algn="ctr">
            <a:solidFill>
              <a:schemeClr val="tx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8" name="Straight Arrow Connector 57">
            <a:extLst>
              <a:ext uri="{FF2B5EF4-FFF2-40B4-BE49-F238E27FC236}">
                <a16:creationId xmlns:a16="http://schemas.microsoft.com/office/drawing/2014/main" id="{EAFE7E87-D8AA-ACD7-24EA-4E7C8FE1412C}"/>
              </a:ext>
            </a:extLst>
          </p:cNvPr>
          <p:cNvCxnSpPr>
            <a:cxnSpLocks/>
          </p:cNvCxnSpPr>
          <p:nvPr/>
        </p:nvCxnSpPr>
        <p:spPr>
          <a:xfrm>
            <a:off x="9762368" y="3766103"/>
            <a:ext cx="2832101" cy="46023"/>
          </a:xfrm>
          <a:prstGeom prst="straightConnector1">
            <a:avLst/>
          </a:prstGeom>
          <a:ln w="38100" cap="flat" cmpd="sng" algn="ctr">
            <a:solidFill>
              <a:schemeClr val="accent3"/>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0" name="Straight Arrow Connector 59">
            <a:extLst>
              <a:ext uri="{FF2B5EF4-FFF2-40B4-BE49-F238E27FC236}">
                <a16:creationId xmlns:a16="http://schemas.microsoft.com/office/drawing/2014/main" id="{4FE1C658-A544-A294-2207-CF2954AE6977}"/>
              </a:ext>
            </a:extLst>
          </p:cNvPr>
          <p:cNvCxnSpPr>
            <a:cxnSpLocks/>
          </p:cNvCxnSpPr>
          <p:nvPr/>
        </p:nvCxnSpPr>
        <p:spPr>
          <a:xfrm flipV="1">
            <a:off x="9854151" y="4062569"/>
            <a:ext cx="2857251" cy="550834"/>
          </a:xfrm>
          <a:prstGeom prst="straightConnector1">
            <a:avLst/>
          </a:prstGeom>
          <a:ln w="38100" cap="flat" cmpd="sng" algn="ctr">
            <a:solidFill>
              <a:schemeClr val="accent3"/>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24" name="Straight Arrow Connector 1023">
            <a:extLst>
              <a:ext uri="{FF2B5EF4-FFF2-40B4-BE49-F238E27FC236}">
                <a16:creationId xmlns:a16="http://schemas.microsoft.com/office/drawing/2014/main" id="{0629100A-217C-310C-76AC-A666DF986587}"/>
              </a:ext>
            </a:extLst>
          </p:cNvPr>
          <p:cNvCxnSpPr>
            <a:cxnSpLocks/>
          </p:cNvCxnSpPr>
          <p:nvPr/>
        </p:nvCxnSpPr>
        <p:spPr>
          <a:xfrm flipH="1">
            <a:off x="13210765" y="4482294"/>
            <a:ext cx="67910" cy="2319033"/>
          </a:xfrm>
          <a:prstGeom prst="straightConnector1">
            <a:avLst/>
          </a:prstGeom>
          <a:ln w="38100" cap="flat" cmpd="sng" algn="ctr">
            <a:solidFill>
              <a:schemeClr val="accent3"/>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056" name="Picture 32" descr="Magic squares">
            <a:extLst>
              <a:ext uri="{FF2B5EF4-FFF2-40B4-BE49-F238E27FC236}">
                <a16:creationId xmlns:a16="http://schemas.microsoft.com/office/drawing/2014/main" id="{CB326095-365C-F4AE-3411-39DE1BEBBC8B}"/>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947" t="8982" r="21638" b="8365"/>
          <a:stretch>
            <a:fillRect/>
          </a:stretch>
        </p:blipFill>
        <p:spPr bwMode="auto">
          <a:xfrm>
            <a:off x="4200333" y="4442971"/>
            <a:ext cx="1208748" cy="1160046"/>
          </a:xfrm>
          <a:prstGeom prst="rect">
            <a:avLst/>
          </a:prstGeom>
          <a:noFill/>
          <a:extLst>
            <a:ext uri="{909E8E84-426E-40DD-AFC4-6F175D3DCCD1}">
              <a14:hiddenFill xmlns:a14="http://schemas.microsoft.com/office/drawing/2010/main">
                <a:solidFill>
                  <a:srgbClr val="FFFFFF"/>
                </a:solidFill>
              </a14:hiddenFill>
            </a:ext>
          </a:extLst>
        </p:spPr>
      </p:pic>
      <p:sp>
        <p:nvSpPr>
          <p:cNvPr id="1032" name="TextBox 9">
            <a:extLst>
              <a:ext uri="{FF2B5EF4-FFF2-40B4-BE49-F238E27FC236}">
                <a16:creationId xmlns:a16="http://schemas.microsoft.com/office/drawing/2014/main" id="{82A606F1-1B2B-9D67-5EEE-21ECAC8634CE}"/>
              </a:ext>
            </a:extLst>
          </p:cNvPr>
          <p:cNvSpPr txBox="1"/>
          <p:nvPr/>
        </p:nvSpPr>
        <p:spPr>
          <a:xfrm>
            <a:off x="-2085200" y="815353"/>
            <a:ext cx="7210087" cy="400559"/>
          </a:xfrm>
          <a:prstGeom prst="rect">
            <a:avLst/>
          </a:prstGeom>
        </p:spPr>
        <p:txBody>
          <a:bodyPr lIns="0" tIns="0" rIns="0" bIns="0" rtlCol="0" anchor="t">
            <a:spAutoFit/>
          </a:bodyPr>
          <a:lstStyle/>
          <a:p>
            <a:pPr algn="ctr">
              <a:lnSpc>
                <a:spcPts val="3640"/>
              </a:lnSpc>
            </a:pPr>
            <a:r>
              <a:rPr lang="en-US" b="1" dirty="0">
                <a:solidFill>
                  <a:srgbClr val="000000"/>
                </a:solidFill>
                <a:latin typeface="Inter"/>
                <a:ea typeface="Inter"/>
                <a:cs typeface="Inter"/>
                <a:sym typeface="Inter"/>
              </a:rPr>
              <a:t>User</a:t>
            </a:r>
          </a:p>
        </p:txBody>
      </p:sp>
      <p:sp>
        <p:nvSpPr>
          <p:cNvPr id="1041" name="TextBox 14">
            <a:extLst>
              <a:ext uri="{FF2B5EF4-FFF2-40B4-BE49-F238E27FC236}">
                <a16:creationId xmlns:a16="http://schemas.microsoft.com/office/drawing/2014/main" id="{73B71ADC-9342-8F6D-57EB-140CBD0CD5B9}"/>
              </a:ext>
            </a:extLst>
          </p:cNvPr>
          <p:cNvSpPr txBox="1"/>
          <p:nvPr/>
        </p:nvSpPr>
        <p:spPr>
          <a:xfrm>
            <a:off x="5085068" y="1162889"/>
            <a:ext cx="8042254" cy="897682"/>
          </a:xfrm>
          <a:prstGeom prst="rect">
            <a:avLst/>
          </a:prstGeom>
        </p:spPr>
        <p:txBody>
          <a:bodyPr lIns="0" tIns="0" rIns="0" bIns="0" rtlCol="0" anchor="t">
            <a:spAutoFit/>
          </a:bodyPr>
          <a:lstStyle/>
          <a:p>
            <a:pPr algn="ctr">
              <a:lnSpc>
                <a:spcPts val="6952"/>
              </a:lnSpc>
            </a:pPr>
            <a:r>
              <a:rPr lang="en-US" sz="6320" dirty="0">
                <a:solidFill>
                  <a:srgbClr val="000000"/>
                </a:solidFill>
                <a:latin typeface="Agrandir"/>
                <a:ea typeface="Agrandir"/>
                <a:cs typeface="Agrandir"/>
                <a:sym typeface="Agrandir"/>
              </a:rPr>
              <a:t>Overview</a:t>
            </a:r>
          </a:p>
        </p:txBody>
      </p:sp>
      <p:pic>
        <p:nvPicPr>
          <p:cNvPr id="1062" name="Picture 34" descr="Oracle JSON Document Database">
            <a:extLst>
              <a:ext uri="{FF2B5EF4-FFF2-40B4-BE49-F238E27FC236}">
                <a16:creationId xmlns:a16="http://schemas.microsoft.com/office/drawing/2014/main" id="{DFCB491D-7D18-1D20-4D14-A50326992319}"/>
              </a:ext>
            </a:extLst>
          </p:cNvPr>
          <p:cNvPicPr>
            <a:picLocks noChangeAspect="1" noChangeArrowheads="1"/>
          </p:cNvPicPr>
          <p:nvPr/>
        </p:nvPicPr>
        <p:blipFill>
          <a:blip r:embed="rId9" cstate="print">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2651201" y="3272659"/>
            <a:ext cx="1326069" cy="1326069"/>
          </a:xfrm>
          <a:prstGeom prst="rect">
            <a:avLst/>
          </a:prstGeom>
          <a:noFill/>
          <a:extLst>
            <a:ext uri="{909E8E84-426E-40DD-AFC4-6F175D3DCCD1}">
              <a14:hiddenFill xmlns:a14="http://schemas.microsoft.com/office/drawing/2010/main">
                <a:solidFill>
                  <a:srgbClr val="FFFFFF"/>
                </a:solidFill>
              </a14:hiddenFill>
            </a:ext>
          </a:extLst>
        </p:spPr>
      </p:pic>
      <p:pic>
        <p:nvPicPr>
          <p:cNvPr id="1067" name="Picture 22" descr="Cog - Free ui icons">
            <a:extLst>
              <a:ext uri="{FF2B5EF4-FFF2-40B4-BE49-F238E27FC236}">
                <a16:creationId xmlns:a16="http://schemas.microsoft.com/office/drawing/2014/main" id="{15B40FC7-7E7A-F543-20BF-935D5CAB5F0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871355" y="6850023"/>
            <a:ext cx="585216" cy="585216"/>
          </a:xfrm>
          <a:prstGeom prst="rect">
            <a:avLst/>
          </a:prstGeom>
          <a:noFill/>
          <a:extLst>
            <a:ext uri="{909E8E84-426E-40DD-AFC4-6F175D3DCCD1}">
              <a14:hiddenFill xmlns:a14="http://schemas.microsoft.com/office/drawing/2010/main">
                <a:solidFill>
                  <a:srgbClr val="FFFFFF"/>
                </a:solidFill>
              </a14:hiddenFill>
            </a:ext>
          </a:extLst>
        </p:spPr>
      </p:pic>
      <p:pic>
        <p:nvPicPr>
          <p:cNvPr id="1071" name="Picture 42" descr="Leaderboard - Free sports and competition icons">
            <a:extLst>
              <a:ext uri="{FF2B5EF4-FFF2-40B4-BE49-F238E27FC236}">
                <a16:creationId xmlns:a16="http://schemas.microsoft.com/office/drawing/2014/main" id="{AA331EE3-220E-B680-FF52-CFDCA530D77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288645" y="6805935"/>
            <a:ext cx="978166" cy="978166"/>
          </a:xfrm>
          <a:prstGeom prst="rect">
            <a:avLst/>
          </a:prstGeom>
          <a:noFill/>
          <a:extLst>
            <a:ext uri="{909E8E84-426E-40DD-AFC4-6F175D3DCCD1}">
              <a14:hiddenFill xmlns:a14="http://schemas.microsoft.com/office/drawing/2010/main">
                <a:solidFill>
                  <a:srgbClr val="FFFFFF"/>
                </a:solidFill>
              </a14:hiddenFill>
            </a:ext>
          </a:extLst>
        </p:spPr>
      </p:pic>
      <p:cxnSp>
        <p:nvCxnSpPr>
          <p:cNvPr id="1072" name="Straight Arrow Connector 1071">
            <a:extLst>
              <a:ext uri="{FF2B5EF4-FFF2-40B4-BE49-F238E27FC236}">
                <a16:creationId xmlns:a16="http://schemas.microsoft.com/office/drawing/2014/main" id="{C7E13912-286A-404F-5235-0E751699AB34}"/>
              </a:ext>
            </a:extLst>
          </p:cNvPr>
          <p:cNvCxnSpPr>
            <a:cxnSpLocks/>
          </p:cNvCxnSpPr>
          <p:nvPr/>
        </p:nvCxnSpPr>
        <p:spPr>
          <a:xfrm flipH="1">
            <a:off x="7381685" y="7141484"/>
            <a:ext cx="5329717" cy="214757"/>
          </a:xfrm>
          <a:prstGeom prst="straightConnector1">
            <a:avLst/>
          </a:prstGeom>
          <a:ln w="38100" cap="flat" cmpd="sng" algn="ctr">
            <a:solidFill>
              <a:schemeClr val="accent3"/>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 name="TextBox 9">
            <a:extLst>
              <a:ext uri="{FF2B5EF4-FFF2-40B4-BE49-F238E27FC236}">
                <a16:creationId xmlns:a16="http://schemas.microsoft.com/office/drawing/2014/main" id="{75854A40-4CE7-BD57-0C0F-72E8134AFFB0}"/>
              </a:ext>
            </a:extLst>
          </p:cNvPr>
          <p:cNvSpPr txBox="1"/>
          <p:nvPr/>
        </p:nvSpPr>
        <p:spPr>
          <a:xfrm>
            <a:off x="1233384" y="3933045"/>
            <a:ext cx="7210087" cy="400559"/>
          </a:xfrm>
          <a:prstGeom prst="rect">
            <a:avLst/>
          </a:prstGeom>
        </p:spPr>
        <p:txBody>
          <a:bodyPr lIns="0" tIns="0" rIns="0" bIns="0" rtlCol="0" anchor="t">
            <a:spAutoFit/>
          </a:bodyPr>
          <a:lstStyle/>
          <a:p>
            <a:pPr algn="ctr">
              <a:lnSpc>
                <a:spcPts val="3640"/>
              </a:lnSpc>
            </a:pPr>
            <a:r>
              <a:rPr lang="en-US" dirty="0">
                <a:solidFill>
                  <a:srgbClr val="000000"/>
                </a:solidFill>
                <a:latin typeface="Inter"/>
                <a:ea typeface="Inter"/>
                <a:cs typeface="Inter"/>
                <a:sym typeface="Inter"/>
              </a:rPr>
              <a:t>Information</a:t>
            </a:r>
          </a:p>
        </p:txBody>
      </p:sp>
      <p:sp>
        <p:nvSpPr>
          <p:cNvPr id="3" name="TextBox 9">
            <a:extLst>
              <a:ext uri="{FF2B5EF4-FFF2-40B4-BE49-F238E27FC236}">
                <a16:creationId xmlns:a16="http://schemas.microsoft.com/office/drawing/2014/main" id="{E5F06FE5-9572-E33C-FBB2-6C47BB67E97B}"/>
              </a:ext>
            </a:extLst>
          </p:cNvPr>
          <p:cNvSpPr txBox="1"/>
          <p:nvPr/>
        </p:nvSpPr>
        <p:spPr>
          <a:xfrm>
            <a:off x="1311031" y="5599252"/>
            <a:ext cx="7210087" cy="400559"/>
          </a:xfrm>
          <a:prstGeom prst="rect">
            <a:avLst/>
          </a:prstGeom>
        </p:spPr>
        <p:txBody>
          <a:bodyPr lIns="0" tIns="0" rIns="0" bIns="0" rtlCol="0" anchor="t">
            <a:spAutoFit/>
          </a:bodyPr>
          <a:lstStyle/>
          <a:p>
            <a:pPr algn="ctr">
              <a:lnSpc>
                <a:spcPts val="3640"/>
              </a:lnSpc>
            </a:pPr>
            <a:r>
              <a:rPr lang="en-US" dirty="0">
                <a:solidFill>
                  <a:srgbClr val="000000"/>
                </a:solidFill>
                <a:latin typeface="Inter"/>
                <a:ea typeface="Inter"/>
                <a:cs typeface="Inter"/>
                <a:sym typeface="Inter"/>
              </a:rPr>
              <a:t>Magic Square</a:t>
            </a:r>
          </a:p>
        </p:txBody>
      </p:sp>
      <p:sp>
        <p:nvSpPr>
          <p:cNvPr id="4" name="TextBox 9">
            <a:extLst>
              <a:ext uri="{FF2B5EF4-FFF2-40B4-BE49-F238E27FC236}">
                <a16:creationId xmlns:a16="http://schemas.microsoft.com/office/drawing/2014/main" id="{D187544C-F4F9-ADF8-96F7-8148E11A10AD}"/>
              </a:ext>
            </a:extLst>
          </p:cNvPr>
          <p:cNvSpPr txBox="1"/>
          <p:nvPr/>
        </p:nvSpPr>
        <p:spPr>
          <a:xfrm>
            <a:off x="3163168" y="7727630"/>
            <a:ext cx="7210087" cy="400559"/>
          </a:xfrm>
          <a:prstGeom prst="rect">
            <a:avLst/>
          </a:prstGeom>
        </p:spPr>
        <p:txBody>
          <a:bodyPr lIns="0" tIns="0" rIns="0" bIns="0" rtlCol="0" anchor="t">
            <a:spAutoFit/>
          </a:bodyPr>
          <a:lstStyle/>
          <a:p>
            <a:pPr algn="ctr">
              <a:lnSpc>
                <a:spcPts val="3640"/>
              </a:lnSpc>
            </a:pPr>
            <a:r>
              <a:rPr lang="en-US" dirty="0">
                <a:solidFill>
                  <a:srgbClr val="000000"/>
                </a:solidFill>
                <a:latin typeface="Inter"/>
                <a:ea typeface="Inter"/>
                <a:cs typeface="Inter"/>
                <a:sym typeface="Inter"/>
              </a:rPr>
              <a:t>Leaderboard</a:t>
            </a:r>
          </a:p>
        </p:txBody>
      </p:sp>
      <p:sp>
        <p:nvSpPr>
          <p:cNvPr id="5" name="TextBox 9">
            <a:extLst>
              <a:ext uri="{FF2B5EF4-FFF2-40B4-BE49-F238E27FC236}">
                <a16:creationId xmlns:a16="http://schemas.microsoft.com/office/drawing/2014/main" id="{3FC5E0F5-81CF-846F-60AF-D73401677F78}"/>
              </a:ext>
            </a:extLst>
          </p:cNvPr>
          <p:cNvSpPr txBox="1"/>
          <p:nvPr/>
        </p:nvSpPr>
        <p:spPr>
          <a:xfrm>
            <a:off x="1276307" y="7155962"/>
            <a:ext cx="7210087" cy="400559"/>
          </a:xfrm>
          <a:prstGeom prst="rect">
            <a:avLst/>
          </a:prstGeom>
        </p:spPr>
        <p:txBody>
          <a:bodyPr lIns="0" tIns="0" rIns="0" bIns="0" rtlCol="0" anchor="t">
            <a:spAutoFit/>
          </a:bodyPr>
          <a:lstStyle/>
          <a:p>
            <a:pPr algn="ctr">
              <a:lnSpc>
                <a:spcPts val="3640"/>
              </a:lnSpc>
            </a:pPr>
            <a:r>
              <a:rPr lang="en-US" dirty="0">
                <a:solidFill>
                  <a:srgbClr val="000000"/>
                </a:solidFill>
                <a:latin typeface="Inter"/>
                <a:ea typeface="Inter"/>
                <a:cs typeface="Inter"/>
                <a:sym typeface="Inter"/>
              </a:rPr>
              <a:t>Print</a:t>
            </a:r>
          </a:p>
        </p:txBody>
      </p:sp>
      <p:sp>
        <p:nvSpPr>
          <p:cNvPr id="9" name="TextBox 9">
            <a:extLst>
              <a:ext uri="{FF2B5EF4-FFF2-40B4-BE49-F238E27FC236}">
                <a16:creationId xmlns:a16="http://schemas.microsoft.com/office/drawing/2014/main" id="{E1BDAF1D-A772-1F6C-C4CA-1F1746D413F0}"/>
              </a:ext>
            </a:extLst>
          </p:cNvPr>
          <p:cNvSpPr txBox="1"/>
          <p:nvPr/>
        </p:nvSpPr>
        <p:spPr>
          <a:xfrm>
            <a:off x="-1835054" y="8694224"/>
            <a:ext cx="7210087" cy="400559"/>
          </a:xfrm>
          <a:prstGeom prst="rect">
            <a:avLst/>
          </a:prstGeom>
        </p:spPr>
        <p:txBody>
          <a:bodyPr lIns="0" tIns="0" rIns="0" bIns="0" rtlCol="0" anchor="t">
            <a:spAutoFit/>
          </a:bodyPr>
          <a:lstStyle/>
          <a:p>
            <a:pPr algn="ctr">
              <a:lnSpc>
                <a:spcPts val="3640"/>
              </a:lnSpc>
            </a:pPr>
            <a:r>
              <a:rPr lang="en-US" dirty="0">
                <a:solidFill>
                  <a:srgbClr val="000000"/>
                </a:solidFill>
                <a:latin typeface="Inter"/>
                <a:ea typeface="Inter"/>
                <a:cs typeface="Inter"/>
                <a:sym typeface="Inter"/>
              </a:rPr>
              <a:t>Certificate</a:t>
            </a:r>
          </a:p>
        </p:txBody>
      </p:sp>
      <p:sp>
        <p:nvSpPr>
          <p:cNvPr id="11" name="TextBox 9">
            <a:extLst>
              <a:ext uri="{FF2B5EF4-FFF2-40B4-BE49-F238E27FC236}">
                <a16:creationId xmlns:a16="http://schemas.microsoft.com/office/drawing/2014/main" id="{7D24631F-AE85-3EB3-0AB5-FF7F55F7C1B0}"/>
              </a:ext>
            </a:extLst>
          </p:cNvPr>
          <p:cNvSpPr txBox="1"/>
          <p:nvPr/>
        </p:nvSpPr>
        <p:spPr>
          <a:xfrm>
            <a:off x="7346803" y="3149975"/>
            <a:ext cx="4107749" cy="400559"/>
          </a:xfrm>
          <a:prstGeom prst="rect">
            <a:avLst/>
          </a:prstGeom>
        </p:spPr>
        <p:txBody>
          <a:bodyPr wrap="square" lIns="0" tIns="0" rIns="0" bIns="0" rtlCol="0" anchor="t">
            <a:spAutoFit/>
          </a:bodyPr>
          <a:lstStyle/>
          <a:p>
            <a:pPr algn="ctr">
              <a:lnSpc>
                <a:spcPts val="3640"/>
              </a:lnSpc>
            </a:pPr>
            <a:r>
              <a:rPr lang="en-US" dirty="0">
                <a:solidFill>
                  <a:srgbClr val="000000"/>
                </a:solidFill>
                <a:latin typeface="Inter"/>
                <a:ea typeface="Inter"/>
                <a:cs typeface="Inter"/>
                <a:sym typeface="Inter"/>
              </a:rPr>
              <a:t>Player Data</a:t>
            </a:r>
          </a:p>
        </p:txBody>
      </p:sp>
      <p:sp>
        <p:nvSpPr>
          <p:cNvPr id="16" name="TextBox 9">
            <a:extLst>
              <a:ext uri="{FF2B5EF4-FFF2-40B4-BE49-F238E27FC236}">
                <a16:creationId xmlns:a16="http://schemas.microsoft.com/office/drawing/2014/main" id="{AB40DC5F-DA1E-048F-7BB0-18888773AB29}"/>
              </a:ext>
            </a:extLst>
          </p:cNvPr>
          <p:cNvSpPr txBox="1"/>
          <p:nvPr/>
        </p:nvSpPr>
        <p:spPr>
          <a:xfrm>
            <a:off x="9673631" y="3087475"/>
            <a:ext cx="7210087" cy="418641"/>
          </a:xfrm>
          <a:prstGeom prst="rect">
            <a:avLst/>
          </a:prstGeom>
        </p:spPr>
        <p:txBody>
          <a:bodyPr lIns="0" tIns="0" rIns="0" bIns="0" rtlCol="0" anchor="t">
            <a:spAutoFit/>
          </a:bodyPr>
          <a:lstStyle/>
          <a:p>
            <a:pPr algn="ctr">
              <a:lnSpc>
                <a:spcPts val="3640"/>
              </a:lnSpc>
            </a:pPr>
            <a:r>
              <a:rPr lang="en-US" sz="2000" dirty="0">
                <a:solidFill>
                  <a:srgbClr val="000000"/>
                </a:solidFill>
                <a:latin typeface="Inter"/>
                <a:ea typeface="Inter"/>
                <a:cs typeface="Inter"/>
                <a:sym typeface="Inter"/>
              </a:rPr>
              <a:t>leaderboard.json</a:t>
            </a:r>
          </a:p>
        </p:txBody>
      </p:sp>
      <p:sp>
        <p:nvSpPr>
          <p:cNvPr id="17" name="TextBox 9">
            <a:extLst>
              <a:ext uri="{FF2B5EF4-FFF2-40B4-BE49-F238E27FC236}">
                <a16:creationId xmlns:a16="http://schemas.microsoft.com/office/drawing/2014/main" id="{965940FA-6BF1-E984-C350-C65AB4EAC100}"/>
              </a:ext>
            </a:extLst>
          </p:cNvPr>
          <p:cNvSpPr txBox="1"/>
          <p:nvPr/>
        </p:nvSpPr>
        <p:spPr>
          <a:xfrm>
            <a:off x="8513307" y="4813135"/>
            <a:ext cx="1813840" cy="400559"/>
          </a:xfrm>
          <a:prstGeom prst="rect">
            <a:avLst/>
          </a:prstGeom>
        </p:spPr>
        <p:txBody>
          <a:bodyPr wrap="square" lIns="0" tIns="0" rIns="0" bIns="0" rtlCol="0" anchor="t">
            <a:spAutoFit/>
          </a:bodyPr>
          <a:lstStyle/>
          <a:p>
            <a:pPr algn="ctr">
              <a:lnSpc>
                <a:spcPts val="3640"/>
              </a:lnSpc>
            </a:pPr>
            <a:r>
              <a:rPr lang="en-US" dirty="0">
                <a:solidFill>
                  <a:srgbClr val="000000"/>
                </a:solidFill>
                <a:latin typeface="Inter"/>
                <a:ea typeface="Inter"/>
                <a:cs typeface="Inter"/>
                <a:sym typeface="Inter"/>
              </a:rPr>
              <a:t>Process Score</a:t>
            </a:r>
          </a:p>
        </p:txBody>
      </p:sp>
      <p:sp>
        <p:nvSpPr>
          <p:cNvPr id="18" name="TextBox 9">
            <a:extLst>
              <a:ext uri="{FF2B5EF4-FFF2-40B4-BE49-F238E27FC236}">
                <a16:creationId xmlns:a16="http://schemas.microsoft.com/office/drawing/2014/main" id="{06F35016-C494-3B34-B698-9C991CB22B58}"/>
              </a:ext>
            </a:extLst>
          </p:cNvPr>
          <p:cNvSpPr txBox="1"/>
          <p:nvPr/>
        </p:nvSpPr>
        <p:spPr>
          <a:xfrm>
            <a:off x="9558919" y="7313022"/>
            <a:ext cx="7210087" cy="400559"/>
          </a:xfrm>
          <a:prstGeom prst="rect">
            <a:avLst/>
          </a:prstGeom>
        </p:spPr>
        <p:txBody>
          <a:bodyPr lIns="0" tIns="0" rIns="0" bIns="0" rtlCol="0" anchor="t">
            <a:spAutoFit/>
          </a:bodyPr>
          <a:lstStyle/>
          <a:p>
            <a:pPr algn="ctr">
              <a:lnSpc>
                <a:spcPts val="3640"/>
              </a:lnSpc>
            </a:pPr>
            <a:r>
              <a:rPr lang="en-US" dirty="0">
                <a:solidFill>
                  <a:srgbClr val="000000"/>
                </a:solidFill>
                <a:latin typeface="Inter"/>
                <a:ea typeface="Inter"/>
                <a:cs typeface="Inter"/>
                <a:sym typeface="Inter"/>
              </a:rPr>
              <a:t>Load score</a:t>
            </a:r>
          </a:p>
        </p:txBody>
      </p:sp>
      <p:pic>
        <p:nvPicPr>
          <p:cNvPr id="43" name="Picture 22" descr="Cog - Free ui icons">
            <a:extLst>
              <a:ext uri="{FF2B5EF4-FFF2-40B4-BE49-F238E27FC236}">
                <a16:creationId xmlns:a16="http://schemas.microsoft.com/office/drawing/2014/main" id="{A100F9E3-AA16-8A78-5BDA-A2BB0995570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928368" y="5635015"/>
            <a:ext cx="673721" cy="673721"/>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a:extLst>
              <a:ext uri="{FF2B5EF4-FFF2-40B4-BE49-F238E27FC236}">
                <a16:creationId xmlns:a16="http://schemas.microsoft.com/office/drawing/2014/main" id="{ED85B7C0-2F0B-E2D1-0E6C-FEE7E2B55C48}"/>
              </a:ext>
            </a:extLst>
          </p:cNvPr>
          <p:cNvCxnSpPr>
            <a:cxnSpLocks/>
          </p:cNvCxnSpPr>
          <p:nvPr/>
        </p:nvCxnSpPr>
        <p:spPr>
          <a:xfrm flipH="1">
            <a:off x="5409081" y="6034321"/>
            <a:ext cx="6045471" cy="639443"/>
          </a:xfrm>
          <a:prstGeom prst="straightConnector1">
            <a:avLst/>
          </a:prstGeom>
          <a:ln w="38100" cap="flat" cmpd="sng" algn="ctr">
            <a:solidFill>
              <a:schemeClr val="tx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34" name="Straight Arrow Connector 1033">
            <a:extLst>
              <a:ext uri="{FF2B5EF4-FFF2-40B4-BE49-F238E27FC236}">
                <a16:creationId xmlns:a16="http://schemas.microsoft.com/office/drawing/2014/main" id="{6CFAD4B7-EF3B-771F-43A6-9885B043E468}"/>
              </a:ext>
            </a:extLst>
          </p:cNvPr>
          <p:cNvCxnSpPr>
            <a:cxnSpLocks/>
          </p:cNvCxnSpPr>
          <p:nvPr/>
        </p:nvCxnSpPr>
        <p:spPr>
          <a:xfrm>
            <a:off x="9892760" y="4742927"/>
            <a:ext cx="1956095" cy="1028407"/>
          </a:xfrm>
          <a:prstGeom prst="straightConnector1">
            <a:avLst/>
          </a:prstGeom>
          <a:ln w="38100" cap="flat" cmpd="sng" algn="ctr">
            <a:solidFill>
              <a:schemeClr val="tx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37" name="Straight Arrow Connector 1036">
            <a:extLst>
              <a:ext uri="{FF2B5EF4-FFF2-40B4-BE49-F238E27FC236}">
                <a16:creationId xmlns:a16="http://schemas.microsoft.com/office/drawing/2014/main" id="{855B39D1-61DB-B9DD-2A20-5F000856A381}"/>
              </a:ext>
            </a:extLst>
          </p:cNvPr>
          <p:cNvCxnSpPr>
            <a:cxnSpLocks/>
          </p:cNvCxnSpPr>
          <p:nvPr/>
        </p:nvCxnSpPr>
        <p:spPr>
          <a:xfrm>
            <a:off x="9735730" y="3933045"/>
            <a:ext cx="2365600" cy="1708765"/>
          </a:xfrm>
          <a:prstGeom prst="straightConnector1">
            <a:avLst/>
          </a:prstGeom>
          <a:ln w="38100" cap="flat" cmpd="sng" algn="ctr">
            <a:solidFill>
              <a:schemeClr val="tx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95" name="TextBox 9">
            <a:extLst>
              <a:ext uri="{FF2B5EF4-FFF2-40B4-BE49-F238E27FC236}">
                <a16:creationId xmlns:a16="http://schemas.microsoft.com/office/drawing/2014/main" id="{7E3869CC-56C1-B4A5-14A3-DD31F6DF88F6}"/>
              </a:ext>
            </a:extLst>
          </p:cNvPr>
          <p:cNvSpPr txBox="1"/>
          <p:nvPr/>
        </p:nvSpPr>
        <p:spPr>
          <a:xfrm>
            <a:off x="10946391" y="6205735"/>
            <a:ext cx="2411797" cy="400559"/>
          </a:xfrm>
          <a:prstGeom prst="rect">
            <a:avLst/>
          </a:prstGeom>
        </p:spPr>
        <p:txBody>
          <a:bodyPr wrap="square" lIns="0" tIns="0" rIns="0" bIns="0" rtlCol="0" anchor="t">
            <a:spAutoFit/>
          </a:bodyPr>
          <a:lstStyle/>
          <a:p>
            <a:pPr algn="ctr">
              <a:lnSpc>
                <a:spcPts val="3640"/>
              </a:lnSpc>
            </a:pPr>
            <a:r>
              <a:rPr lang="en-US" dirty="0">
                <a:solidFill>
                  <a:srgbClr val="000000"/>
                </a:solidFill>
                <a:latin typeface="Inter"/>
                <a:ea typeface="Inter"/>
                <a:cs typeface="Inter"/>
                <a:sym typeface="Inter"/>
              </a:rPr>
              <a:t>Generate PNG</a:t>
            </a:r>
          </a:p>
        </p:txBody>
      </p:sp>
    </p:spTree>
    <p:extLst>
      <p:ext uri="{BB962C8B-B14F-4D97-AF65-F5344CB8AC3E}">
        <p14:creationId xmlns:p14="http://schemas.microsoft.com/office/powerpoint/2010/main" val="2510470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14" name="Group 2">
            <a:extLst>
              <a:ext uri="{FF2B5EF4-FFF2-40B4-BE49-F238E27FC236}">
                <a16:creationId xmlns:a16="http://schemas.microsoft.com/office/drawing/2014/main" id="{D165D913-8F86-E19C-2B6E-E672D722BD66}"/>
              </a:ext>
            </a:extLst>
          </p:cNvPr>
          <p:cNvGrpSpPr/>
          <p:nvPr/>
        </p:nvGrpSpPr>
        <p:grpSpPr>
          <a:xfrm>
            <a:off x="680480" y="625871"/>
            <a:ext cx="16927040" cy="9035258"/>
            <a:chOff x="0" y="0"/>
            <a:chExt cx="126402652" cy="67470777"/>
          </a:xfrm>
        </p:grpSpPr>
        <p:sp>
          <p:nvSpPr>
            <p:cNvPr id="15" name="Freeform 3">
              <a:extLst>
                <a:ext uri="{FF2B5EF4-FFF2-40B4-BE49-F238E27FC236}">
                  <a16:creationId xmlns:a16="http://schemas.microsoft.com/office/drawing/2014/main" id="{0395E1BC-6646-3BCF-69BC-923DCD73B91C}"/>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6" name="Freeform 4">
              <a:extLst>
                <a:ext uri="{FF2B5EF4-FFF2-40B4-BE49-F238E27FC236}">
                  <a16:creationId xmlns:a16="http://schemas.microsoft.com/office/drawing/2014/main" id="{BE84E76D-59C2-8892-6ED3-B94F8B11486A}"/>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pic>
        <p:nvPicPr>
          <p:cNvPr id="13" name="Picture 12">
            <a:extLst>
              <a:ext uri="{FF2B5EF4-FFF2-40B4-BE49-F238E27FC236}">
                <a16:creationId xmlns:a16="http://schemas.microsoft.com/office/drawing/2014/main" id="{F7F886A8-0382-8A10-A25A-A4DF41C79E58}"/>
              </a:ext>
            </a:extLst>
          </p:cNvPr>
          <p:cNvPicPr>
            <a:picLocks noChangeAspect="1"/>
          </p:cNvPicPr>
          <p:nvPr/>
        </p:nvPicPr>
        <p:blipFill>
          <a:blip r:embed="rId2"/>
          <a:stretch>
            <a:fillRect/>
          </a:stretch>
        </p:blipFill>
        <p:spPr>
          <a:xfrm>
            <a:off x="5038827" y="1393934"/>
            <a:ext cx="8210346" cy="7499131"/>
          </a:xfrm>
          <a:prstGeom prst="rect">
            <a:avLst/>
          </a:prstGeom>
          <a:ln w="19050">
            <a:solidFill>
              <a:schemeClr val="tx1"/>
            </a:solidFill>
          </a:ln>
        </p:spPr>
      </p:pic>
      <p:cxnSp>
        <p:nvCxnSpPr>
          <p:cNvPr id="2" name="Straight Arrow Connector 1">
            <a:extLst>
              <a:ext uri="{FF2B5EF4-FFF2-40B4-BE49-F238E27FC236}">
                <a16:creationId xmlns:a16="http://schemas.microsoft.com/office/drawing/2014/main" id="{9FB143DB-7F2F-C56A-A700-9ED9A50D0689}"/>
              </a:ext>
            </a:extLst>
          </p:cNvPr>
          <p:cNvCxnSpPr>
            <a:cxnSpLocks/>
          </p:cNvCxnSpPr>
          <p:nvPr/>
        </p:nvCxnSpPr>
        <p:spPr>
          <a:xfrm>
            <a:off x="3886200" y="2476500"/>
            <a:ext cx="2221165" cy="663568"/>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4" name="Straight Arrow Connector 3">
            <a:extLst>
              <a:ext uri="{FF2B5EF4-FFF2-40B4-BE49-F238E27FC236}">
                <a16:creationId xmlns:a16="http://schemas.microsoft.com/office/drawing/2014/main" id="{B8959ADF-C0E6-EC69-9EF8-23008561891F}"/>
              </a:ext>
            </a:extLst>
          </p:cNvPr>
          <p:cNvCxnSpPr>
            <a:cxnSpLocks/>
          </p:cNvCxnSpPr>
          <p:nvPr/>
        </p:nvCxnSpPr>
        <p:spPr>
          <a:xfrm>
            <a:off x="3386113" y="3720868"/>
            <a:ext cx="2873652" cy="177569"/>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6" name="Straight Arrow Connector 5">
            <a:extLst>
              <a:ext uri="{FF2B5EF4-FFF2-40B4-BE49-F238E27FC236}">
                <a16:creationId xmlns:a16="http://schemas.microsoft.com/office/drawing/2014/main" id="{3CB1F6FC-D690-7D33-A025-D4DD43F16301}"/>
              </a:ext>
            </a:extLst>
          </p:cNvPr>
          <p:cNvCxnSpPr>
            <a:cxnSpLocks/>
          </p:cNvCxnSpPr>
          <p:nvPr/>
        </p:nvCxnSpPr>
        <p:spPr>
          <a:xfrm flipH="1">
            <a:off x="9144000" y="3140068"/>
            <a:ext cx="5347054" cy="1622432"/>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11" name="Straight Arrow Connector 10">
            <a:extLst>
              <a:ext uri="{FF2B5EF4-FFF2-40B4-BE49-F238E27FC236}">
                <a16:creationId xmlns:a16="http://schemas.microsoft.com/office/drawing/2014/main" id="{88A479EB-6384-6BC8-A237-277A18CC904B}"/>
              </a:ext>
            </a:extLst>
          </p:cNvPr>
          <p:cNvCxnSpPr>
            <a:cxnSpLocks/>
          </p:cNvCxnSpPr>
          <p:nvPr/>
        </p:nvCxnSpPr>
        <p:spPr>
          <a:xfrm flipH="1" flipV="1">
            <a:off x="9144000" y="5520869"/>
            <a:ext cx="4648200" cy="540885"/>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17" name="Straight Arrow Connector 16">
            <a:extLst>
              <a:ext uri="{FF2B5EF4-FFF2-40B4-BE49-F238E27FC236}">
                <a16:creationId xmlns:a16="http://schemas.microsoft.com/office/drawing/2014/main" id="{19919D1A-BEB1-13BE-3EC9-9699B2B29B45}"/>
              </a:ext>
            </a:extLst>
          </p:cNvPr>
          <p:cNvCxnSpPr>
            <a:cxnSpLocks/>
          </p:cNvCxnSpPr>
          <p:nvPr/>
        </p:nvCxnSpPr>
        <p:spPr>
          <a:xfrm>
            <a:off x="4267200" y="5869389"/>
            <a:ext cx="1992565" cy="384731"/>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sp>
        <p:nvSpPr>
          <p:cNvPr id="23" name="TextBox 6">
            <a:extLst>
              <a:ext uri="{FF2B5EF4-FFF2-40B4-BE49-F238E27FC236}">
                <a16:creationId xmlns:a16="http://schemas.microsoft.com/office/drawing/2014/main" id="{FE883E51-D87F-05C8-026C-5B4AE2053F6B}"/>
              </a:ext>
            </a:extLst>
          </p:cNvPr>
          <p:cNvSpPr txBox="1"/>
          <p:nvPr/>
        </p:nvSpPr>
        <p:spPr>
          <a:xfrm>
            <a:off x="1705130" y="2067401"/>
            <a:ext cx="3221337" cy="399405"/>
          </a:xfrm>
          <a:prstGeom prst="rect">
            <a:avLst/>
          </a:prstGeom>
        </p:spPr>
        <p:txBody>
          <a:bodyPr lIns="0" tIns="0" rIns="0" bIns="0" rtlCol="0" anchor="t">
            <a:spAutoFit/>
          </a:bodyPr>
          <a:lstStyle/>
          <a:p>
            <a:pPr algn="ctr">
              <a:lnSpc>
                <a:spcPts val="3361"/>
              </a:lnSpc>
            </a:pPr>
            <a:r>
              <a:rPr lang="en-US" sz="2400" b="1" dirty="0">
                <a:solidFill>
                  <a:srgbClr val="000000"/>
                </a:solidFill>
                <a:latin typeface="Inter"/>
                <a:ea typeface="Inter"/>
                <a:cs typeface="Inter"/>
                <a:sym typeface="Inter"/>
              </a:rPr>
              <a:t>Name</a:t>
            </a:r>
          </a:p>
        </p:txBody>
      </p:sp>
      <p:sp>
        <p:nvSpPr>
          <p:cNvPr id="24" name="TextBox 6">
            <a:extLst>
              <a:ext uri="{FF2B5EF4-FFF2-40B4-BE49-F238E27FC236}">
                <a16:creationId xmlns:a16="http://schemas.microsoft.com/office/drawing/2014/main" id="{23669629-3518-7F48-E471-10C06946A431}"/>
              </a:ext>
            </a:extLst>
          </p:cNvPr>
          <p:cNvSpPr txBox="1"/>
          <p:nvPr/>
        </p:nvSpPr>
        <p:spPr>
          <a:xfrm>
            <a:off x="2042145" y="2821068"/>
            <a:ext cx="3221337" cy="1707455"/>
          </a:xfrm>
          <a:prstGeom prst="rect">
            <a:avLst/>
          </a:prstGeom>
        </p:spPr>
        <p:txBody>
          <a:bodyPr wrap="square" lIns="0" tIns="0" rIns="0" bIns="0" rtlCol="0" anchor="t">
            <a:spAutoFit/>
          </a:bodyPr>
          <a:lstStyle/>
          <a:p>
            <a:pPr>
              <a:lnSpc>
                <a:spcPts val="3361"/>
              </a:lnSpc>
            </a:pPr>
            <a:r>
              <a:rPr lang="en-US" sz="2400" b="1" dirty="0">
                <a:solidFill>
                  <a:srgbClr val="000000"/>
                </a:solidFill>
                <a:latin typeface="Inter"/>
                <a:ea typeface="Inter"/>
                <a:cs typeface="Inter"/>
                <a:sym typeface="Inter"/>
              </a:rPr>
              <a:t>Size</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3x3</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4x4</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5x5</a:t>
            </a:r>
          </a:p>
        </p:txBody>
      </p:sp>
      <p:sp>
        <p:nvSpPr>
          <p:cNvPr id="25" name="TextBox 6">
            <a:extLst>
              <a:ext uri="{FF2B5EF4-FFF2-40B4-BE49-F238E27FC236}">
                <a16:creationId xmlns:a16="http://schemas.microsoft.com/office/drawing/2014/main" id="{9D02B9F4-B3AB-9F70-6D6B-5AFEB336D3AD}"/>
              </a:ext>
            </a:extLst>
          </p:cNvPr>
          <p:cNvSpPr txBox="1"/>
          <p:nvPr/>
        </p:nvSpPr>
        <p:spPr>
          <a:xfrm>
            <a:off x="14715773" y="1712821"/>
            <a:ext cx="3221337" cy="2579489"/>
          </a:xfrm>
          <a:prstGeom prst="rect">
            <a:avLst/>
          </a:prstGeom>
        </p:spPr>
        <p:txBody>
          <a:bodyPr lIns="0" tIns="0" rIns="0" bIns="0" rtlCol="0" anchor="t">
            <a:spAutoFit/>
          </a:bodyPr>
          <a:lstStyle/>
          <a:p>
            <a:pPr>
              <a:lnSpc>
                <a:spcPts val="3361"/>
              </a:lnSpc>
            </a:pPr>
            <a:r>
              <a:rPr lang="en-US" sz="2400" b="1" dirty="0">
                <a:solidFill>
                  <a:srgbClr val="000000"/>
                </a:solidFill>
                <a:latin typeface="Inter"/>
                <a:ea typeface="Inter"/>
                <a:cs typeface="Inter"/>
                <a:sym typeface="Inter"/>
              </a:rPr>
              <a:t>Mode</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English</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Japanese</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Thai</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Emoji</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Symbol</a:t>
            </a:r>
          </a:p>
        </p:txBody>
      </p:sp>
      <p:sp>
        <p:nvSpPr>
          <p:cNvPr id="26" name="TextBox 6">
            <a:extLst>
              <a:ext uri="{FF2B5EF4-FFF2-40B4-BE49-F238E27FC236}">
                <a16:creationId xmlns:a16="http://schemas.microsoft.com/office/drawing/2014/main" id="{E2D7D390-540B-C644-5347-8276B1078987}"/>
              </a:ext>
            </a:extLst>
          </p:cNvPr>
          <p:cNvSpPr txBox="1"/>
          <p:nvPr/>
        </p:nvSpPr>
        <p:spPr>
          <a:xfrm>
            <a:off x="14084344" y="4970161"/>
            <a:ext cx="3221337" cy="2143472"/>
          </a:xfrm>
          <a:prstGeom prst="rect">
            <a:avLst/>
          </a:prstGeom>
        </p:spPr>
        <p:txBody>
          <a:bodyPr lIns="0" tIns="0" rIns="0" bIns="0" rtlCol="0" anchor="t">
            <a:spAutoFit/>
          </a:bodyPr>
          <a:lstStyle/>
          <a:p>
            <a:pPr>
              <a:lnSpc>
                <a:spcPts val="3361"/>
              </a:lnSpc>
            </a:pPr>
            <a:r>
              <a:rPr lang="en-US" sz="2400" b="1" dirty="0">
                <a:solidFill>
                  <a:srgbClr val="000000"/>
                </a:solidFill>
                <a:latin typeface="Inter"/>
                <a:ea typeface="Inter"/>
                <a:cs typeface="Inter"/>
                <a:sym typeface="Inter"/>
              </a:rPr>
              <a:t>Pattern</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Horizontal</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Vertical</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Diagonal</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Random All</a:t>
            </a:r>
          </a:p>
        </p:txBody>
      </p:sp>
      <p:sp>
        <p:nvSpPr>
          <p:cNvPr id="27" name="TextBox 6">
            <a:extLst>
              <a:ext uri="{FF2B5EF4-FFF2-40B4-BE49-F238E27FC236}">
                <a16:creationId xmlns:a16="http://schemas.microsoft.com/office/drawing/2014/main" id="{22FEAC2A-4A88-089A-022C-77FC3045E15E}"/>
              </a:ext>
            </a:extLst>
          </p:cNvPr>
          <p:cNvSpPr txBox="1"/>
          <p:nvPr/>
        </p:nvSpPr>
        <p:spPr>
          <a:xfrm>
            <a:off x="2275531" y="5325571"/>
            <a:ext cx="3221337" cy="1271438"/>
          </a:xfrm>
          <a:prstGeom prst="rect">
            <a:avLst/>
          </a:prstGeom>
        </p:spPr>
        <p:txBody>
          <a:bodyPr lIns="0" tIns="0" rIns="0" bIns="0" rtlCol="0" anchor="t">
            <a:spAutoFit/>
          </a:bodyPr>
          <a:lstStyle/>
          <a:p>
            <a:pPr>
              <a:lnSpc>
                <a:spcPts val="3361"/>
              </a:lnSpc>
            </a:pPr>
            <a:r>
              <a:rPr lang="en-US" sz="2400" b="1" dirty="0">
                <a:solidFill>
                  <a:srgbClr val="000000"/>
                </a:solidFill>
                <a:latin typeface="Inter"/>
                <a:ea typeface="Inter"/>
                <a:cs typeface="Inter"/>
                <a:sym typeface="Inter"/>
              </a:rPr>
              <a:t>Style</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Standard</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Creative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271685D6-5B74-3F3F-FE29-57098735CA54}"/>
            </a:ext>
          </a:extLst>
        </p:cNvPr>
        <p:cNvGrpSpPr/>
        <p:nvPr/>
      </p:nvGrpSpPr>
      <p:grpSpPr>
        <a:xfrm>
          <a:off x="0" y="0"/>
          <a:ext cx="0" cy="0"/>
          <a:chOff x="0" y="0"/>
          <a:chExt cx="0" cy="0"/>
        </a:xfrm>
      </p:grpSpPr>
      <p:grpSp>
        <p:nvGrpSpPr>
          <p:cNvPr id="14" name="Group 2">
            <a:extLst>
              <a:ext uri="{FF2B5EF4-FFF2-40B4-BE49-F238E27FC236}">
                <a16:creationId xmlns:a16="http://schemas.microsoft.com/office/drawing/2014/main" id="{994F3CA2-CA88-144C-FE48-AB223ABF8217}"/>
              </a:ext>
            </a:extLst>
          </p:cNvPr>
          <p:cNvGrpSpPr/>
          <p:nvPr/>
        </p:nvGrpSpPr>
        <p:grpSpPr>
          <a:xfrm>
            <a:off x="680480" y="625871"/>
            <a:ext cx="16927040" cy="9035258"/>
            <a:chOff x="0" y="0"/>
            <a:chExt cx="126402652" cy="67470777"/>
          </a:xfrm>
        </p:grpSpPr>
        <p:sp>
          <p:nvSpPr>
            <p:cNvPr id="15" name="Freeform 3">
              <a:extLst>
                <a:ext uri="{FF2B5EF4-FFF2-40B4-BE49-F238E27FC236}">
                  <a16:creationId xmlns:a16="http://schemas.microsoft.com/office/drawing/2014/main" id="{9C4A562E-EC8B-612C-1091-AC2AF2C0C7B7}"/>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6" name="Freeform 4">
              <a:extLst>
                <a:ext uri="{FF2B5EF4-FFF2-40B4-BE49-F238E27FC236}">
                  <a16:creationId xmlns:a16="http://schemas.microsoft.com/office/drawing/2014/main" id="{ED6D559F-3561-CB9D-DDF2-526109D6B620}"/>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pic>
        <p:nvPicPr>
          <p:cNvPr id="5" name="Picture 4">
            <a:extLst>
              <a:ext uri="{FF2B5EF4-FFF2-40B4-BE49-F238E27FC236}">
                <a16:creationId xmlns:a16="http://schemas.microsoft.com/office/drawing/2014/main" id="{D6E12D82-7D40-B7C4-B6BF-FAB310EE3811}"/>
              </a:ext>
            </a:extLst>
          </p:cNvPr>
          <p:cNvPicPr>
            <a:picLocks noChangeAspect="1"/>
          </p:cNvPicPr>
          <p:nvPr/>
        </p:nvPicPr>
        <p:blipFill>
          <a:blip r:embed="rId2"/>
          <a:stretch>
            <a:fillRect/>
          </a:stretch>
        </p:blipFill>
        <p:spPr>
          <a:xfrm>
            <a:off x="5071194" y="1689506"/>
            <a:ext cx="8145612" cy="7388109"/>
          </a:xfrm>
          <a:prstGeom prst="rect">
            <a:avLst/>
          </a:prstGeom>
          <a:ln w="19050">
            <a:solidFill>
              <a:schemeClr val="tx1"/>
            </a:solidFill>
          </a:ln>
        </p:spPr>
      </p:pic>
      <p:cxnSp>
        <p:nvCxnSpPr>
          <p:cNvPr id="2" name="Straight Arrow Connector 1">
            <a:extLst>
              <a:ext uri="{FF2B5EF4-FFF2-40B4-BE49-F238E27FC236}">
                <a16:creationId xmlns:a16="http://schemas.microsoft.com/office/drawing/2014/main" id="{BA52CF7F-C869-90C6-CDFC-890DA966D81B}"/>
              </a:ext>
            </a:extLst>
          </p:cNvPr>
          <p:cNvCxnSpPr>
            <a:cxnSpLocks/>
          </p:cNvCxnSpPr>
          <p:nvPr/>
        </p:nvCxnSpPr>
        <p:spPr>
          <a:xfrm>
            <a:off x="3886200" y="2476500"/>
            <a:ext cx="2221165" cy="663568"/>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4" name="Straight Arrow Connector 3">
            <a:extLst>
              <a:ext uri="{FF2B5EF4-FFF2-40B4-BE49-F238E27FC236}">
                <a16:creationId xmlns:a16="http://schemas.microsoft.com/office/drawing/2014/main" id="{4A1380F9-E210-073B-A4DF-8FCA2C1FF297}"/>
              </a:ext>
            </a:extLst>
          </p:cNvPr>
          <p:cNvCxnSpPr>
            <a:cxnSpLocks/>
          </p:cNvCxnSpPr>
          <p:nvPr/>
        </p:nvCxnSpPr>
        <p:spPr>
          <a:xfrm>
            <a:off x="3386113" y="3720868"/>
            <a:ext cx="2892325" cy="355832"/>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6" name="Straight Arrow Connector 5">
            <a:extLst>
              <a:ext uri="{FF2B5EF4-FFF2-40B4-BE49-F238E27FC236}">
                <a16:creationId xmlns:a16="http://schemas.microsoft.com/office/drawing/2014/main" id="{1A342755-ECEA-8E87-01D1-D83BA37F1B6A}"/>
              </a:ext>
            </a:extLst>
          </p:cNvPr>
          <p:cNvCxnSpPr>
            <a:cxnSpLocks/>
          </p:cNvCxnSpPr>
          <p:nvPr/>
        </p:nvCxnSpPr>
        <p:spPr>
          <a:xfrm flipH="1">
            <a:off x="9144000" y="3140068"/>
            <a:ext cx="5347054" cy="1622432"/>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11" name="Straight Arrow Connector 10">
            <a:extLst>
              <a:ext uri="{FF2B5EF4-FFF2-40B4-BE49-F238E27FC236}">
                <a16:creationId xmlns:a16="http://schemas.microsoft.com/office/drawing/2014/main" id="{2C0E9EFD-4BF4-3BAA-F0B0-9AE0423BEB52}"/>
              </a:ext>
            </a:extLst>
          </p:cNvPr>
          <p:cNvCxnSpPr>
            <a:cxnSpLocks/>
          </p:cNvCxnSpPr>
          <p:nvPr/>
        </p:nvCxnSpPr>
        <p:spPr>
          <a:xfrm flipH="1" flipV="1">
            <a:off x="9144000" y="5520869"/>
            <a:ext cx="4648200" cy="540885"/>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cxnSp>
        <p:nvCxnSpPr>
          <p:cNvPr id="17" name="Straight Arrow Connector 16">
            <a:extLst>
              <a:ext uri="{FF2B5EF4-FFF2-40B4-BE49-F238E27FC236}">
                <a16:creationId xmlns:a16="http://schemas.microsoft.com/office/drawing/2014/main" id="{DE086DE0-FAB0-71E1-B333-5C27101FFF41}"/>
              </a:ext>
            </a:extLst>
          </p:cNvPr>
          <p:cNvCxnSpPr>
            <a:cxnSpLocks/>
          </p:cNvCxnSpPr>
          <p:nvPr/>
        </p:nvCxnSpPr>
        <p:spPr>
          <a:xfrm>
            <a:off x="4343400" y="6061754"/>
            <a:ext cx="1916365" cy="192366"/>
          </a:xfrm>
          <a:prstGeom prst="straightConnector1">
            <a:avLst/>
          </a:prstGeom>
          <a:ln w="38100">
            <a:solidFill>
              <a:srgbClr val="7030A0"/>
            </a:solidFill>
            <a:headEnd type="none" w="med" len="med"/>
            <a:tailEnd type="arrow" w="med" len="med"/>
          </a:ln>
        </p:spPr>
        <p:style>
          <a:lnRef idx="1">
            <a:schemeClr val="accent5"/>
          </a:lnRef>
          <a:fillRef idx="0">
            <a:schemeClr val="accent5"/>
          </a:fillRef>
          <a:effectRef idx="0">
            <a:schemeClr val="accent5"/>
          </a:effectRef>
          <a:fontRef idx="minor">
            <a:schemeClr val="tx1"/>
          </a:fontRef>
        </p:style>
      </p:cxnSp>
      <p:sp>
        <p:nvSpPr>
          <p:cNvPr id="23" name="TextBox 6">
            <a:extLst>
              <a:ext uri="{FF2B5EF4-FFF2-40B4-BE49-F238E27FC236}">
                <a16:creationId xmlns:a16="http://schemas.microsoft.com/office/drawing/2014/main" id="{65EE6209-9764-C52D-F216-43A819AB2ED4}"/>
              </a:ext>
            </a:extLst>
          </p:cNvPr>
          <p:cNvSpPr txBox="1"/>
          <p:nvPr/>
        </p:nvSpPr>
        <p:spPr>
          <a:xfrm>
            <a:off x="1705130" y="2067401"/>
            <a:ext cx="3221337" cy="399405"/>
          </a:xfrm>
          <a:prstGeom prst="rect">
            <a:avLst/>
          </a:prstGeom>
        </p:spPr>
        <p:txBody>
          <a:bodyPr lIns="0" tIns="0" rIns="0" bIns="0" rtlCol="0" anchor="t">
            <a:spAutoFit/>
          </a:bodyPr>
          <a:lstStyle/>
          <a:p>
            <a:pPr algn="ctr">
              <a:lnSpc>
                <a:spcPts val="3361"/>
              </a:lnSpc>
            </a:pPr>
            <a:r>
              <a:rPr lang="ja-JP" altLang="en-US" sz="2400" b="1" dirty="0">
                <a:solidFill>
                  <a:srgbClr val="000000"/>
                </a:solidFill>
                <a:latin typeface="Inter"/>
                <a:ea typeface="Inter"/>
                <a:cs typeface="Inter"/>
                <a:sym typeface="Inter"/>
              </a:rPr>
              <a:t>名前</a:t>
            </a:r>
            <a:endParaRPr lang="en-US" sz="2400" b="1" dirty="0">
              <a:solidFill>
                <a:srgbClr val="000000"/>
              </a:solidFill>
              <a:latin typeface="Inter"/>
              <a:ea typeface="Inter"/>
              <a:cs typeface="Inter"/>
              <a:sym typeface="Inter"/>
            </a:endParaRPr>
          </a:p>
        </p:txBody>
      </p:sp>
      <p:sp>
        <p:nvSpPr>
          <p:cNvPr id="24" name="TextBox 6">
            <a:extLst>
              <a:ext uri="{FF2B5EF4-FFF2-40B4-BE49-F238E27FC236}">
                <a16:creationId xmlns:a16="http://schemas.microsoft.com/office/drawing/2014/main" id="{79D41BF6-F789-4C9C-DF80-1F995074643C}"/>
              </a:ext>
            </a:extLst>
          </p:cNvPr>
          <p:cNvSpPr txBox="1"/>
          <p:nvPr/>
        </p:nvSpPr>
        <p:spPr>
          <a:xfrm>
            <a:off x="2042145" y="2821068"/>
            <a:ext cx="3221337" cy="1707455"/>
          </a:xfrm>
          <a:prstGeom prst="rect">
            <a:avLst/>
          </a:prstGeom>
        </p:spPr>
        <p:txBody>
          <a:bodyPr wrap="square" lIns="0" tIns="0" rIns="0" bIns="0" rtlCol="0" anchor="t">
            <a:spAutoFit/>
          </a:bodyPr>
          <a:lstStyle/>
          <a:p>
            <a:pPr>
              <a:lnSpc>
                <a:spcPts val="3361"/>
              </a:lnSpc>
            </a:pPr>
            <a:r>
              <a:rPr lang="ja-JP" altLang="en-US" sz="2400" b="1" dirty="0">
                <a:solidFill>
                  <a:srgbClr val="000000"/>
                </a:solidFill>
                <a:latin typeface="Inter"/>
                <a:ea typeface="Inter"/>
                <a:cs typeface="Inter"/>
                <a:sym typeface="Inter"/>
              </a:rPr>
              <a:t>サイズ</a:t>
            </a:r>
            <a:endParaRPr lang="en-US" sz="2400" b="1"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3x3</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4x4</a:t>
            </a:r>
          </a:p>
          <a:p>
            <a:pPr marL="342900" indent="-342900">
              <a:lnSpc>
                <a:spcPts val="3361"/>
              </a:lnSpc>
              <a:buFont typeface="Arial" panose="020B0604020202020204" pitchFamily="34" charset="0"/>
              <a:buChar char="•"/>
            </a:pPr>
            <a:r>
              <a:rPr lang="en-US" sz="2400" dirty="0">
                <a:solidFill>
                  <a:srgbClr val="000000"/>
                </a:solidFill>
                <a:latin typeface="Inter"/>
                <a:ea typeface="Inter"/>
                <a:cs typeface="Inter"/>
                <a:sym typeface="Inter"/>
              </a:rPr>
              <a:t>5x5</a:t>
            </a:r>
          </a:p>
        </p:txBody>
      </p:sp>
      <p:sp>
        <p:nvSpPr>
          <p:cNvPr id="25" name="TextBox 6">
            <a:extLst>
              <a:ext uri="{FF2B5EF4-FFF2-40B4-BE49-F238E27FC236}">
                <a16:creationId xmlns:a16="http://schemas.microsoft.com/office/drawing/2014/main" id="{5FDBD9C8-8981-36E2-8F91-9A3539D8E84E}"/>
              </a:ext>
            </a:extLst>
          </p:cNvPr>
          <p:cNvSpPr txBox="1"/>
          <p:nvPr/>
        </p:nvSpPr>
        <p:spPr>
          <a:xfrm>
            <a:off x="14715773" y="1712821"/>
            <a:ext cx="3221337" cy="2579489"/>
          </a:xfrm>
          <a:prstGeom prst="rect">
            <a:avLst/>
          </a:prstGeom>
        </p:spPr>
        <p:txBody>
          <a:bodyPr lIns="0" tIns="0" rIns="0" bIns="0" rtlCol="0" anchor="t">
            <a:spAutoFit/>
          </a:bodyPr>
          <a:lstStyle/>
          <a:p>
            <a:pPr>
              <a:lnSpc>
                <a:spcPts val="3361"/>
              </a:lnSpc>
            </a:pPr>
            <a:r>
              <a:rPr lang="ja-JP" altLang="en-US" sz="2400" b="1" dirty="0">
                <a:solidFill>
                  <a:srgbClr val="000000"/>
                </a:solidFill>
                <a:latin typeface="Inter"/>
                <a:ea typeface="Inter"/>
                <a:cs typeface="Inter"/>
                <a:sym typeface="Inter"/>
              </a:rPr>
              <a:t>モード</a:t>
            </a:r>
            <a:endParaRPr lang="en-US" sz="2400" b="1"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英語</a:t>
            </a:r>
            <a:endParaRPr lang="en-US" sz="2400"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日本語</a:t>
            </a:r>
            <a:endParaRPr lang="en-US" sz="2400"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タイ語</a:t>
            </a:r>
            <a:endParaRPr lang="en-US" sz="2400"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絵文字</a:t>
            </a:r>
            <a:endParaRPr lang="en-US" sz="2400"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記号</a:t>
            </a:r>
            <a:endParaRPr lang="en-US" sz="2400" dirty="0">
              <a:solidFill>
                <a:srgbClr val="000000"/>
              </a:solidFill>
              <a:latin typeface="Inter"/>
              <a:ea typeface="Inter"/>
              <a:cs typeface="Inter"/>
              <a:sym typeface="Inter"/>
            </a:endParaRPr>
          </a:p>
        </p:txBody>
      </p:sp>
      <p:sp>
        <p:nvSpPr>
          <p:cNvPr id="26" name="TextBox 6">
            <a:extLst>
              <a:ext uri="{FF2B5EF4-FFF2-40B4-BE49-F238E27FC236}">
                <a16:creationId xmlns:a16="http://schemas.microsoft.com/office/drawing/2014/main" id="{A7396E1B-51E5-B4AF-711F-0B4B4E09C714}"/>
              </a:ext>
            </a:extLst>
          </p:cNvPr>
          <p:cNvSpPr txBox="1"/>
          <p:nvPr/>
        </p:nvSpPr>
        <p:spPr>
          <a:xfrm>
            <a:off x="14084344" y="4970161"/>
            <a:ext cx="3221337" cy="2139688"/>
          </a:xfrm>
          <a:prstGeom prst="rect">
            <a:avLst/>
          </a:prstGeom>
        </p:spPr>
        <p:txBody>
          <a:bodyPr lIns="0" tIns="0" rIns="0" bIns="0" rtlCol="0" anchor="t">
            <a:spAutoFit/>
          </a:bodyPr>
          <a:lstStyle/>
          <a:p>
            <a:pPr>
              <a:lnSpc>
                <a:spcPts val="3361"/>
              </a:lnSpc>
            </a:pPr>
            <a:r>
              <a:rPr lang="ja-JP" altLang="en-US" sz="2400" b="1" dirty="0">
                <a:solidFill>
                  <a:srgbClr val="000000"/>
                </a:solidFill>
                <a:latin typeface="Inter"/>
                <a:ea typeface="Inter"/>
                <a:cs typeface="Inter"/>
                <a:sym typeface="Inter"/>
              </a:rPr>
              <a:t>パターン</a:t>
            </a:r>
            <a:endParaRPr lang="en-US" sz="2400" b="1"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水平</a:t>
            </a:r>
            <a:endParaRPr lang="en-US" sz="2400"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垂直</a:t>
            </a:r>
            <a:endParaRPr lang="en-US" sz="2400"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対角線</a:t>
            </a:r>
            <a:endParaRPr lang="en-US" sz="2400"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すべてシャッフル</a:t>
            </a:r>
            <a:endParaRPr lang="en-US" sz="2400" dirty="0">
              <a:solidFill>
                <a:srgbClr val="000000"/>
              </a:solidFill>
              <a:latin typeface="Inter"/>
              <a:ea typeface="Inter"/>
              <a:cs typeface="Inter"/>
              <a:sym typeface="Inter"/>
            </a:endParaRPr>
          </a:p>
        </p:txBody>
      </p:sp>
      <p:sp>
        <p:nvSpPr>
          <p:cNvPr id="27" name="TextBox 6">
            <a:extLst>
              <a:ext uri="{FF2B5EF4-FFF2-40B4-BE49-F238E27FC236}">
                <a16:creationId xmlns:a16="http://schemas.microsoft.com/office/drawing/2014/main" id="{8F1F7ADA-EF11-90FA-98C6-C13C47BF5815}"/>
              </a:ext>
            </a:extLst>
          </p:cNvPr>
          <p:cNvSpPr txBox="1"/>
          <p:nvPr/>
        </p:nvSpPr>
        <p:spPr>
          <a:xfrm>
            <a:off x="1861529" y="5325571"/>
            <a:ext cx="3221337" cy="1271438"/>
          </a:xfrm>
          <a:prstGeom prst="rect">
            <a:avLst/>
          </a:prstGeom>
        </p:spPr>
        <p:txBody>
          <a:bodyPr lIns="0" tIns="0" rIns="0" bIns="0" rtlCol="0" anchor="t">
            <a:spAutoFit/>
          </a:bodyPr>
          <a:lstStyle/>
          <a:p>
            <a:pPr>
              <a:lnSpc>
                <a:spcPts val="3361"/>
              </a:lnSpc>
            </a:pPr>
            <a:r>
              <a:rPr lang="ja-JP" altLang="en-US" sz="2400" b="1" dirty="0">
                <a:solidFill>
                  <a:srgbClr val="000000"/>
                </a:solidFill>
                <a:latin typeface="Inter"/>
                <a:ea typeface="Inter"/>
                <a:cs typeface="Inter"/>
                <a:sym typeface="Inter"/>
              </a:rPr>
              <a:t>スタイル</a:t>
            </a:r>
            <a:endParaRPr lang="en-US" sz="2400" b="1"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スタンダード</a:t>
            </a:r>
            <a:endParaRPr lang="en-US" sz="2400" dirty="0">
              <a:solidFill>
                <a:srgbClr val="000000"/>
              </a:solidFill>
              <a:latin typeface="Inter"/>
              <a:ea typeface="Inter"/>
              <a:cs typeface="Inter"/>
              <a:sym typeface="Inter"/>
            </a:endParaRPr>
          </a:p>
          <a:p>
            <a:pPr marL="342900" indent="-342900">
              <a:lnSpc>
                <a:spcPts val="3361"/>
              </a:lnSpc>
              <a:buFont typeface="Arial" panose="020B0604020202020204" pitchFamily="34" charset="0"/>
              <a:buChar char="•"/>
            </a:pPr>
            <a:r>
              <a:rPr lang="ja-JP" altLang="en-US" sz="2400" dirty="0">
                <a:solidFill>
                  <a:srgbClr val="000000"/>
                </a:solidFill>
                <a:latin typeface="Inter"/>
                <a:ea typeface="Inter"/>
                <a:cs typeface="Inter"/>
                <a:sym typeface="Inter"/>
              </a:rPr>
              <a:t>クリエイティブ</a:t>
            </a:r>
            <a:endParaRPr lang="en-US" sz="2400" dirty="0">
              <a:solidFill>
                <a:srgbClr val="000000"/>
              </a:solidFill>
              <a:latin typeface="Inter"/>
              <a:ea typeface="Inter"/>
              <a:cs typeface="Inter"/>
              <a:sym typeface="Inter"/>
            </a:endParaRPr>
          </a:p>
        </p:txBody>
      </p:sp>
    </p:spTree>
    <p:extLst>
      <p:ext uri="{BB962C8B-B14F-4D97-AF65-F5344CB8AC3E}">
        <p14:creationId xmlns:p14="http://schemas.microsoft.com/office/powerpoint/2010/main" val="215888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8379827D-6F2D-83B3-0830-E9DC8E22EAD8}"/>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F3C4A9D9-D0A1-41EE-AE02-B25FA7A7E589}"/>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9DB7E17A-94B5-49DF-BA06-414409B44549}"/>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E0BA8386-3B09-8972-B381-81EAA427F0E4}"/>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2" name="TextBox 5">
            <a:extLst>
              <a:ext uri="{FF2B5EF4-FFF2-40B4-BE49-F238E27FC236}">
                <a16:creationId xmlns:a16="http://schemas.microsoft.com/office/drawing/2014/main" id="{90069EC6-8581-3A70-DDCD-F20016E139BA}"/>
              </a:ext>
            </a:extLst>
          </p:cNvPr>
          <p:cNvSpPr txBox="1"/>
          <p:nvPr/>
        </p:nvSpPr>
        <p:spPr>
          <a:xfrm>
            <a:off x="4202297" y="4086351"/>
            <a:ext cx="9883405" cy="2114297"/>
          </a:xfrm>
          <a:prstGeom prst="rect">
            <a:avLst/>
          </a:prstGeom>
        </p:spPr>
        <p:txBody>
          <a:bodyPr lIns="0" tIns="0" rIns="0" bIns="0" rtlCol="0" anchor="t">
            <a:spAutoFit/>
          </a:bodyPr>
          <a:lstStyle/>
          <a:p>
            <a:pPr algn="ctr">
              <a:lnSpc>
                <a:spcPts val="8543"/>
              </a:lnSpc>
            </a:pPr>
            <a:r>
              <a:rPr lang="en-US" sz="7766" b="1" dirty="0">
                <a:solidFill>
                  <a:srgbClr val="000000"/>
                </a:solidFill>
                <a:latin typeface="Agrandir"/>
                <a:ea typeface="Agrandir"/>
                <a:cs typeface="Agrandir"/>
                <a:sym typeface="Agrandir"/>
              </a:rPr>
              <a:t>03</a:t>
            </a:r>
          </a:p>
          <a:p>
            <a:pPr algn="ctr">
              <a:lnSpc>
                <a:spcPts val="8543"/>
              </a:lnSpc>
            </a:pPr>
            <a:r>
              <a:rPr lang="en-US" sz="6000" spc="600" dirty="0">
                <a:solidFill>
                  <a:srgbClr val="000000"/>
                </a:solidFill>
                <a:latin typeface="Agrandir"/>
                <a:ea typeface="Agrandir"/>
                <a:cs typeface="Agrandir"/>
                <a:sym typeface="Agrandir"/>
              </a:rPr>
              <a:t>Key Features</a:t>
            </a:r>
            <a:endParaRPr lang="en-US" sz="7766" dirty="0">
              <a:solidFill>
                <a:srgbClr val="000000"/>
              </a:solidFill>
              <a:latin typeface="Agrandir"/>
              <a:ea typeface="Agrandir"/>
              <a:cs typeface="Agrandir"/>
              <a:sym typeface="Agrandir"/>
            </a:endParaRPr>
          </a:p>
        </p:txBody>
      </p:sp>
    </p:spTree>
    <p:extLst>
      <p:ext uri="{BB962C8B-B14F-4D97-AF65-F5344CB8AC3E}">
        <p14:creationId xmlns:p14="http://schemas.microsoft.com/office/powerpoint/2010/main" val="433978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E666FCDB-B3AF-200F-8C86-94E1EA1940E5}"/>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E239CB4B-B1A7-34F5-4C31-9415F3FD8F07}"/>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F45F0976-DAFE-B64D-24AD-2CCC67923199}"/>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21FAB36B-BE65-27A2-A003-A17F57C780CE}"/>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2" name="TextBox 5">
            <a:extLst>
              <a:ext uri="{FF2B5EF4-FFF2-40B4-BE49-F238E27FC236}">
                <a16:creationId xmlns:a16="http://schemas.microsoft.com/office/drawing/2014/main" id="{EFCD5DC2-4C78-3970-86EB-B515AF5BCB3B}"/>
              </a:ext>
            </a:extLst>
          </p:cNvPr>
          <p:cNvSpPr txBox="1"/>
          <p:nvPr/>
        </p:nvSpPr>
        <p:spPr>
          <a:xfrm>
            <a:off x="4202297" y="4086351"/>
            <a:ext cx="9883405" cy="2114297"/>
          </a:xfrm>
          <a:prstGeom prst="rect">
            <a:avLst/>
          </a:prstGeom>
        </p:spPr>
        <p:txBody>
          <a:bodyPr lIns="0" tIns="0" rIns="0" bIns="0" rtlCol="0" anchor="t">
            <a:spAutoFit/>
          </a:bodyPr>
          <a:lstStyle/>
          <a:p>
            <a:pPr algn="ctr">
              <a:lnSpc>
                <a:spcPts val="8543"/>
              </a:lnSpc>
            </a:pPr>
            <a:r>
              <a:rPr lang="en-US" sz="7766" b="1" dirty="0">
                <a:solidFill>
                  <a:srgbClr val="000000"/>
                </a:solidFill>
                <a:latin typeface="Agrandir"/>
                <a:ea typeface="Agrandir"/>
                <a:cs typeface="Agrandir"/>
                <a:sym typeface="Agrandir"/>
              </a:rPr>
              <a:t>03</a:t>
            </a:r>
          </a:p>
          <a:p>
            <a:pPr algn="ctr">
              <a:lnSpc>
                <a:spcPts val="8543"/>
              </a:lnSpc>
            </a:pPr>
            <a:r>
              <a:rPr lang="ja-JP" altLang="en-US" sz="6000" spc="600" dirty="0">
                <a:solidFill>
                  <a:srgbClr val="000000"/>
                </a:solidFill>
                <a:latin typeface="Agrandir"/>
                <a:ea typeface="Agrandir"/>
                <a:cs typeface="Agrandir"/>
                <a:sym typeface="Agrandir"/>
              </a:rPr>
              <a:t>主な特長</a:t>
            </a:r>
            <a:endParaRPr lang="en-US" sz="7766" dirty="0">
              <a:solidFill>
                <a:srgbClr val="000000"/>
              </a:solidFill>
              <a:latin typeface="Agrandir"/>
              <a:ea typeface="Agrandir"/>
              <a:cs typeface="Agrandir"/>
              <a:sym typeface="Agrandir"/>
            </a:endParaRPr>
          </a:p>
        </p:txBody>
      </p:sp>
    </p:spTree>
    <p:extLst>
      <p:ext uri="{BB962C8B-B14F-4D97-AF65-F5344CB8AC3E}">
        <p14:creationId xmlns:p14="http://schemas.microsoft.com/office/powerpoint/2010/main" val="482528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E97A6DFE-E1B9-A43F-3A4D-32B657222BE4}"/>
              </a:ext>
            </a:extLst>
          </p:cNvPr>
          <p:cNvGrpSpPr/>
          <p:nvPr/>
        </p:nvGrpSpPr>
        <p:grpSpPr>
          <a:xfrm>
            <a:off x="680480" y="625871"/>
            <a:ext cx="16927040" cy="9035258"/>
            <a:chOff x="0" y="0"/>
            <a:chExt cx="126402652" cy="67470777"/>
          </a:xfrm>
        </p:grpSpPr>
        <p:sp>
          <p:nvSpPr>
            <p:cNvPr id="8" name="Freeform 3">
              <a:extLst>
                <a:ext uri="{FF2B5EF4-FFF2-40B4-BE49-F238E27FC236}">
                  <a16:creationId xmlns:a16="http://schemas.microsoft.com/office/drawing/2014/main" id="{015B88A7-BB15-667E-8E7A-57D5441C1339}"/>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0" name="Freeform 4">
              <a:extLst>
                <a:ext uri="{FF2B5EF4-FFF2-40B4-BE49-F238E27FC236}">
                  <a16:creationId xmlns:a16="http://schemas.microsoft.com/office/drawing/2014/main" id="{048FC8B9-6E1F-66C0-F75D-4AC190CCD57B}"/>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7" name="TextBox 5">
            <a:extLst>
              <a:ext uri="{FF2B5EF4-FFF2-40B4-BE49-F238E27FC236}">
                <a16:creationId xmlns:a16="http://schemas.microsoft.com/office/drawing/2014/main" id="{0ED354E9-474D-0838-B9A9-1AABE7297466}"/>
              </a:ext>
            </a:extLst>
          </p:cNvPr>
          <p:cNvSpPr txBox="1"/>
          <p:nvPr/>
        </p:nvSpPr>
        <p:spPr>
          <a:xfrm>
            <a:off x="5122873" y="1251591"/>
            <a:ext cx="8042254" cy="897682"/>
          </a:xfrm>
          <a:prstGeom prst="rect">
            <a:avLst/>
          </a:prstGeom>
        </p:spPr>
        <p:txBody>
          <a:bodyPr lIns="0" tIns="0" rIns="0" bIns="0" rtlCol="0" anchor="t">
            <a:spAutoFit/>
          </a:bodyPr>
          <a:lstStyle/>
          <a:p>
            <a:pPr algn="ctr">
              <a:lnSpc>
                <a:spcPts val="6952"/>
              </a:lnSpc>
            </a:pPr>
            <a:r>
              <a:rPr lang="en-US" sz="5400" b="1" dirty="0">
                <a:solidFill>
                  <a:srgbClr val="000000"/>
                </a:solidFill>
                <a:latin typeface="Agrandir"/>
                <a:ea typeface="Agrandir"/>
                <a:cs typeface="Agrandir"/>
                <a:sym typeface="Agrandir"/>
              </a:rPr>
              <a:t>Translation / </a:t>
            </a:r>
            <a:r>
              <a:rPr lang="ja-JP" altLang="en-US" sz="5400" b="1" dirty="0">
                <a:solidFill>
                  <a:srgbClr val="000000"/>
                </a:solidFill>
                <a:latin typeface="Agrandir"/>
                <a:ea typeface="Agrandir"/>
                <a:cs typeface="Agrandir"/>
                <a:sym typeface="Agrandir"/>
              </a:rPr>
              <a:t>翻訳</a:t>
            </a:r>
            <a:endParaRPr lang="en-US" sz="5400" b="1" dirty="0">
              <a:solidFill>
                <a:srgbClr val="000000"/>
              </a:solidFill>
              <a:latin typeface="Agrandir"/>
              <a:ea typeface="Agrandir"/>
              <a:cs typeface="Agrandir"/>
              <a:sym typeface="Agrandir"/>
            </a:endParaRPr>
          </a:p>
        </p:txBody>
      </p:sp>
      <p:pic>
        <p:nvPicPr>
          <p:cNvPr id="6" name="Picture 5">
            <a:extLst>
              <a:ext uri="{FF2B5EF4-FFF2-40B4-BE49-F238E27FC236}">
                <a16:creationId xmlns:a16="http://schemas.microsoft.com/office/drawing/2014/main" id="{E4AF2E2F-4AB6-1E20-2021-F225BE4A74C3}"/>
              </a:ext>
            </a:extLst>
          </p:cNvPr>
          <p:cNvPicPr>
            <a:picLocks noChangeAspect="1"/>
          </p:cNvPicPr>
          <p:nvPr/>
        </p:nvPicPr>
        <p:blipFill>
          <a:blip r:embed="rId2"/>
          <a:srcRect l="32849" t="6455" r="31215" b="14326"/>
          <a:stretch>
            <a:fillRect/>
          </a:stretch>
        </p:blipFill>
        <p:spPr>
          <a:xfrm>
            <a:off x="1478655" y="3928871"/>
            <a:ext cx="4168183" cy="5143501"/>
          </a:xfrm>
          <a:prstGeom prst="rect">
            <a:avLst/>
          </a:prstGeom>
          <a:ln>
            <a:solidFill>
              <a:schemeClr val="tx1"/>
            </a:solidFill>
          </a:ln>
        </p:spPr>
      </p:pic>
      <p:pic>
        <p:nvPicPr>
          <p:cNvPr id="9" name="Picture 8">
            <a:extLst>
              <a:ext uri="{FF2B5EF4-FFF2-40B4-BE49-F238E27FC236}">
                <a16:creationId xmlns:a16="http://schemas.microsoft.com/office/drawing/2014/main" id="{940BFDF0-716B-F41B-481A-0FC74B26BDD1}"/>
              </a:ext>
            </a:extLst>
          </p:cNvPr>
          <p:cNvPicPr>
            <a:picLocks noChangeAspect="1"/>
          </p:cNvPicPr>
          <p:nvPr/>
        </p:nvPicPr>
        <p:blipFill>
          <a:blip r:embed="rId3"/>
          <a:srcRect l="30453" t="9323" r="30138" b="16740"/>
          <a:stretch>
            <a:fillRect/>
          </a:stretch>
        </p:blipFill>
        <p:spPr>
          <a:xfrm>
            <a:off x="6983208" y="3924300"/>
            <a:ext cx="4495800" cy="4800600"/>
          </a:xfrm>
          <a:prstGeom prst="rect">
            <a:avLst/>
          </a:prstGeom>
          <a:ln>
            <a:solidFill>
              <a:schemeClr val="tx1"/>
            </a:solidFill>
          </a:ln>
        </p:spPr>
      </p:pic>
      <p:pic>
        <p:nvPicPr>
          <p:cNvPr id="11" name="Picture 10">
            <a:extLst>
              <a:ext uri="{FF2B5EF4-FFF2-40B4-BE49-F238E27FC236}">
                <a16:creationId xmlns:a16="http://schemas.microsoft.com/office/drawing/2014/main" id="{F982A517-F1BC-8745-5B03-0351A4AF3384}"/>
              </a:ext>
            </a:extLst>
          </p:cNvPr>
          <p:cNvPicPr>
            <a:picLocks noChangeAspect="1"/>
          </p:cNvPicPr>
          <p:nvPr/>
        </p:nvPicPr>
        <p:blipFill>
          <a:blip r:embed="rId4"/>
          <a:srcRect l="36917" t="10452" r="35002" b="16384"/>
          <a:stretch>
            <a:fillRect/>
          </a:stretch>
        </p:blipFill>
        <p:spPr>
          <a:xfrm>
            <a:off x="13223864" y="3962400"/>
            <a:ext cx="3495026" cy="5148072"/>
          </a:xfrm>
          <a:prstGeom prst="rect">
            <a:avLst/>
          </a:prstGeom>
          <a:ln>
            <a:solidFill>
              <a:schemeClr val="tx1"/>
            </a:solidFill>
          </a:ln>
        </p:spPr>
      </p:pic>
      <p:pic>
        <p:nvPicPr>
          <p:cNvPr id="13" name="Picture 12">
            <a:extLst>
              <a:ext uri="{FF2B5EF4-FFF2-40B4-BE49-F238E27FC236}">
                <a16:creationId xmlns:a16="http://schemas.microsoft.com/office/drawing/2014/main" id="{F8597474-3728-8509-5A01-484AB2E6FABC}"/>
              </a:ext>
            </a:extLst>
          </p:cNvPr>
          <p:cNvPicPr>
            <a:picLocks noChangeAspect="1"/>
          </p:cNvPicPr>
          <p:nvPr/>
        </p:nvPicPr>
        <p:blipFill>
          <a:blip r:embed="rId5"/>
          <a:stretch>
            <a:fillRect/>
          </a:stretch>
        </p:blipFill>
        <p:spPr>
          <a:xfrm>
            <a:off x="2154492" y="2433547"/>
            <a:ext cx="2816508" cy="1408255"/>
          </a:xfrm>
          <a:prstGeom prst="rect">
            <a:avLst/>
          </a:prstGeom>
          <a:ln>
            <a:solidFill>
              <a:schemeClr val="tx1"/>
            </a:solidFill>
          </a:ln>
        </p:spPr>
      </p:pic>
      <p:pic>
        <p:nvPicPr>
          <p:cNvPr id="15" name="Picture 14">
            <a:extLst>
              <a:ext uri="{FF2B5EF4-FFF2-40B4-BE49-F238E27FC236}">
                <a16:creationId xmlns:a16="http://schemas.microsoft.com/office/drawing/2014/main" id="{43F698A9-E2E6-3F09-B1C4-1E6B5594C162}"/>
              </a:ext>
            </a:extLst>
          </p:cNvPr>
          <p:cNvPicPr>
            <a:picLocks noChangeAspect="1"/>
          </p:cNvPicPr>
          <p:nvPr/>
        </p:nvPicPr>
        <p:blipFill>
          <a:blip r:embed="rId6"/>
          <a:stretch>
            <a:fillRect/>
          </a:stretch>
        </p:blipFill>
        <p:spPr>
          <a:xfrm>
            <a:off x="7735776" y="2436596"/>
            <a:ext cx="2816352" cy="1398851"/>
          </a:xfrm>
          <a:prstGeom prst="rect">
            <a:avLst/>
          </a:prstGeom>
          <a:ln>
            <a:solidFill>
              <a:schemeClr val="tx1"/>
            </a:solidFill>
          </a:ln>
        </p:spPr>
      </p:pic>
      <p:pic>
        <p:nvPicPr>
          <p:cNvPr id="17" name="Picture 16">
            <a:extLst>
              <a:ext uri="{FF2B5EF4-FFF2-40B4-BE49-F238E27FC236}">
                <a16:creationId xmlns:a16="http://schemas.microsoft.com/office/drawing/2014/main" id="{6B9A5BB1-8750-294F-990A-F2AFF7AEA49B}"/>
              </a:ext>
            </a:extLst>
          </p:cNvPr>
          <p:cNvPicPr>
            <a:picLocks noChangeAspect="1"/>
          </p:cNvPicPr>
          <p:nvPr/>
        </p:nvPicPr>
        <p:blipFill>
          <a:blip r:embed="rId7"/>
          <a:stretch>
            <a:fillRect/>
          </a:stretch>
        </p:blipFill>
        <p:spPr>
          <a:xfrm>
            <a:off x="13563201" y="2439992"/>
            <a:ext cx="2816352" cy="1381268"/>
          </a:xfrm>
          <a:prstGeom prst="rect">
            <a:avLst/>
          </a:prstGeom>
          <a:ln>
            <a:solidFill>
              <a:schemeClr val="tx1"/>
            </a:solid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9" name="Group 2">
            <a:extLst>
              <a:ext uri="{FF2B5EF4-FFF2-40B4-BE49-F238E27FC236}">
                <a16:creationId xmlns:a16="http://schemas.microsoft.com/office/drawing/2014/main" id="{5D80183F-031E-9099-AA56-7AE7B442D93A}"/>
              </a:ext>
            </a:extLst>
          </p:cNvPr>
          <p:cNvGrpSpPr/>
          <p:nvPr/>
        </p:nvGrpSpPr>
        <p:grpSpPr>
          <a:xfrm>
            <a:off x="680480" y="625871"/>
            <a:ext cx="16927040" cy="9035258"/>
            <a:chOff x="0" y="0"/>
            <a:chExt cx="126402652" cy="67470777"/>
          </a:xfrm>
        </p:grpSpPr>
        <p:sp>
          <p:nvSpPr>
            <p:cNvPr id="10" name="Freeform 3">
              <a:extLst>
                <a:ext uri="{FF2B5EF4-FFF2-40B4-BE49-F238E27FC236}">
                  <a16:creationId xmlns:a16="http://schemas.microsoft.com/office/drawing/2014/main" id="{20BEDD1C-AF7C-A6BE-7D70-97DD055320C1}"/>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1" name="Freeform 4">
              <a:extLst>
                <a:ext uri="{FF2B5EF4-FFF2-40B4-BE49-F238E27FC236}">
                  <a16:creationId xmlns:a16="http://schemas.microsoft.com/office/drawing/2014/main" id="{570FE3DC-2EBA-75D1-D165-B1B3055A5EF4}"/>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TextBox 5"/>
          <p:cNvSpPr txBox="1"/>
          <p:nvPr/>
        </p:nvSpPr>
        <p:spPr>
          <a:xfrm>
            <a:off x="5123605" y="1549650"/>
            <a:ext cx="8042254" cy="859274"/>
          </a:xfrm>
          <a:prstGeom prst="rect">
            <a:avLst/>
          </a:prstGeom>
        </p:spPr>
        <p:txBody>
          <a:bodyPr lIns="0" tIns="0" rIns="0" bIns="0" rtlCol="0" anchor="t">
            <a:spAutoFit/>
          </a:bodyPr>
          <a:lstStyle/>
          <a:p>
            <a:pPr algn="ctr">
              <a:lnSpc>
                <a:spcPts val="6952"/>
              </a:lnSpc>
            </a:pPr>
            <a:r>
              <a:rPr lang="en-US" sz="5400" dirty="0">
                <a:solidFill>
                  <a:srgbClr val="000000"/>
                </a:solidFill>
                <a:latin typeface="Agrandir"/>
                <a:ea typeface="Agrandir"/>
                <a:cs typeface="Agrandir"/>
                <a:sym typeface="Agrandir"/>
              </a:rPr>
              <a:t>Sizes</a:t>
            </a:r>
          </a:p>
        </p:txBody>
      </p:sp>
      <p:sp>
        <p:nvSpPr>
          <p:cNvPr id="6" name="TextBox 6"/>
          <p:cNvSpPr txBox="1"/>
          <p:nvPr/>
        </p:nvSpPr>
        <p:spPr>
          <a:xfrm>
            <a:off x="1504353" y="7894128"/>
            <a:ext cx="3992189" cy="835422"/>
          </a:xfrm>
          <a:prstGeom prst="rect">
            <a:avLst/>
          </a:prstGeom>
        </p:spPr>
        <p:txBody>
          <a:bodyPr lIns="0" tIns="0" rIns="0" bIns="0" rtlCol="0" anchor="t">
            <a:spAutoFit/>
          </a:bodyPr>
          <a:lstStyle/>
          <a:p>
            <a:pPr algn="ctr">
              <a:lnSpc>
                <a:spcPts val="3358"/>
              </a:lnSpc>
            </a:pPr>
            <a:r>
              <a:rPr lang="en-US" sz="2399" dirty="0">
                <a:solidFill>
                  <a:srgbClr val="000000"/>
                </a:solidFill>
                <a:latin typeface="Inter"/>
                <a:ea typeface="Inter"/>
                <a:cs typeface="Inter"/>
                <a:sym typeface="Inter"/>
              </a:rPr>
              <a:t>3x3 Magic Square</a:t>
            </a:r>
          </a:p>
          <a:p>
            <a:pPr algn="ctr">
              <a:lnSpc>
                <a:spcPts val="3358"/>
              </a:lnSpc>
            </a:pPr>
            <a:r>
              <a:rPr lang="en-US" sz="2399" dirty="0">
                <a:solidFill>
                  <a:srgbClr val="000000"/>
                </a:solidFill>
                <a:latin typeface="Inter"/>
                <a:ea typeface="Inter"/>
                <a:cs typeface="Inter"/>
                <a:sym typeface="Inter"/>
              </a:rPr>
              <a:t>Target : 15</a:t>
            </a:r>
          </a:p>
        </p:txBody>
      </p:sp>
      <p:sp>
        <p:nvSpPr>
          <p:cNvPr id="7" name="TextBox 7"/>
          <p:cNvSpPr txBox="1"/>
          <p:nvPr/>
        </p:nvSpPr>
        <p:spPr>
          <a:xfrm>
            <a:off x="7147906" y="7894128"/>
            <a:ext cx="3992189" cy="835422"/>
          </a:xfrm>
          <a:prstGeom prst="rect">
            <a:avLst/>
          </a:prstGeom>
        </p:spPr>
        <p:txBody>
          <a:bodyPr lIns="0" tIns="0" rIns="0" bIns="0" rtlCol="0" anchor="t">
            <a:spAutoFit/>
          </a:bodyPr>
          <a:lstStyle/>
          <a:p>
            <a:pPr algn="ctr">
              <a:lnSpc>
                <a:spcPts val="3358"/>
              </a:lnSpc>
            </a:pPr>
            <a:r>
              <a:rPr lang="en-US" sz="2399" dirty="0">
                <a:solidFill>
                  <a:srgbClr val="000000"/>
                </a:solidFill>
                <a:latin typeface="Inter"/>
                <a:ea typeface="Inter"/>
                <a:cs typeface="Inter"/>
                <a:sym typeface="Inter"/>
              </a:rPr>
              <a:t>4x4 Magic Square</a:t>
            </a:r>
          </a:p>
          <a:p>
            <a:pPr algn="ctr">
              <a:lnSpc>
                <a:spcPts val="3358"/>
              </a:lnSpc>
            </a:pPr>
            <a:r>
              <a:rPr lang="en-US" sz="2399" dirty="0">
                <a:solidFill>
                  <a:srgbClr val="000000"/>
                </a:solidFill>
                <a:latin typeface="Inter"/>
                <a:ea typeface="Inter"/>
                <a:cs typeface="Inter"/>
                <a:sym typeface="Inter"/>
              </a:rPr>
              <a:t>Target : 34</a:t>
            </a:r>
          </a:p>
        </p:txBody>
      </p:sp>
      <p:sp>
        <p:nvSpPr>
          <p:cNvPr id="8" name="TextBox 8"/>
          <p:cNvSpPr txBox="1"/>
          <p:nvPr/>
        </p:nvSpPr>
        <p:spPr>
          <a:xfrm>
            <a:off x="12787919" y="7894128"/>
            <a:ext cx="3992189" cy="835422"/>
          </a:xfrm>
          <a:prstGeom prst="rect">
            <a:avLst/>
          </a:prstGeom>
        </p:spPr>
        <p:txBody>
          <a:bodyPr lIns="0" tIns="0" rIns="0" bIns="0" rtlCol="0" anchor="t">
            <a:spAutoFit/>
          </a:bodyPr>
          <a:lstStyle/>
          <a:p>
            <a:pPr algn="ctr">
              <a:lnSpc>
                <a:spcPts val="3358"/>
              </a:lnSpc>
            </a:pPr>
            <a:r>
              <a:rPr lang="en-US" sz="2399" dirty="0">
                <a:solidFill>
                  <a:srgbClr val="000000"/>
                </a:solidFill>
                <a:latin typeface="Inter"/>
                <a:ea typeface="Inter"/>
                <a:cs typeface="Inter"/>
                <a:sym typeface="Inter"/>
              </a:rPr>
              <a:t>5x5 Magic Square</a:t>
            </a:r>
          </a:p>
          <a:p>
            <a:pPr algn="ctr">
              <a:lnSpc>
                <a:spcPts val="3358"/>
              </a:lnSpc>
            </a:pPr>
            <a:r>
              <a:rPr lang="en-US" sz="2399" dirty="0">
                <a:solidFill>
                  <a:srgbClr val="000000"/>
                </a:solidFill>
                <a:latin typeface="Inter"/>
                <a:ea typeface="Inter"/>
                <a:cs typeface="Inter"/>
                <a:sym typeface="Inter"/>
              </a:rPr>
              <a:t>Target : 65</a:t>
            </a:r>
          </a:p>
        </p:txBody>
      </p:sp>
      <p:pic>
        <p:nvPicPr>
          <p:cNvPr id="14" name="Picture 13">
            <a:extLst>
              <a:ext uri="{FF2B5EF4-FFF2-40B4-BE49-F238E27FC236}">
                <a16:creationId xmlns:a16="http://schemas.microsoft.com/office/drawing/2014/main" id="{0654DC8C-D7AA-B481-2A6B-AA5EDD00D01C}"/>
              </a:ext>
            </a:extLst>
          </p:cNvPr>
          <p:cNvPicPr>
            <a:picLocks noChangeAspect="1"/>
          </p:cNvPicPr>
          <p:nvPr/>
        </p:nvPicPr>
        <p:blipFill>
          <a:blip r:embed="rId2"/>
          <a:stretch>
            <a:fillRect/>
          </a:stretch>
        </p:blipFill>
        <p:spPr>
          <a:xfrm>
            <a:off x="1205456" y="3011490"/>
            <a:ext cx="4722303" cy="4264020"/>
          </a:xfrm>
          <a:prstGeom prst="rect">
            <a:avLst/>
          </a:prstGeom>
          <a:ln w="19050">
            <a:solidFill>
              <a:schemeClr val="tx1"/>
            </a:solidFill>
          </a:ln>
        </p:spPr>
      </p:pic>
      <p:pic>
        <p:nvPicPr>
          <p:cNvPr id="17" name="Picture 16">
            <a:extLst>
              <a:ext uri="{FF2B5EF4-FFF2-40B4-BE49-F238E27FC236}">
                <a16:creationId xmlns:a16="http://schemas.microsoft.com/office/drawing/2014/main" id="{AE6D32B2-3372-6E2A-E3C9-1F039E2277F4}"/>
              </a:ext>
            </a:extLst>
          </p:cNvPr>
          <p:cNvPicPr>
            <a:picLocks noChangeAspect="1"/>
          </p:cNvPicPr>
          <p:nvPr/>
        </p:nvPicPr>
        <p:blipFill>
          <a:blip r:embed="rId3"/>
          <a:stretch>
            <a:fillRect/>
          </a:stretch>
        </p:blipFill>
        <p:spPr>
          <a:xfrm>
            <a:off x="6775976" y="3014406"/>
            <a:ext cx="4736047" cy="4261104"/>
          </a:xfrm>
          <a:prstGeom prst="rect">
            <a:avLst/>
          </a:prstGeom>
          <a:ln w="19050">
            <a:solidFill>
              <a:schemeClr val="tx1"/>
            </a:solidFill>
          </a:ln>
        </p:spPr>
      </p:pic>
      <p:pic>
        <p:nvPicPr>
          <p:cNvPr id="21" name="Picture 20">
            <a:extLst>
              <a:ext uri="{FF2B5EF4-FFF2-40B4-BE49-F238E27FC236}">
                <a16:creationId xmlns:a16="http://schemas.microsoft.com/office/drawing/2014/main" id="{E70EE478-2E53-AC66-213A-DC1F70F827AE}"/>
              </a:ext>
            </a:extLst>
          </p:cNvPr>
          <p:cNvPicPr>
            <a:picLocks noChangeAspect="1"/>
          </p:cNvPicPr>
          <p:nvPr/>
        </p:nvPicPr>
        <p:blipFill>
          <a:blip r:embed="rId4"/>
          <a:stretch>
            <a:fillRect/>
          </a:stretch>
        </p:blipFill>
        <p:spPr>
          <a:xfrm>
            <a:off x="12356135" y="3014406"/>
            <a:ext cx="4762803" cy="4261104"/>
          </a:xfrm>
          <a:prstGeom prst="rect">
            <a:avLst/>
          </a:prstGeom>
          <a:ln w="19050">
            <a:solidFill>
              <a:schemeClr val="tx1"/>
            </a:solid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833BC38C-7956-46B8-0F7C-A04011724408}"/>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83312844-C186-728C-A23E-292ED6B604A2}"/>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CE12A568-B227-CFD6-152C-4D8D448B93BB}"/>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1" name="TextBox 11"/>
          <p:cNvSpPr txBox="1"/>
          <p:nvPr/>
        </p:nvSpPr>
        <p:spPr>
          <a:xfrm>
            <a:off x="5156969" y="883126"/>
            <a:ext cx="8042254" cy="897682"/>
          </a:xfrm>
          <a:prstGeom prst="rect">
            <a:avLst/>
          </a:prstGeom>
        </p:spPr>
        <p:txBody>
          <a:bodyPr lIns="0" tIns="0" rIns="0" bIns="0" rtlCol="0" anchor="t">
            <a:spAutoFit/>
          </a:bodyPr>
          <a:lstStyle/>
          <a:p>
            <a:pPr algn="ctr">
              <a:lnSpc>
                <a:spcPts val="6952"/>
              </a:lnSpc>
            </a:pPr>
            <a:r>
              <a:rPr lang="en-US" sz="5400" dirty="0">
                <a:solidFill>
                  <a:srgbClr val="000000"/>
                </a:solidFill>
                <a:latin typeface="Agrandir"/>
                <a:ea typeface="Agrandir"/>
                <a:cs typeface="Agrandir"/>
                <a:sym typeface="Agrandir"/>
              </a:rPr>
              <a:t>Modes / </a:t>
            </a:r>
            <a:r>
              <a:rPr lang="ja-JP" altLang="en-US" sz="5400" dirty="0">
                <a:solidFill>
                  <a:srgbClr val="000000"/>
                </a:solidFill>
                <a:latin typeface="Agrandir"/>
                <a:ea typeface="Agrandir"/>
                <a:cs typeface="Agrandir"/>
                <a:sym typeface="Agrandir"/>
              </a:rPr>
              <a:t>モード</a:t>
            </a:r>
            <a:endParaRPr lang="en-US" sz="5400" dirty="0">
              <a:solidFill>
                <a:srgbClr val="000000"/>
              </a:solidFill>
              <a:latin typeface="Agrandir"/>
              <a:ea typeface="Agrandir"/>
              <a:cs typeface="Agrandir"/>
              <a:sym typeface="Agrandir"/>
            </a:endParaRPr>
          </a:p>
        </p:txBody>
      </p:sp>
      <p:sp>
        <p:nvSpPr>
          <p:cNvPr id="12" name="TextBox 12"/>
          <p:cNvSpPr txBox="1"/>
          <p:nvPr/>
        </p:nvSpPr>
        <p:spPr>
          <a:xfrm>
            <a:off x="176581" y="5027292"/>
            <a:ext cx="6291435" cy="422296"/>
          </a:xfrm>
          <a:prstGeom prst="rect">
            <a:avLst/>
          </a:prstGeom>
        </p:spPr>
        <p:txBody>
          <a:bodyPr lIns="0" tIns="0" rIns="0" bIns="0" rtlCol="0" anchor="t">
            <a:spAutoFit/>
          </a:bodyPr>
          <a:lstStyle/>
          <a:p>
            <a:pPr algn="ctr">
              <a:lnSpc>
                <a:spcPts val="3498"/>
              </a:lnSpc>
            </a:pPr>
            <a:r>
              <a:rPr lang="en-US" sz="2499" dirty="0">
                <a:solidFill>
                  <a:srgbClr val="000000"/>
                </a:solidFill>
                <a:latin typeface="Inter"/>
                <a:ea typeface="Inter"/>
                <a:cs typeface="Inter"/>
                <a:sym typeface="Inter"/>
              </a:rPr>
              <a:t>English / </a:t>
            </a:r>
            <a:r>
              <a:rPr lang="ja-JP" altLang="en-US" sz="2499" dirty="0">
                <a:solidFill>
                  <a:srgbClr val="000000"/>
                </a:solidFill>
                <a:latin typeface="Inter"/>
                <a:ea typeface="Inter"/>
                <a:cs typeface="Inter"/>
                <a:sym typeface="Inter"/>
              </a:rPr>
              <a:t>英語</a:t>
            </a:r>
            <a:endParaRPr lang="en-US" sz="2499" dirty="0">
              <a:solidFill>
                <a:srgbClr val="000000"/>
              </a:solidFill>
              <a:latin typeface="Inter"/>
              <a:ea typeface="Inter"/>
              <a:cs typeface="Inter"/>
              <a:sym typeface="Inter"/>
            </a:endParaRPr>
          </a:p>
        </p:txBody>
      </p:sp>
      <p:sp>
        <p:nvSpPr>
          <p:cNvPr id="13" name="TextBox 13"/>
          <p:cNvSpPr txBox="1"/>
          <p:nvPr/>
        </p:nvSpPr>
        <p:spPr>
          <a:xfrm>
            <a:off x="5741485" y="5027292"/>
            <a:ext cx="6291435" cy="422296"/>
          </a:xfrm>
          <a:prstGeom prst="rect">
            <a:avLst/>
          </a:prstGeom>
        </p:spPr>
        <p:txBody>
          <a:bodyPr lIns="0" tIns="0" rIns="0" bIns="0" rtlCol="0" anchor="t">
            <a:spAutoFit/>
          </a:bodyPr>
          <a:lstStyle/>
          <a:p>
            <a:pPr algn="ctr">
              <a:lnSpc>
                <a:spcPts val="3498"/>
              </a:lnSpc>
            </a:pPr>
            <a:r>
              <a:rPr lang="en-US" sz="2499" dirty="0">
                <a:solidFill>
                  <a:srgbClr val="000000"/>
                </a:solidFill>
                <a:latin typeface="Inter"/>
                <a:ea typeface="Inter"/>
                <a:cs typeface="Inter"/>
                <a:sym typeface="Inter"/>
              </a:rPr>
              <a:t>Japanese / </a:t>
            </a:r>
            <a:r>
              <a:rPr lang="ja-JP" altLang="en-US" sz="2499" dirty="0">
                <a:solidFill>
                  <a:srgbClr val="000000"/>
                </a:solidFill>
                <a:latin typeface="Inter"/>
                <a:ea typeface="Inter"/>
                <a:cs typeface="Inter"/>
                <a:sym typeface="Inter"/>
              </a:rPr>
              <a:t>日本語</a:t>
            </a:r>
            <a:endParaRPr lang="en-US" sz="2499" dirty="0">
              <a:solidFill>
                <a:srgbClr val="000000"/>
              </a:solidFill>
              <a:latin typeface="Inter"/>
              <a:ea typeface="Inter"/>
              <a:cs typeface="Inter"/>
              <a:sym typeface="Inter"/>
            </a:endParaRPr>
          </a:p>
        </p:txBody>
      </p:sp>
      <p:sp>
        <p:nvSpPr>
          <p:cNvPr id="14" name="TextBox 14"/>
          <p:cNvSpPr txBox="1"/>
          <p:nvPr/>
        </p:nvSpPr>
        <p:spPr>
          <a:xfrm>
            <a:off x="11762754" y="5050875"/>
            <a:ext cx="6291435" cy="422296"/>
          </a:xfrm>
          <a:prstGeom prst="rect">
            <a:avLst/>
          </a:prstGeom>
        </p:spPr>
        <p:txBody>
          <a:bodyPr lIns="0" tIns="0" rIns="0" bIns="0" rtlCol="0" anchor="t">
            <a:spAutoFit/>
          </a:bodyPr>
          <a:lstStyle/>
          <a:p>
            <a:pPr algn="ctr">
              <a:lnSpc>
                <a:spcPts val="3498"/>
              </a:lnSpc>
            </a:pPr>
            <a:r>
              <a:rPr lang="en-US" sz="2499" dirty="0">
                <a:solidFill>
                  <a:srgbClr val="000000"/>
                </a:solidFill>
                <a:latin typeface="Inter"/>
                <a:ea typeface="Inter"/>
                <a:cs typeface="Inter"/>
                <a:sym typeface="Inter"/>
              </a:rPr>
              <a:t>Thai / </a:t>
            </a:r>
            <a:r>
              <a:rPr lang="ja-JP" altLang="en-US" sz="2499" dirty="0">
                <a:solidFill>
                  <a:srgbClr val="000000"/>
                </a:solidFill>
                <a:latin typeface="Inter"/>
                <a:ea typeface="Inter"/>
                <a:cs typeface="Inter"/>
                <a:sym typeface="Inter"/>
              </a:rPr>
              <a:t>タイ語</a:t>
            </a:r>
            <a:endParaRPr lang="en-US" sz="2499" dirty="0">
              <a:solidFill>
                <a:srgbClr val="000000"/>
              </a:solidFill>
              <a:latin typeface="Inter"/>
              <a:ea typeface="Inter"/>
              <a:cs typeface="Inter"/>
              <a:sym typeface="Inter"/>
            </a:endParaRPr>
          </a:p>
        </p:txBody>
      </p:sp>
      <p:pic>
        <p:nvPicPr>
          <p:cNvPr id="3" name="Picture 2">
            <a:extLst>
              <a:ext uri="{FF2B5EF4-FFF2-40B4-BE49-F238E27FC236}">
                <a16:creationId xmlns:a16="http://schemas.microsoft.com/office/drawing/2014/main" id="{E9D0124B-E14A-7604-B4A9-46B651148820}"/>
              </a:ext>
            </a:extLst>
          </p:cNvPr>
          <p:cNvPicPr>
            <a:picLocks noChangeAspect="1"/>
          </p:cNvPicPr>
          <p:nvPr/>
        </p:nvPicPr>
        <p:blipFill>
          <a:blip r:embed="rId2"/>
          <a:stretch>
            <a:fillRect/>
          </a:stretch>
        </p:blipFill>
        <p:spPr>
          <a:xfrm>
            <a:off x="1766881" y="1940509"/>
            <a:ext cx="3355992" cy="3006704"/>
          </a:xfrm>
          <a:prstGeom prst="rect">
            <a:avLst/>
          </a:prstGeom>
          <a:ln w="19050">
            <a:solidFill>
              <a:schemeClr val="tx1"/>
            </a:solidFill>
          </a:ln>
        </p:spPr>
      </p:pic>
      <p:pic>
        <p:nvPicPr>
          <p:cNvPr id="17" name="Picture 16">
            <a:extLst>
              <a:ext uri="{FF2B5EF4-FFF2-40B4-BE49-F238E27FC236}">
                <a16:creationId xmlns:a16="http://schemas.microsoft.com/office/drawing/2014/main" id="{1A189197-4EE5-13FF-C1D1-EB58A4B041AA}"/>
              </a:ext>
            </a:extLst>
          </p:cNvPr>
          <p:cNvPicPr>
            <a:picLocks noChangeAspect="1"/>
          </p:cNvPicPr>
          <p:nvPr/>
        </p:nvPicPr>
        <p:blipFill>
          <a:blip r:embed="rId3"/>
          <a:stretch>
            <a:fillRect/>
          </a:stretch>
        </p:blipFill>
        <p:spPr>
          <a:xfrm>
            <a:off x="7448954" y="1940508"/>
            <a:ext cx="3384205" cy="3007148"/>
          </a:xfrm>
          <a:prstGeom prst="rect">
            <a:avLst/>
          </a:prstGeom>
          <a:ln w="19050">
            <a:solidFill>
              <a:schemeClr val="tx1"/>
            </a:solidFill>
          </a:ln>
        </p:spPr>
      </p:pic>
      <p:pic>
        <p:nvPicPr>
          <p:cNvPr id="21" name="Picture 20">
            <a:extLst>
              <a:ext uri="{FF2B5EF4-FFF2-40B4-BE49-F238E27FC236}">
                <a16:creationId xmlns:a16="http://schemas.microsoft.com/office/drawing/2014/main" id="{B5E27461-B757-5E0D-31B6-D89166AB51DA}"/>
              </a:ext>
            </a:extLst>
          </p:cNvPr>
          <p:cNvPicPr>
            <a:picLocks noChangeAspect="1"/>
          </p:cNvPicPr>
          <p:nvPr/>
        </p:nvPicPr>
        <p:blipFill>
          <a:blip r:embed="rId4"/>
          <a:stretch>
            <a:fillRect/>
          </a:stretch>
        </p:blipFill>
        <p:spPr>
          <a:xfrm>
            <a:off x="13042906" y="1940508"/>
            <a:ext cx="3373873" cy="3007148"/>
          </a:xfrm>
          <a:prstGeom prst="rect">
            <a:avLst/>
          </a:prstGeom>
          <a:ln w="19050">
            <a:solidFill>
              <a:schemeClr val="tx1"/>
            </a:solidFill>
          </a:ln>
        </p:spPr>
      </p:pic>
      <p:pic>
        <p:nvPicPr>
          <p:cNvPr id="8" name="Picture 7">
            <a:extLst>
              <a:ext uri="{FF2B5EF4-FFF2-40B4-BE49-F238E27FC236}">
                <a16:creationId xmlns:a16="http://schemas.microsoft.com/office/drawing/2014/main" id="{13253C62-93D1-7C0D-95DA-3752A4E3793E}"/>
              </a:ext>
            </a:extLst>
          </p:cNvPr>
          <p:cNvPicPr>
            <a:picLocks noChangeAspect="1"/>
          </p:cNvPicPr>
          <p:nvPr/>
        </p:nvPicPr>
        <p:blipFill>
          <a:blip r:embed="rId5"/>
          <a:stretch>
            <a:fillRect/>
          </a:stretch>
        </p:blipFill>
        <p:spPr>
          <a:xfrm>
            <a:off x="4361840" y="5844354"/>
            <a:ext cx="3341078" cy="3008376"/>
          </a:xfrm>
          <a:prstGeom prst="rect">
            <a:avLst/>
          </a:prstGeom>
          <a:ln w="19050">
            <a:solidFill>
              <a:schemeClr val="tx1"/>
            </a:solidFill>
          </a:ln>
        </p:spPr>
      </p:pic>
      <p:pic>
        <p:nvPicPr>
          <p:cNvPr id="2" name="Picture 1">
            <a:extLst>
              <a:ext uri="{FF2B5EF4-FFF2-40B4-BE49-F238E27FC236}">
                <a16:creationId xmlns:a16="http://schemas.microsoft.com/office/drawing/2014/main" id="{6A65D053-6955-6B43-63A0-F99C260654FD}"/>
              </a:ext>
            </a:extLst>
          </p:cNvPr>
          <p:cNvPicPr>
            <a:picLocks noChangeAspect="1"/>
          </p:cNvPicPr>
          <p:nvPr/>
        </p:nvPicPr>
        <p:blipFill>
          <a:blip r:embed="rId6"/>
          <a:stretch>
            <a:fillRect/>
          </a:stretch>
        </p:blipFill>
        <p:spPr>
          <a:xfrm>
            <a:off x="10124142" y="5844354"/>
            <a:ext cx="3411072" cy="3008376"/>
          </a:xfrm>
          <a:prstGeom prst="rect">
            <a:avLst/>
          </a:prstGeom>
          <a:ln w="19050">
            <a:solidFill>
              <a:schemeClr val="tx1"/>
            </a:solidFill>
          </a:ln>
        </p:spPr>
      </p:pic>
      <p:sp>
        <p:nvSpPr>
          <p:cNvPr id="10" name="TextBox 10"/>
          <p:cNvSpPr txBox="1"/>
          <p:nvPr/>
        </p:nvSpPr>
        <p:spPr>
          <a:xfrm>
            <a:off x="3048000" y="9100612"/>
            <a:ext cx="6291435" cy="422296"/>
          </a:xfrm>
          <a:prstGeom prst="rect">
            <a:avLst/>
          </a:prstGeom>
        </p:spPr>
        <p:txBody>
          <a:bodyPr lIns="0" tIns="0" rIns="0" bIns="0" rtlCol="0" anchor="t">
            <a:spAutoFit/>
          </a:bodyPr>
          <a:lstStyle/>
          <a:p>
            <a:pPr algn="ctr">
              <a:lnSpc>
                <a:spcPts val="3498"/>
              </a:lnSpc>
            </a:pPr>
            <a:r>
              <a:rPr lang="en-US" sz="2499" dirty="0">
                <a:solidFill>
                  <a:srgbClr val="000000"/>
                </a:solidFill>
                <a:latin typeface="Inter"/>
                <a:ea typeface="Inter"/>
                <a:cs typeface="Inter"/>
                <a:sym typeface="Inter"/>
              </a:rPr>
              <a:t>Emoji / </a:t>
            </a:r>
            <a:r>
              <a:rPr lang="ja-JP" altLang="en-US" sz="2499" dirty="0">
                <a:solidFill>
                  <a:srgbClr val="000000"/>
                </a:solidFill>
                <a:latin typeface="Inter"/>
                <a:ea typeface="Inter"/>
                <a:cs typeface="Inter"/>
                <a:sym typeface="Inter"/>
              </a:rPr>
              <a:t>絵文字</a:t>
            </a:r>
            <a:endParaRPr lang="en-US" sz="2499" dirty="0">
              <a:solidFill>
                <a:srgbClr val="000000"/>
              </a:solidFill>
              <a:latin typeface="Inter"/>
              <a:ea typeface="Inter"/>
              <a:cs typeface="Inter"/>
              <a:sym typeface="Inter"/>
            </a:endParaRPr>
          </a:p>
        </p:txBody>
      </p:sp>
      <p:sp>
        <p:nvSpPr>
          <p:cNvPr id="4" name="TextBox 11"/>
          <p:cNvSpPr txBox="1"/>
          <p:nvPr/>
        </p:nvSpPr>
        <p:spPr>
          <a:xfrm>
            <a:off x="8839200" y="9100612"/>
            <a:ext cx="6291435" cy="422296"/>
          </a:xfrm>
          <a:prstGeom prst="rect">
            <a:avLst/>
          </a:prstGeom>
        </p:spPr>
        <p:txBody>
          <a:bodyPr lIns="0" tIns="0" rIns="0" bIns="0" rtlCol="0" anchor="t">
            <a:spAutoFit/>
          </a:bodyPr>
          <a:lstStyle/>
          <a:p>
            <a:pPr algn="ctr">
              <a:lnSpc>
                <a:spcPts val="3498"/>
              </a:lnSpc>
            </a:pPr>
            <a:r>
              <a:rPr lang="en-US" sz="2499" dirty="0">
                <a:solidFill>
                  <a:srgbClr val="000000"/>
                </a:solidFill>
                <a:latin typeface="Inter"/>
                <a:ea typeface="Inter"/>
                <a:cs typeface="Inter"/>
                <a:sym typeface="Inter"/>
              </a:rPr>
              <a:t>Symbols / </a:t>
            </a:r>
            <a:r>
              <a:rPr lang="ja-JP" altLang="en-US" sz="2499" dirty="0">
                <a:solidFill>
                  <a:srgbClr val="000000"/>
                </a:solidFill>
                <a:latin typeface="Inter"/>
                <a:ea typeface="Inter"/>
                <a:cs typeface="Inter"/>
                <a:sym typeface="Inter"/>
              </a:rPr>
              <a:t>記号</a:t>
            </a:r>
            <a:endParaRPr lang="en-US" sz="2499" dirty="0">
              <a:solidFill>
                <a:srgbClr val="000000"/>
              </a:solidFill>
              <a:latin typeface="Inter"/>
              <a:ea typeface="Inter"/>
              <a:cs typeface="Inter"/>
              <a:sym typeface="Inter"/>
            </a:endParaRPr>
          </a:p>
        </p:txBody>
      </p:sp>
    </p:spTree>
    <p:extLst>
      <p:ext uri="{BB962C8B-B14F-4D97-AF65-F5344CB8AC3E}">
        <p14:creationId xmlns:p14="http://schemas.microsoft.com/office/powerpoint/2010/main" val="1340498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9E1EBC88-E40B-8B6C-A053-ADBE242003EA}"/>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097718B7-4F4B-F5C9-BA87-5541CE452C96}"/>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A0D70284-0B1C-4738-E564-625ADAB77F14}"/>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240581D1-B383-DA21-7112-99F06CE52EDB}"/>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1" name="TextBox 11">
            <a:extLst>
              <a:ext uri="{FF2B5EF4-FFF2-40B4-BE49-F238E27FC236}">
                <a16:creationId xmlns:a16="http://schemas.microsoft.com/office/drawing/2014/main" id="{933AF726-1024-0C4E-2DDB-6E3667CDF4C3}"/>
              </a:ext>
            </a:extLst>
          </p:cNvPr>
          <p:cNvSpPr txBox="1"/>
          <p:nvPr/>
        </p:nvSpPr>
        <p:spPr>
          <a:xfrm>
            <a:off x="5571663" y="4370146"/>
            <a:ext cx="8042254" cy="1795363"/>
          </a:xfrm>
          <a:prstGeom prst="rect">
            <a:avLst/>
          </a:prstGeom>
        </p:spPr>
        <p:txBody>
          <a:bodyPr lIns="0" tIns="0" rIns="0" bIns="0" rtlCol="0" anchor="t">
            <a:spAutoFit/>
          </a:bodyPr>
          <a:lstStyle/>
          <a:p>
            <a:pPr algn="ctr">
              <a:lnSpc>
                <a:spcPts val="6952"/>
              </a:lnSpc>
            </a:pPr>
            <a:r>
              <a:rPr lang="en-US" sz="5400" dirty="0">
                <a:solidFill>
                  <a:srgbClr val="000000"/>
                </a:solidFill>
                <a:latin typeface="Agrandir"/>
                <a:ea typeface="Agrandir"/>
                <a:cs typeface="Agrandir"/>
                <a:sym typeface="Agrandir"/>
              </a:rPr>
              <a:t>Pattern / </a:t>
            </a:r>
          </a:p>
          <a:p>
            <a:pPr algn="ctr">
              <a:lnSpc>
                <a:spcPts val="6952"/>
              </a:lnSpc>
            </a:pPr>
            <a:r>
              <a:rPr lang="ja-JP" altLang="en-US" sz="5400" dirty="0">
                <a:solidFill>
                  <a:srgbClr val="000000"/>
                </a:solidFill>
                <a:latin typeface="Agrandir"/>
                <a:ea typeface="Agrandir"/>
                <a:cs typeface="Agrandir"/>
                <a:sym typeface="Agrandir"/>
              </a:rPr>
              <a:t>パターン</a:t>
            </a:r>
            <a:endParaRPr lang="en-US" sz="5400" dirty="0">
              <a:solidFill>
                <a:srgbClr val="000000"/>
              </a:solidFill>
              <a:latin typeface="Agrandir"/>
              <a:ea typeface="Agrandir"/>
              <a:cs typeface="Agrandir"/>
              <a:sym typeface="Agrandir"/>
            </a:endParaRPr>
          </a:p>
        </p:txBody>
      </p:sp>
      <p:pic>
        <p:nvPicPr>
          <p:cNvPr id="9" name="Picture 8">
            <a:extLst>
              <a:ext uri="{FF2B5EF4-FFF2-40B4-BE49-F238E27FC236}">
                <a16:creationId xmlns:a16="http://schemas.microsoft.com/office/drawing/2014/main" id="{01651B71-F9AF-C793-1125-501BF5FBB578}"/>
              </a:ext>
            </a:extLst>
          </p:cNvPr>
          <p:cNvPicPr>
            <a:picLocks noChangeAspect="1"/>
          </p:cNvPicPr>
          <p:nvPr/>
        </p:nvPicPr>
        <p:blipFill>
          <a:blip r:embed="rId2"/>
          <a:stretch>
            <a:fillRect/>
          </a:stretch>
        </p:blipFill>
        <p:spPr>
          <a:xfrm>
            <a:off x="12268200" y="1157232"/>
            <a:ext cx="3959438" cy="3474720"/>
          </a:xfrm>
          <a:prstGeom prst="rect">
            <a:avLst/>
          </a:prstGeom>
          <a:ln w="19050">
            <a:solidFill>
              <a:schemeClr val="tx1"/>
            </a:solidFill>
          </a:ln>
        </p:spPr>
      </p:pic>
      <p:pic>
        <p:nvPicPr>
          <p:cNvPr id="15" name="Picture 14">
            <a:extLst>
              <a:ext uri="{FF2B5EF4-FFF2-40B4-BE49-F238E27FC236}">
                <a16:creationId xmlns:a16="http://schemas.microsoft.com/office/drawing/2014/main" id="{C972554F-D436-B0CB-18E7-A9212AAAF40F}"/>
              </a:ext>
            </a:extLst>
          </p:cNvPr>
          <p:cNvPicPr>
            <a:picLocks noChangeAspect="1"/>
          </p:cNvPicPr>
          <p:nvPr/>
        </p:nvPicPr>
        <p:blipFill>
          <a:blip r:embed="rId3"/>
          <a:stretch>
            <a:fillRect/>
          </a:stretch>
        </p:blipFill>
        <p:spPr>
          <a:xfrm>
            <a:off x="3060765" y="1157232"/>
            <a:ext cx="3832720" cy="3474720"/>
          </a:xfrm>
          <a:prstGeom prst="rect">
            <a:avLst/>
          </a:prstGeom>
          <a:ln w="19050">
            <a:solidFill>
              <a:schemeClr val="tx1"/>
            </a:solidFill>
          </a:ln>
        </p:spPr>
      </p:pic>
      <p:pic>
        <p:nvPicPr>
          <p:cNvPr id="16" name="Picture 15">
            <a:extLst>
              <a:ext uri="{FF2B5EF4-FFF2-40B4-BE49-F238E27FC236}">
                <a16:creationId xmlns:a16="http://schemas.microsoft.com/office/drawing/2014/main" id="{EF292264-127C-F208-3811-20063E859B1B}"/>
              </a:ext>
            </a:extLst>
          </p:cNvPr>
          <p:cNvPicPr>
            <a:picLocks noChangeAspect="1"/>
          </p:cNvPicPr>
          <p:nvPr/>
        </p:nvPicPr>
        <p:blipFill>
          <a:blip r:embed="rId4"/>
          <a:stretch>
            <a:fillRect/>
          </a:stretch>
        </p:blipFill>
        <p:spPr>
          <a:xfrm>
            <a:off x="3060765" y="5397149"/>
            <a:ext cx="3856614" cy="3474720"/>
          </a:xfrm>
          <a:prstGeom prst="rect">
            <a:avLst/>
          </a:prstGeom>
          <a:ln w="19050">
            <a:solidFill>
              <a:schemeClr val="tx1"/>
            </a:solidFill>
          </a:ln>
        </p:spPr>
      </p:pic>
      <p:pic>
        <p:nvPicPr>
          <p:cNvPr id="18" name="Picture 17">
            <a:extLst>
              <a:ext uri="{FF2B5EF4-FFF2-40B4-BE49-F238E27FC236}">
                <a16:creationId xmlns:a16="http://schemas.microsoft.com/office/drawing/2014/main" id="{47281C87-56F1-83DB-9D7C-12E8F003CC46}"/>
              </a:ext>
            </a:extLst>
          </p:cNvPr>
          <p:cNvPicPr>
            <a:picLocks noChangeAspect="1"/>
          </p:cNvPicPr>
          <p:nvPr/>
        </p:nvPicPr>
        <p:blipFill>
          <a:blip r:embed="rId5"/>
          <a:stretch>
            <a:fillRect/>
          </a:stretch>
        </p:blipFill>
        <p:spPr>
          <a:xfrm>
            <a:off x="12268200" y="5397149"/>
            <a:ext cx="3862596" cy="3474720"/>
          </a:xfrm>
          <a:prstGeom prst="rect">
            <a:avLst/>
          </a:prstGeom>
          <a:ln w="19050">
            <a:solidFill>
              <a:schemeClr val="tx1"/>
            </a:solidFill>
          </a:ln>
        </p:spPr>
      </p:pic>
      <p:sp>
        <p:nvSpPr>
          <p:cNvPr id="19" name="TextBox 10">
            <a:extLst>
              <a:ext uri="{FF2B5EF4-FFF2-40B4-BE49-F238E27FC236}">
                <a16:creationId xmlns:a16="http://schemas.microsoft.com/office/drawing/2014/main" id="{9E389DFF-89B1-6839-EF84-8CE6977D85C5}"/>
              </a:ext>
            </a:extLst>
          </p:cNvPr>
          <p:cNvSpPr txBox="1"/>
          <p:nvPr/>
        </p:nvSpPr>
        <p:spPr>
          <a:xfrm>
            <a:off x="1831407" y="4726533"/>
            <a:ext cx="6291435" cy="422296"/>
          </a:xfrm>
          <a:prstGeom prst="rect">
            <a:avLst/>
          </a:prstGeom>
        </p:spPr>
        <p:txBody>
          <a:bodyPr lIns="0" tIns="0" rIns="0" bIns="0" rtlCol="0" anchor="t">
            <a:spAutoFit/>
          </a:bodyPr>
          <a:lstStyle/>
          <a:p>
            <a:pPr algn="ctr">
              <a:lnSpc>
                <a:spcPts val="3498"/>
              </a:lnSpc>
            </a:pPr>
            <a:r>
              <a:rPr lang="en-US" sz="2499" dirty="0">
                <a:solidFill>
                  <a:srgbClr val="000000"/>
                </a:solidFill>
                <a:latin typeface="Inter"/>
                <a:ea typeface="Inter"/>
                <a:cs typeface="Inter"/>
                <a:sym typeface="Inter"/>
              </a:rPr>
              <a:t>Horizontal / </a:t>
            </a:r>
            <a:r>
              <a:rPr lang="ja-JP" altLang="en-US" sz="2499" dirty="0">
                <a:solidFill>
                  <a:srgbClr val="000000"/>
                </a:solidFill>
                <a:latin typeface="Inter"/>
                <a:ea typeface="Inter"/>
                <a:cs typeface="Inter"/>
                <a:sym typeface="Inter"/>
              </a:rPr>
              <a:t>水平</a:t>
            </a:r>
            <a:endParaRPr lang="en-US" sz="2499" dirty="0">
              <a:solidFill>
                <a:srgbClr val="000000"/>
              </a:solidFill>
              <a:latin typeface="Inter"/>
              <a:ea typeface="Inter"/>
              <a:cs typeface="Inter"/>
              <a:sym typeface="Inter"/>
            </a:endParaRPr>
          </a:p>
        </p:txBody>
      </p:sp>
      <p:sp>
        <p:nvSpPr>
          <p:cNvPr id="20" name="TextBox 11">
            <a:extLst>
              <a:ext uri="{FF2B5EF4-FFF2-40B4-BE49-F238E27FC236}">
                <a16:creationId xmlns:a16="http://schemas.microsoft.com/office/drawing/2014/main" id="{4F4D70C6-E3DC-92E1-A563-01A0DCB006BB}"/>
              </a:ext>
            </a:extLst>
          </p:cNvPr>
          <p:cNvSpPr txBox="1"/>
          <p:nvPr/>
        </p:nvSpPr>
        <p:spPr>
          <a:xfrm>
            <a:off x="11032171" y="4726533"/>
            <a:ext cx="6291435" cy="411972"/>
          </a:xfrm>
          <a:prstGeom prst="rect">
            <a:avLst/>
          </a:prstGeom>
        </p:spPr>
        <p:txBody>
          <a:bodyPr lIns="0" tIns="0" rIns="0" bIns="0" rtlCol="0" anchor="t">
            <a:spAutoFit/>
          </a:bodyPr>
          <a:lstStyle/>
          <a:p>
            <a:pPr algn="ctr">
              <a:lnSpc>
                <a:spcPts val="3498"/>
              </a:lnSpc>
            </a:pPr>
            <a:r>
              <a:rPr lang="en-US" sz="2499" dirty="0">
                <a:solidFill>
                  <a:srgbClr val="000000"/>
                </a:solidFill>
                <a:latin typeface="Inter"/>
                <a:ea typeface="Inter"/>
                <a:cs typeface="Inter"/>
                <a:sym typeface="Inter"/>
              </a:rPr>
              <a:t>Vertical / </a:t>
            </a:r>
            <a:r>
              <a:rPr lang="ja-JP" altLang="en-US" sz="2499" dirty="0">
                <a:solidFill>
                  <a:srgbClr val="000000"/>
                </a:solidFill>
                <a:latin typeface="Inter"/>
                <a:ea typeface="Inter"/>
                <a:cs typeface="Inter"/>
                <a:sym typeface="Inter"/>
              </a:rPr>
              <a:t>垂直</a:t>
            </a:r>
            <a:endParaRPr lang="en-US" sz="2499" dirty="0">
              <a:solidFill>
                <a:srgbClr val="000000"/>
              </a:solidFill>
              <a:latin typeface="Inter"/>
              <a:ea typeface="Inter"/>
              <a:cs typeface="Inter"/>
              <a:sym typeface="Inter"/>
            </a:endParaRPr>
          </a:p>
        </p:txBody>
      </p:sp>
      <p:sp>
        <p:nvSpPr>
          <p:cNvPr id="22" name="TextBox 10">
            <a:extLst>
              <a:ext uri="{FF2B5EF4-FFF2-40B4-BE49-F238E27FC236}">
                <a16:creationId xmlns:a16="http://schemas.microsoft.com/office/drawing/2014/main" id="{09B3C224-FF54-D322-B721-A71126137D2E}"/>
              </a:ext>
            </a:extLst>
          </p:cNvPr>
          <p:cNvSpPr txBox="1"/>
          <p:nvPr/>
        </p:nvSpPr>
        <p:spPr>
          <a:xfrm>
            <a:off x="1831406" y="9009613"/>
            <a:ext cx="6291435" cy="422296"/>
          </a:xfrm>
          <a:prstGeom prst="rect">
            <a:avLst/>
          </a:prstGeom>
        </p:spPr>
        <p:txBody>
          <a:bodyPr lIns="0" tIns="0" rIns="0" bIns="0" rtlCol="0" anchor="t">
            <a:spAutoFit/>
          </a:bodyPr>
          <a:lstStyle/>
          <a:p>
            <a:pPr algn="ctr">
              <a:lnSpc>
                <a:spcPts val="3498"/>
              </a:lnSpc>
            </a:pPr>
            <a:r>
              <a:rPr lang="en-US" sz="2499" dirty="0">
                <a:solidFill>
                  <a:srgbClr val="000000"/>
                </a:solidFill>
                <a:latin typeface="Inter"/>
                <a:ea typeface="Inter"/>
                <a:cs typeface="Inter"/>
                <a:sym typeface="Inter"/>
              </a:rPr>
              <a:t>Diagonal / </a:t>
            </a:r>
            <a:r>
              <a:rPr lang="ja-JP" altLang="en-US" sz="2499" dirty="0">
                <a:solidFill>
                  <a:srgbClr val="000000"/>
                </a:solidFill>
                <a:latin typeface="Inter"/>
                <a:ea typeface="Inter"/>
                <a:cs typeface="Inter"/>
                <a:sym typeface="Inter"/>
              </a:rPr>
              <a:t>対角線</a:t>
            </a:r>
            <a:endParaRPr lang="en-US" sz="2499" dirty="0">
              <a:solidFill>
                <a:srgbClr val="000000"/>
              </a:solidFill>
              <a:latin typeface="Inter"/>
              <a:ea typeface="Inter"/>
              <a:cs typeface="Inter"/>
              <a:sym typeface="Inter"/>
            </a:endParaRPr>
          </a:p>
        </p:txBody>
      </p:sp>
      <p:sp>
        <p:nvSpPr>
          <p:cNvPr id="23" name="TextBox 11">
            <a:extLst>
              <a:ext uri="{FF2B5EF4-FFF2-40B4-BE49-F238E27FC236}">
                <a16:creationId xmlns:a16="http://schemas.microsoft.com/office/drawing/2014/main" id="{1F5A4D38-14CA-C9A1-2DA0-B9A2E8393615}"/>
              </a:ext>
            </a:extLst>
          </p:cNvPr>
          <p:cNvSpPr txBox="1"/>
          <p:nvPr/>
        </p:nvSpPr>
        <p:spPr>
          <a:xfrm>
            <a:off x="11053780" y="8981085"/>
            <a:ext cx="6291435" cy="411972"/>
          </a:xfrm>
          <a:prstGeom prst="rect">
            <a:avLst/>
          </a:prstGeom>
        </p:spPr>
        <p:txBody>
          <a:bodyPr lIns="0" tIns="0" rIns="0" bIns="0" rtlCol="0" anchor="t">
            <a:spAutoFit/>
          </a:bodyPr>
          <a:lstStyle/>
          <a:p>
            <a:pPr algn="ctr">
              <a:lnSpc>
                <a:spcPts val="3498"/>
              </a:lnSpc>
            </a:pPr>
            <a:r>
              <a:rPr lang="en-US" sz="2499" dirty="0">
                <a:solidFill>
                  <a:srgbClr val="000000"/>
                </a:solidFill>
                <a:latin typeface="Inter"/>
                <a:ea typeface="Inter"/>
                <a:cs typeface="Inter"/>
                <a:sym typeface="Inter"/>
              </a:rPr>
              <a:t>Random All / </a:t>
            </a:r>
            <a:r>
              <a:rPr lang="ja-JP" altLang="en-US" sz="2499" dirty="0">
                <a:solidFill>
                  <a:srgbClr val="000000"/>
                </a:solidFill>
                <a:latin typeface="Inter"/>
                <a:ea typeface="Inter"/>
                <a:cs typeface="Inter"/>
                <a:sym typeface="Inter"/>
              </a:rPr>
              <a:t>すべてシャッフル</a:t>
            </a:r>
            <a:endParaRPr lang="en-US" sz="2499" dirty="0">
              <a:solidFill>
                <a:srgbClr val="000000"/>
              </a:solidFill>
              <a:latin typeface="Inter"/>
              <a:ea typeface="Inter"/>
              <a:cs typeface="Inter"/>
              <a:sym typeface="Inter"/>
            </a:endParaRPr>
          </a:p>
        </p:txBody>
      </p:sp>
    </p:spTree>
    <p:extLst>
      <p:ext uri="{BB962C8B-B14F-4D97-AF65-F5344CB8AC3E}">
        <p14:creationId xmlns:p14="http://schemas.microsoft.com/office/powerpoint/2010/main" val="4214542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5720285E-382B-EA70-7C50-77CEAAA107E9}"/>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6EAD5981-996E-3EAE-1B3C-56F30C781A9F}"/>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785DD200-0298-DB37-DB7E-E21681282173}"/>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0" name="Freeform 4">
              <a:extLst>
                <a:ext uri="{FF2B5EF4-FFF2-40B4-BE49-F238E27FC236}">
                  <a16:creationId xmlns:a16="http://schemas.microsoft.com/office/drawing/2014/main" id="{2895C781-9AB4-2671-9416-43B783DD213F}"/>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9" name="TextBox 9">
            <a:extLst>
              <a:ext uri="{FF2B5EF4-FFF2-40B4-BE49-F238E27FC236}">
                <a16:creationId xmlns:a16="http://schemas.microsoft.com/office/drawing/2014/main" id="{B15D339E-E4DF-EE61-25F4-C141C38B1D80}"/>
              </a:ext>
            </a:extLst>
          </p:cNvPr>
          <p:cNvSpPr txBox="1"/>
          <p:nvPr/>
        </p:nvSpPr>
        <p:spPr>
          <a:xfrm>
            <a:off x="3225545" y="1269723"/>
            <a:ext cx="12707927" cy="897682"/>
          </a:xfrm>
          <a:prstGeom prst="rect">
            <a:avLst/>
          </a:prstGeom>
        </p:spPr>
        <p:txBody>
          <a:bodyPr wrap="square" lIns="0" tIns="0" rIns="0" bIns="0" rtlCol="0" anchor="t">
            <a:spAutoFit/>
          </a:bodyPr>
          <a:lstStyle/>
          <a:p>
            <a:pPr algn="ctr">
              <a:lnSpc>
                <a:spcPts val="6952"/>
              </a:lnSpc>
            </a:pPr>
            <a:r>
              <a:rPr lang="en-US" sz="5400" dirty="0">
                <a:solidFill>
                  <a:srgbClr val="000000"/>
                </a:solidFill>
                <a:latin typeface="Agrandir"/>
                <a:ea typeface="Agrandir"/>
                <a:cs typeface="Agrandir"/>
                <a:sym typeface="Agrandir"/>
              </a:rPr>
              <a:t>Styles / </a:t>
            </a:r>
            <a:r>
              <a:rPr lang="ja-JP" altLang="en-US" sz="5400" dirty="0">
                <a:solidFill>
                  <a:srgbClr val="000000"/>
                </a:solidFill>
                <a:latin typeface="Agrandir"/>
                <a:ea typeface="Agrandir"/>
                <a:cs typeface="Agrandir"/>
                <a:sym typeface="Agrandir"/>
              </a:rPr>
              <a:t>スタイル</a:t>
            </a:r>
            <a:endParaRPr lang="en-US" sz="5400" dirty="0">
              <a:solidFill>
                <a:srgbClr val="000000"/>
              </a:solidFill>
              <a:latin typeface="Agrandir"/>
              <a:ea typeface="Agrandir"/>
              <a:cs typeface="Agrandir"/>
              <a:sym typeface="Agrandir"/>
            </a:endParaRPr>
          </a:p>
        </p:txBody>
      </p:sp>
      <p:sp>
        <p:nvSpPr>
          <p:cNvPr id="12" name="TextBox 7">
            <a:extLst>
              <a:ext uri="{FF2B5EF4-FFF2-40B4-BE49-F238E27FC236}">
                <a16:creationId xmlns:a16="http://schemas.microsoft.com/office/drawing/2014/main" id="{7FC2FE92-B967-5124-8486-43BBD397F4E5}"/>
              </a:ext>
            </a:extLst>
          </p:cNvPr>
          <p:cNvSpPr txBox="1"/>
          <p:nvPr/>
        </p:nvSpPr>
        <p:spPr>
          <a:xfrm>
            <a:off x="9579509" y="8303300"/>
            <a:ext cx="8042254" cy="801951"/>
          </a:xfrm>
          <a:prstGeom prst="rect">
            <a:avLst/>
          </a:prstGeom>
        </p:spPr>
        <p:txBody>
          <a:bodyPr wrap="square" lIns="0" tIns="0" rIns="0" bIns="0" rtlCol="0" anchor="t">
            <a:spAutoFit/>
          </a:bodyPr>
          <a:lstStyle/>
          <a:p>
            <a:pPr algn="ctr">
              <a:lnSpc>
                <a:spcPts val="6952"/>
              </a:lnSpc>
            </a:pPr>
            <a:r>
              <a:rPr lang="en-US" sz="3600" dirty="0">
                <a:solidFill>
                  <a:srgbClr val="000000"/>
                </a:solidFill>
                <a:latin typeface="Agrandir"/>
                <a:ea typeface="Agrandir"/>
                <a:cs typeface="Agrandir"/>
                <a:sym typeface="Agrandir"/>
              </a:rPr>
              <a:t>Creative / </a:t>
            </a:r>
            <a:r>
              <a:rPr lang="ja-JP" altLang="en-US" sz="3600" dirty="0">
                <a:solidFill>
                  <a:srgbClr val="000000"/>
                </a:solidFill>
                <a:latin typeface="Agrandir"/>
                <a:ea typeface="Agrandir"/>
                <a:cs typeface="Agrandir"/>
                <a:sym typeface="Agrandir"/>
              </a:rPr>
              <a:t>クリエイティブ</a:t>
            </a:r>
            <a:endParaRPr lang="en-US" sz="3600" dirty="0">
              <a:solidFill>
                <a:srgbClr val="000000"/>
              </a:solidFill>
              <a:latin typeface="Agrandir"/>
              <a:ea typeface="Agrandir"/>
              <a:cs typeface="Agrandir"/>
              <a:sym typeface="Agrandir"/>
            </a:endParaRPr>
          </a:p>
        </p:txBody>
      </p:sp>
      <p:sp>
        <p:nvSpPr>
          <p:cNvPr id="14" name="TextBox 7">
            <a:extLst>
              <a:ext uri="{FF2B5EF4-FFF2-40B4-BE49-F238E27FC236}">
                <a16:creationId xmlns:a16="http://schemas.microsoft.com/office/drawing/2014/main" id="{7B497743-34E8-D31C-9208-181642BE91F9}"/>
              </a:ext>
            </a:extLst>
          </p:cNvPr>
          <p:cNvSpPr txBox="1"/>
          <p:nvPr/>
        </p:nvSpPr>
        <p:spPr>
          <a:xfrm>
            <a:off x="1064215" y="8292211"/>
            <a:ext cx="8042254" cy="830548"/>
          </a:xfrm>
          <a:prstGeom prst="rect">
            <a:avLst/>
          </a:prstGeom>
        </p:spPr>
        <p:txBody>
          <a:bodyPr wrap="square" lIns="0" tIns="0" rIns="0" bIns="0" rtlCol="0" anchor="t">
            <a:spAutoFit/>
          </a:bodyPr>
          <a:lstStyle/>
          <a:p>
            <a:pPr algn="ctr">
              <a:lnSpc>
                <a:spcPts val="6952"/>
              </a:lnSpc>
            </a:pPr>
            <a:r>
              <a:rPr lang="en-US" sz="3600" dirty="0">
                <a:solidFill>
                  <a:srgbClr val="000000"/>
                </a:solidFill>
                <a:latin typeface="Agrandir"/>
                <a:ea typeface="Agrandir"/>
                <a:cs typeface="Agrandir"/>
                <a:sym typeface="Agrandir"/>
              </a:rPr>
              <a:t>Standard / </a:t>
            </a:r>
            <a:r>
              <a:rPr lang="ja-JP" altLang="en-US" sz="3600" dirty="0">
                <a:solidFill>
                  <a:srgbClr val="000000"/>
                </a:solidFill>
                <a:latin typeface="Agrandir"/>
                <a:ea typeface="Agrandir"/>
                <a:cs typeface="Agrandir"/>
                <a:sym typeface="Agrandir"/>
              </a:rPr>
              <a:t>スタンダード</a:t>
            </a:r>
            <a:endParaRPr lang="en-US" sz="3600" dirty="0">
              <a:solidFill>
                <a:srgbClr val="000000"/>
              </a:solidFill>
              <a:latin typeface="Agrandir"/>
              <a:ea typeface="Agrandir"/>
              <a:cs typeface="Agrandir"/>
              <a:sym typeface="Agrandir"/>
            </a:endParaRPr>
          </a:p>
        </p:txBody>
      </p:sp>
      <p:pic>
        <p:nvPicPr>
          <p:cNvPr id="3" name="Picture 2">
            <a:extLst>
              <a:ext uri="{FF2B5EF4-FFF2-40B4-BE49-F238E27FC236}">
                <a16:creationId xmlns:a16="http://schemas.microsoft.com/office/drawing/2014/main" id="{267A572A-CAC1-D224-3C2E-F34551D7CDFA}"/>
              </a:ext>
            </a:extLst>
          </p:cNvPr>
          <p:cNvPicPr>
            <a:picLocks noChangeAspect="1"/>
          </p:cNvPicPr>
          <p:nvPr/>
        </p:nvPicPr>
        <p:blipFill>
          <a:blip r:embed="rId2"/>
          <a:stretch>
            <a:fillRect/>
          </a:stretch>
        </p:blipFill>
        <p:spPr>
          <a:xfrm>
            <a:off x="2016396" y="2621093"/>
            <a:ext cx="6359504" cy="5632704"/>
          </a:xfrm>
          <a:prstGeom prst="rect">
            <a:avLst/>
          </a:prstGeom>
          <a:ln w="19050">
            <a:solidFill>
              <a:schemeClr val="tx1"/>
            </a:solidFill>
          </a:ln>
        </p:spPr>
      </p:pic>
      <p:pic>
        <p:nvPicPr>
          <p:cNvPr id="11" name="Picture 10">
            <a:extLst>
              <a:ext uri="{FF2B5EF4-FFF2-40B4-BE49-F238E27FC236}">
                <a16:creationId xmlns:a16="http://schemas.microsoft.com/office/drawing/2014/main" id="{37593FEA-4F65-58C4-1C87-38BECC4F0F22}"/>
              </a:ext>
            </a:extLst>
          </p:cNvPr>
          <p:cNvPicPr>
            <a:picLocks noChangeAspect="1"/>
          </p:cNvPicPr>
          <p:nvPr/>
        </p:nvPicPr>
        <p:blipFill>
          <a:blip r:embed="rId3"/>
          <a:stretch>
            <a:fillRect/>
          </a:stretch>
        </p:blipFill>
        <p:spPr>
          <a:xfrm>
            <a:off x="10399844" y="2621093"/>
            <a:ext cx="6401584" cy="5632704"/>
          </a:xfrm>
          <a:prstGeom prst="rect">
            <a:avLst/>
          </a:prstGeom>
          <a:ln w="19050">
            <a:solidFill>
              <a:schemeClr val="tx1"/>
            </a:solidFill>
          </a:ln>
        </p:spPr>
      </p:pic>
    </p:spTree>
    <p:extLst>
      <p:ext uri="{BB962C8B-B14F-4D97-AF65-F5344CB8AC3E}">
        <p14:creationId xmlns:p14="http://schemas.microsoft.com/office/powerpoint/2010/main" val="747927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FFC28DBB-EA0B-B689-72C7-8413E97BBDC2}"/>
            </a:ext>
          </a:extLst>
        </p:cNvPr>
        <p:cNvGrpSpPr/>
        <p:nvPr/>
      </p:nvGrpSpPr>
      <p:grpSpPr>
        <a:xfrm>
          <a:off x="0" y="0"/>
          <a:ext cx="0" cy="0"/>
          <a:chOff x="0" y="0"/>
          <a:chExt cx="0" cy="0"/>
        </a:xfrm>
      </p:grpSpPr>
      <p:grpSp>
        <p:nvGrpSpPr>
          <p:cNvPr id="10" name="Group 2">
            <a:extLst>
              <a:ext uri="{FF2B5EF4-FFF2-40B4-BE49-F238E27FC236}">
                <a16:creationId xmlns:a16="http://schemas.microsoft.com/office/drawing/2014/main" id="{7535B873-8677-6A32-4470-CFA339548249}"/>
              </a:ext>
            </a:extLst>
          </p:cNvPr>
          <p:cNvGrpSpPr/>
          <p:nvPr/>
        </p:nvGrpSpPr>
        <p:grpSpPr>
          <a:xfrm>
            <a:off x="680480" y="625871"/>
            <a:ext cx="16927040" cy="9035258"/>
            <a:chOff x="0" y="0"/>
            <a:chExt cx="126402652" cy="67470777"/>
          </a:xfrm>
        </p:grpSpPr>
        <p:sp>
          <p:nvSpPr>
            <p:cNvPr id="11" name="Freeform 3">
              <a:extLst>
                <a:ext uri="{FF2B5EF4-FFF2-40B4-BE49-F238E27FC236}">
                  <a16:creationId xmlns:a16="http://schemas.microsoft.com/office/drawing/2014/main" id="{E3B553D2-32D6-A187-3009-7F00CA28FA68}"/>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12" name="Freeform 4">
              <a:extLst>
                <a:ext uri="{FF2B5EF4-FFF2-40B4-BE49-F238E27FC236}">
                  <a16:creationId xmlns:a16="http://schemas.microsoft.com/office/drawing/2014/main" id="{A388A669-D921-5A2B-9CC0-399FBCD9712D}"/>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pic>
        <p:nvPicPr>
          <p:cNvPr id="4" name="Picture 3">
            <a:extLst>
              <a:ext uri="{FF2B5EF4-FFF2-40B4-BE49-F238E27FC236}">
                <a16:creationId xmlns:a16="http://schemas.microsoft.com/office/drawing/2014/main" id="{62E2C037-7E3B-DCBC-8D7E-58E97C2EA68D}"/>
              </a:ext>
            </a:extLst>
          </p:cNvPr>
          <p:cNvPicPr>
            <a:picLocks noChangeAspect="1"/>
          </p:cNvPicPr>
          <p:nvPr/>
        </p:nvPicPr>
        <p:blipFill>
          <a:blip r:embed="rId2"/>
          <a:stretch>
            <a:fillRect/>
          </a:stretch>
        </p:blipFill>
        <p:spPr>
          <a:xfrm>
            <a:off x="2582611" y="1485583"/>
            <a:ext cx="13122777" cy="7315834"/>
          </a:xfrm>
          <a:prstGeom prst="rect">
            <a:avLst/>
          </a:prstGeom>
          <a:ln w="28575">
            <a:solidFill>
              <a:schemeClr val="tx1"/>
            </a:solidFill>
          </a:ln>
        </p:spPr>
      </p:pic>
    </p:spTree>
    <p:extLst>
      <p:ext uri="{BB962C8B-B14F-4D97-AF65-F5344CB8AC3E}">
        <p14:creationId xmlns:p14="http://schemas.microsoft.com/office/powerpoint/2010/main" val="4152948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B54F5992-119E-3C9E-ED6C-F424570EFF85}"/>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40A2294C-C25D-57C6-D4A6-F87787DD0926}"/>
              </a:ext>
            </a:extLst>
          </p:cNvPr>
          <p:cNvGrpSpPr/>
          <p:nvPr/>
        </p:nvGrpSpPr>
        <p:grpSpPr>
          <a:xfrm>
            <a:off x="655546" y="625871"/>
            <a:ext cx="16927040" cy="9035258"/>
            <a:chOff x="0" y="0"/>
            <a:chExt cx="126402652" cy="67470777"/>
          </a:xfrm>
        </p:grpSpPr>
        <p:sp>
          <p:nvSpPr>
            <p:cNvPr id="6" name="Freeform 3">
              <a:extLst>
                <a:ext uri="{FF2B5EF4-FFF2-40B4-BE49-F238E27FC236}">
                  <a16:creationId xmlns:a16="http://schemas.microsoft.com/office/drawing/2014/main" id="{958AE2F0-1D69-04D8-683B-CB7730D65810}"/>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EA7D09C8-9E07-C97F-B032-AB8037D27F9F}"/>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pic>
        <p:nvPicPr>
          <p:cNvPr id="3" name="Picture 2">
            <a:extLst>
              <a:ext uri="{FF2B5EF4-FFF2-40B4-BE49-F238E27FC236}">
                <a16:creationId xmlns:a16="http://schemas.microsoft.com/office/drawing/2014/main" id="{9A523B0F-96DB-6816-E7B7-C1A8E21A2982}"/>
              </a:ext>
            </a:extLst>
          </p:cNvPr>
          <p:cNvPicPr>
            <a:picLocks noChangeAspect="1"/>
          </p:cNvPicPr>
          <p:nvPr/>
        </p:nvPicPr>
        <p:blipFill>
          <a:blip r:embed="rId2"/>
          <a:stretch>
            <a:fillRect/>
          </a:stretch>
        </p:blipFill>
        <p:spPr>
          <a:xfrm>
            <a:off x="312107" y="2933700"/>
            <a:ext cx="8537744" cy="4800600"/>
          </a:xfrm>
          <a:prstGeom prst="rect">
            <a:avLst/>
          </a:prstGeom>
          <a:ln w="28575">
            <a:solidFill>
              <a:schemeClr val="tx1"/>
            </a:solidFill>
          </a:ln>
        </p:spPr>
      </p:pic>
      <p:pic>
        <p:nvPicPr>
          <p:cNvPr id="9" name="Picture 8">
            <a:extLst>
              <a:ext uri="{FF2B5EF4-FFF2-40B4-BE49-F238E27FC236}">
                <a16:creationId xmlns:a16="http://schemas.microsoft.com/office/drawing/2014/main" id="{D1DCF8BC-794B-4876-455D-9496C0842B6C}"/>
              </a:ext>
            </a:extLst>
          </p:cNvPr>
          <p:cNvPicPr>
            <a:picLocks noChangeAspect="1"/>
          </p:cNvPicPr>
          <p:nvPr/>
        </p:nvPicPr>
        <p:blipFill>
          <a:blip r:embed="rId3"/>
          <a:stretch>
            <a:fillRect/>
          </a:stretch>
        </p:blipFill>
        <p:spPr>
          <a:xfrm>
            <a:off x="9548905" y="2933700"/>
            <a:ext cx="8426988" cy="4800600"/>
          </a:xfrm>
          <a:prstGeom prst="rect">
            <a:avLst/>
          </a:prstGeom>
          <a:ln w="28575">
            <a:solidFill>
              <a:schemeClr val="tx1"/>
            </a:solidFill>
          </a:ln>
        </p:spPr>
      </p:pic>
    </p:spTree>
    <p:extLst>
      <p:ext uri="{BB962C8B-B14F-4D97-AF65-F5344CB8AC3E}">
        <p14:creationId xmlns:p14="http://schemas.microsoft.com/office/powerpoint/2010/main" val="1631983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DF410A1A-04E8-9D47-18AC-029DA898393D}"/>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C8A90D91-5B23-0020-042D-545958FE0062}"/>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151291D1-A5B2-9ED3-01AC-62A8E7423C1A}"/>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A083F7DF-95CE-5970-0676-C52072B6C745}"/>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pic>
        <p:nvPicPr>
          <p:cNvPr id="3" name="Picture 2">
            <a:extLst>
              <a:ext uri="{FF2B5EF4-FFF2-40B4-BE49-F238E27FC236}">
                <a16:creationId xmlns:a16="http://schemas.microsoft.com/office/drawing/2014/main" id="{7D358EEE-0CD2-25A4-2BDF-C4A57991AD90}"/>
              </a:ext>
            </a:extLst>
          </p:cNvPr>
          <p:cNvPicPr>
            <a:picLocks noChangeAspect="1"/>
          </p:cNvPicPr>
          <p:nvPr/>
        </p:nvPicPr>
        <p:blipFill>
          <a:blip r:embed="rId2"/>
          <a:stretch>
            <a:fillRect/>
          </a:stretch>
        </p:blipFill>
        <p:spPr>
          <a:xfrm>
            <a:off x="1066800" y="2171700"/>
            <a:ext cx="6762949" cy="6210298"/>
          </a:xfrm>
          <a:prstGeom prst="rect">
            <a:avLst/>
          </a:prstGeom>
          <a:ln w="28575">
            <a:solidFill>
              <a:schemeClr val="tx1"/>
            </a:solidFill>
          </a:ln>
        </p:spPr>
      </p:pic>
      <p:pic>
        <p:nvPicPr>
          <p:cNvPr id="7" name="Picture 6">
            <a:extLst>
              <a:ext uri="{FF2B5EF4-FFF2-40B4-BE49-F238E27FC236}">
                <a16:creationId xmlns:a16="http://schemas.microsoft.com/office/drawing/2014/main" id="{7957AA05-2870-678E-E804-74E86D619D4E}"/>
              </a:ext>
            </a:extLst>
          </p:cNvPr>
          <p:cNvPicPr>
            <a:picLocks noChangeAspect="1"/>
          </p:cNvPicPr>
          <p:nvPr/>
        </p:nvPicPr>
        <p:blipFill>
          <a:blip r:embed="rId3"/>
          <a:stretch>
            <a:fillRect/>
          </a:stretch>
        </p:blipFill>
        <p:spPr>
          <a:xfrm>
            <a:off x="10212426" y="2198798"/>
            <a:ext cx="6840775" cy="6033248"/>
          </a:xfrm>
          <a:prstGeom prst="rect">
            <a:avLst/>
          </a:prstGeom>
          <a:ln w="28575">
            <a:solidFill>
              <a:schemeClr val="tx1"/>
            </a:solidFill>
          </a:ln>
        </p:spPr>
      </p:pic>
      <p:cxnSp>
        <p:nvCxnSpPr>
          <p:cNvPr id="10" name="Straight Arrow Connector 9">
            <a:extLst>
              <a:ext uri="{FF2B5EF4-FFF2-40B4-BE49-F238E27FC236}">
                <a16:creationId xmlns:a16="http://schemas.microsoft.com/office/drawing/2014/main" id="{72AA59FC-3DAF-3586-5EC4-E16317ECDB50}"/>
              </a:ext>
            </a:extLst>
          </p:cNvPr>
          <p:cNvCxnSpPr>
            <a:cxnSpLocks/>
          </p:cNvCxnSpPr>
          <p:nvPr/>
        </p:nvCxnSpPr>
        <p:spPr>
          <a:xfrm>
            <a:off x="8305800" y="5143500"/>
            <a:ext cx="1524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237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6B63B002-9B58-7BFC-2628-023D69323074}"/>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E7C50145-11CF-E67A-29E9-2D9C000FE659}"/>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9BCD455D-A323-E389-73C3-F3D6998BB8E9}"/>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0" name="TextBox 10"/>
          <p:cNvSpPr txBox="1"/>
          <p:nvPr/>
        </p:nvSpPr>
        <p:spPr>
          <a:xfrm>
            <a:off x="4748322" y="1535639"/>
            <a:ext cx="9649694" cy="411972"/>
          </a:xfrm>
          <a:prstGeom prst="rect">
            <a:avLst/>
          </a:prstGeom>
        </p:spPr>
        <p:txBody>
          <a:bodyPr lIns="0" tIns="0" rIns="0" bIns="0" rtlCol="0" anchor="t">
            <a:spAutoFit/>
          </a:bodyPr>
          <a:lstStyle/>
          <a:p>
            <a:pPr algn="just">
              <a:lnSpc>
                <a:spcPts val="3499"/>
              </a:lnSpc>
            </a:pPr>
            <a:r>
              <a:rPr lang="en-US" sz="2499" dirty="0">
                <a:solidFill>
                  <a:srgbClr val="000000"/>
                </a:solidFill>
                <a:latin typeface="Inter"/>
                <a:ea typeface="Inter"/>
                <a:cs typeface="Inter"/>
                <a:sym typeface="Inter"/>
              </a:rPr>
              <a:t>This button allows you to exit the current game session</a:t>
            </a:r>
          </a:p>
        </p:txBody>
      </p:sp>
      <p:sp>
        <p:nvSpPr>
          <p:cNvPr id="11" name="TextBox 11"/>
          <p:cNvSpPr txBox="1"/>
          <p:nvPr/>
        </p:nvSpPr>
        <p:spPr>
          <a:xfrm>
            <a:off x="4748322" y="3012350"/>
            <a:ext cx="9649694" cy="860425"/>
          </a:xfrm>
          <a:prstGeom prst="rect">
            <a:avLst/>
          </a:prstGeom>
        </p:spPr>
        <p:txBody>
          <a:bodyPr lIns="0" tIns="0" rIns="0" bIns="0" rtlCol="0" anchor="t">
            <a:spAutoFit/>
          </a:bodyPr>
          <a:lstStyle/>
          <a:p>
            <a:pPr algn="just">
              <a:lnSpc>
                <a:spcPts val="3499"/>
              </a:lnSpc>
            </a:pPr>
            <a:r>
              <a:rPr lang="en-US" sz="2499" dirty="0">
                <a:solidFill>
                  <a:srgbClr val="000000"/>
                </a:solidFill>
                <a:latin typeface="Inter"/>
                <a:ea typeface="Inter"/>
                <a:cs typeface="Inter"/>
                <a:sym typeface="Inter"/>
              </a:rPr>
              <a:t>This button resets the magic square by randomly mixing all the numbers and pieces, giving you a fresh start.</a:t>
            </a:r>
          </a:p>
        </p:txBody>
      </p:sp>
      <p:sp>
        <p:nvSpPr>
          <p:cNvPr id="12" name="TextBox 12"/>
          <p:cNvSpPr txBox="1"/>
          <p:nvPr/>
        </p:nvSpPr>
        <p:spPr>
          <a:xfrm>
            <a:off x="4748322" y="4692708"/>
            <a:ext cx="9103316" cy="1309654"/>
          </a:xfrm>
          <a:prstGeom prst="rect">
            <a:avLst/>
          </a:prstGeom>
        </p:spPr>
        <p:txBody>
          <a:bodyPr lIns="0" tIns="0" rIns="0" bIns="0" rtlCol="0" anchor="t">
            <a:spAutoFit/>
          </a:bodyPr>
          <a:lstStyle/>
          <a:p>
            <a:pPr algn="just">
              <a:lnSpc>
                <a:spcPts val="3499"/>
              </a:lnSpc>
            </a:pPr>
            <a:r>
              <a:rPr lang="en-US" sz="2499" dirty="0">
                <a:solidFill>
                  <a:srgbClr val="000000"/>
                </a:solidFill>
                <a:latin typeface="Inter"/>
                <a:ea typeface="Inter"/>
                <a:cs typeface="Inter"/>
                <a:sym typeface="Inter"/>
              </a:rPr>
              <a:t>this button will help you if you get stuck. It will swap into the correct spot. But you usually have limit per game. 3x3 = 3 Hints / 4x4 = 5 Hints / 5x5 = 8 Hints</a:t>
            </a:r>
          </a:p>
        </p:txBody>
      </p:sp>
      <p:sp>
        <p:nvSpPr>
          <p:cNvPr id="13" name="TextBox 13"/>
          <p:cNvSpPr txBox="1"/>
          <p:nvPr/>
        </p:nvSpPr>
        <p:spPr>
          <a:xfrm>
            <a:off x="4786316" y="6414226"/>
            <a:ext cx="9103316" cy="860425"/>
          </a:xfrm>
          <a:prstGeom prst="rect">
            <a:avLst/>
          </a:prstGeom>
        </p:spPr>
        <p:txBody>
          <a:bodyPr lIns="0" tIns="0" rIns="0" bIns="0" rtlCol="0" anchor="t">
            <a:spAutoFit/>
          </a:bodyPr>
          <a:lstStyle/>
          <a:p>
            <a:pPr algn="just">
              <a:lnSpc>
                <a:spcPts val="3499"/>
              </a:lnSpc>
            </a:pPr>
            <a:r>
              <a:rPr lang="en-US" sz="2499" dirty="0">
                <a:solidFill>
                  <a:srgbClr val="000000"/>
                </a:solidFill>
                <a:latin typeface="Inter"/>
                <a:ea typeface="Inter"/>
                <a:cs typeface="Inter"/>
                <a:sym typeface="Inter"/>
              </a:rPr>
              <a:t>This button lets you go back. It reverses your last move allowing you to fix a mistake without restarting the game.</a:t>
            </a:r>
          </a:p>
        </p:txBody>
      </p:sp>
      <p:sp>
        <p:nvSpPr>
          <p:cNvPr id="14" name="TextBox 14"/>
          <p:cNvSpPr txBox="1"/>
          <p:nvPr/>
        </p:nvSpPr>
        <p:spPr>
          <a:xfrm>
            <a:off x="4748322" y="7889294"/>
            <a:ext cx="9103316" cy="1298575"/>
          </a:xfrm>
          <a:prstGeom prst="rect">
            <a:avLst/>
          </a:prstGeom>
        </p:spPr>
        <p:txBody>
          <a:bodyPr lIns="0" tIns="0" rIns="0" bIns="0" rtlCol="0" anchor="t">
            <a:spAutoFit/>
          </a:bodyPr>
          <a:lstStyle/>
          <a:p>
            <a:pPr algn="just">
              <a:lnSpc>
                <a:spcPts val="3499"/>
              </a:lnSpc>
            </a:pPr>
            <a:r>
              <a:rPr lang="en-US" sz="2499" dirty="0">
                <a:solidFill>
                  <a:srgbClr val="000000"/>
                </a:solidFill>
                <a:latin typeface="Inter"/>
                <a:ea typeface="Inter"/>
                <a:cs typeface="Inter"/>
                <a:sym typeface="Inter"/>
              </a:rPr>
              <a:t>Use this button when you have completed the Magic Square it will trigger the victory screen and export your results to a PNG.</a:t>
            </a:r>
          </a:p>
        </p:txBody>
      </p:sp>
      <p:pic>
        <p:nvPicPr>
          <p:cNvPr id="3" name="Picture 2">
            <a:extLst>
              <a:ext uri="{FF2B5EF4-FFF2-40B4-BE49-F238E27FC236}">
                <a16:creationId xmlns:a16="http://schemas.microsoft.com/office/drawing/2014/main" id="{D568F7FB-03F9-BB97-1DC7-4BA4BCB9B5CA}"/>
              </a:ext>
            </a:extLst>
          </p:cNvPr>
          <p:cNvPicPr>
            <a:picLocks noChangeAspect="1"/>
          </p:cNvPicPr>
          <p:nvPr/>
        </p:nvPicPr>
        <p:blipFill>
          <a:blip r:embed="rId2"/>
          <a:srcRect l="5320" t="25812" r="58936" b="30120"/>
          <a:stretch>
            <a:fillRect/>
          </a:stretch>
        </p:blipFill>
        <p:spPr>
          <a:xfrm>
            <a:off x="1688200" y="1344833"/>
            <a:ext cx="2221190" cy="849279"/>
          </a:xfrm>
          <a:prstGeom prst="rect">
            <a:avLst/>
          </a:prstGeom>
        </p:spPr>
      </p:pic>
      <p:pic>
        <p:nvPicPr>
          <p:cNvPr id="4" name="Picture 3">
            <a:extLst>
              <a:ext uri="{FF2B5EF4-FFF2-40B4-BE49-F238E27FC236}">
                <a16:creationId xmlns:a16="http://schemas.microsoft.com/office/drawing/2014/main" id="{50DB9ACC-A745-D7CB-DE20-39A6127CDC84}"/>
              </a:ext>
            </a:extLst>
          </p:cNvPr>
          <p:cNvPicPr>
            <a:picLocks noChangeAspect="1"/>
          </p:cNvPicPr>
          <p:nvPr/>
        </p:nvPicPr>
        <p:blipFill>
          <a:blip r:embed="rId2"/>
          <a:srcRect l="47372" t="25811" r="17197" b="30121"/>
          <a:stretch>
            <a:fillRect/>
          </a:stretch>
        </p:blipFill>
        <p:spPr>
          <a:xfrm>
            <a:off x="1688200" y="3012350"/>
            <a:ext cx="2201784" cy="849278"/>
          </a:xfrm>
          <a:prstGeom prst="rect">
            <a:avLst/>
          </a:prstGeom>
        </p:spPr>
      </p:pic>
      <p:pic>
        <p:nvPicPr>
          <p:cNvPr id="9" name="Picture 8">
            <a:extLst>
              <a:ext uri="{FF2B5EF4-FFF2-40B4-BE49-F238E27FC236}">
                <a16:creationId xmlns:a16="http://schemas.microsoft.com/office/drawing/2014/main" id="{63F25EC3-A163-B35F-C083-FA08C008F1B9}"/>
              </a:ext>
            </a:extLst>
          </p:cNvPr>
          <p:cNvPicPr>
            <a:picLocks noChangeAspect="1"/>
          </p:cNvPicPr>
          <p:nvPr/>
        </p:nvPicPr>
        <p:blipFill>
          <a:blip r:embed="rId3"/>
          <a:srcRect l="4131" t="38123" r="84359" b="15563"/>
          <a:stretch>
            <a:fillRect/>
          </a:stretch>
        </p:blipFill>
        <p:spPr>
          <a:xfrm>
            <a:off x="1496878" y="4764134"/>
            <a:ext cx="2555699" cy="846218"/>
          </a:xfrm>
          <a:prstGeom prst="rect">
            <a:avLst/>
          </a:prstGeom>
        </p:spPr>
      </p:pic>
      <p:pic>
        <p:nvPicPr>
          <p:cNvPr id="15" name="Picture 14">
            <a:extLst>
              <a:ext uri="{FF2B5EF4-FFF2-40B4-BE49-F238E27FC236}">
                <a16:creationId xmlns:a16="http://schemas.microsoft.com/office/drawing/2014/main" id="{C2369D20-DBE8-F564-C540-D4CBF8B6645D}"/>
              </a:ext>
            </a:extLst>
          </p:cNvPr>
          <p:cNvPicPr>
            <a:picLocks noChangeAspect="1"/>
          </p:cNvPicPr>
          <p:nvPr/>
        </p:nvPicPr>
        <p:blipFill>
          <a:blip r:embed="rId3"/>
          <a:srcRect l="44435" t="37768" r="43817" b="16579"/>
          <a:stretch>
            <a:fillRect/>
          </a:stretch>
        </p:blipFill>
        <p:spPr>
          <a:xfrm>
            <a:off x="1396204" y="6407675"/>
            <a:ext cx="2656373" cy="849278"/>
          </a:xfrm>
          <a:prstGeom prst="rect">
            <a:avLst/>
          </a:prstGeom>
        </p:spPr>
      </p:pic>
      <p:pic>
        <p:nvPicPr>
          <p:cNvPr id="17" name="Picture 16">
            <a:extLst>
              <a:ext uri="{FF2B5EF4-FFF2-40B4-BE49-F238E27FC236}">
                <a16:creationId xmlns:a16="http://schemas.microsoft.com/office/drawing/2014/main" id="{7E1859C6-D30F-E28B-F2F4-C78E9951A36F}"/>
              </a:ext>
            </a:extLst>
          </p:cNvPr>
          <p:cNvPicPr>
            <a:picLocks noChangeAspect="1"/>
          </p:cNvPicPr>
          <p:nvPr/>
        </p:nvPicPr>
        <p:blipFill>
          <a:blip r:embed="rId3"/>
          <a:srcRect l="85025" t="36790" r="3227" b="16896"/>
          <a:stretch>
            <a:fillRect/>
          </a:stretch>
        </p:blipFill>
        <p:spPr>
          <a:xfrm>
            <a:off x="1447800" y="8005381"/>
            <a:ext cx="2618428" cy="849278"/>
          </a:xfrm>
          <a:prstGeom prst="rect">
            <a:avLst/>
          </a:prstGeom>
        </p:spPr>
      </p:pic>
      <p:sp>
        <p:nvSpPr>
          <p:cNvPr id="19" name="Rectangle 1">
            <a:extLst>
              <a:ext uri="{FF2B5EF4-FFF2-40B4-BE49-F238E27FC236}">
                <a16:creationId xmlns:a16="http://schemas.microsoft.com/office/drawing/2014/main" id="{87E1FEDA-C47C-4C99-A4A5-5E73E2053E3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現在のゲームを終了するためのボタンです。</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951E7256-F9B1-C2DC-977E-BE1A9874D51E}"/>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35B3C75C-A097-4CDA-566F-395F0CA71152}"/>
              </a:ext>
            </a:extLst>
          </p:cNvPr>
          <p:cNvGrpSpPr/>
          <p:nvPr/>
        </p:nvGrpSpPr>
        <p:grpSpPr>
          <a:xfrm>
            <a:off x="680480" y="619463"/>
            <a:ext cx="16927040" cy="9035258"/>
            <a:chOff x="0" y="0"/>
            <a:chExt cx="126402652" cy="67470777"/>
          </a:xfrm>
        </p:grpSpPr>
        <p:sp>
          <p:nvSpPr>
            <p:cNvPr id="6" name="Freeform 3">
              <a:extLst>
                <a:ext uri="{FF2B5EF4-FFF2-40B4-BE49-F238E27FC236}">
                  <a16:creationId xmlns:a16="http://schemas.microsoft.com/office/drawing/2014/main" id="{4960759B-E808-4ECE-1C26-DC67481A7717}"/>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05B33681-6BF5-1C1D-B617-F9322AC964A3}"/>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0" name="TextBox 10">
            <a:extLst>
              <a:ext uri="{FF2B5EF4-FFF2-40B4-BE49-F238E27FC236}">
                <a16:creationId xmlns:a16="http://schemas.microsoft.com/office/drawing/2014/main" id="{C7F791D5-167B-3865-0D5F-1655AF8DC08C}"/>
              </a:ext>
            </a:extLst>
          </p:cNvPr>
          <p:cNvSpPr txBox="1"/>
          <p:nvPr/>
        </p:nvSpPr>
        <p:spPr>
          <a:xfrm>
            <a:off x="4748322" y="1535639"/>
            <a:ext cx="9649694" cy="411972"/>
          </a:xfrm>
          <a:prstGeom prst="rect">
            <a:avLst/>
          </a:prstGeom>
        </p:spPr>
        <p:txBody>
          <a:bodyPr lIns="0" tIns="0" rIns="0" bIns="0" rtlCol="0" anchor="t">
            <a:spAutoFit/>
          </a:bodyPr>
          <a:lstStyle/>
          <a:p>
            <a:pPr algn="just">
              <a:lnSpc>
                <a:spcPts val="3499"/>
              </a:lnSpc>
            </a:pPr>
            <a:r>
              <a:rPr lang="ja-JP" altLang="en-US" sz="2499" dirty="0">
                <a:solidFill>
                  <a:srgbClr val="000000"/>
                </a:solidFill>
                <a:latin typeface="Inter"/>
                <a:ea typeface="Inter"/>
                <a:cs typeface="Inter"/>
                <a:sym typeface="Inter"/>
              </a:rPr>
              <a:t>現在のゲームを終了するためのボタンです。</a:t>
            </a:r>
            <a:endParaRPr lang="en-US" sz="2499" dirty="0">
              <a:solidFill>
                <a:srgbClr val="000000"/>
              </a:solidFill>
              <a:latin typeface="Inter"/>
              <a:ea typeface="Inter"/>
              <a:cs typeface="Inter"/>
              <a:sym typeface="Inter"/>
            </a:endParaRPr>
          </a:p>
        </p:txBody>
      </p:sp>
      <p:sp>
        <p:nvSpPr>
          <p:cNvPr id="11" name="TextBox 11">
            <a:extLst>
              <a:ext uri="{FF2B5EF4-FFF2-40B4-BE49-F238E27FC236}">
                <a16:creationId xmlns:a16="http://schemas.microsoft.com/office/drawing/2014/main" id="{506C30E0-D736-EDC0-B1A4-4AA569444F79}"/>
              </a:ext>
            </a:extLst>
          </p:cNvPr>
          <p:cNvSpPr txBox="1"/>
          <p:nvPr/>
        </p:nvSpPr>
        <p:spPr>
          <a:xfrm>
            <a:off x="4748322" y="3012350"/>
            <a:ext cx="9649694" cy="860425"/>
          </a:xfrm>
          <a:prstGeom prst="rect">
            <a:avLst/>
          </a:prstGeom>
        </p:spPr>
        <p:txBody>
          <a:bodyPr lIns="0" tIns="0" rIns="0" bIns="0" rtlCol="0" anchor="t">
            <a:spAutoFit/>
          </a:bodyPr>
          <a:lstStyle/>
          <a:p>
            <a:pPr algn="just">
              <a:lnSpc>
                <a:spcPts val="3499"/>
              </a:lnSpc>
            </a:pPr>
            <a:r>
              <a:rPr lang="ja-JP" altLang="en-US" sz="2499" dirty="0">
                <a:solidFill>
                  <a:srgbClr val="000000"/>
                </a:solidFill>
                <a:latin typeface="Inter"/>
                <a:ea typeface="Inter"/>
                <a:cs typeface="Inter"/>
                <a:sym typeface="Inter"/>
              </a:rPr>
              <a:t>魔方陣をリセットするボタンです。すべての数字とピースをランダムに混ぜ合わせ、新しく最初からやり直すことができます。</a:t>
            </a:r>
            <a:endParaRPr lang="en-US" sz="2499" dirty="0">
              <a:solidFill>
                <a:srgbClr val="000000"/>
              </a:solidFill>
              <a:latin typeface="Inter"/>
              <a:ea typeface="Inter"/>
              <a:cs typeface="Inter"/>
              <a:sym typeface="Inter"/>
            </a:endParaRPr>
          </a:p>
        </p:txBody>
      </p:sp>
      <p:sp>
        <p:nvSpPr>
          <p:cNvPr id="12" name="TextBox 12">
            <a:extLst>
              <a:ext uri="{FF2B5EF4-FFF2-40B4-BE49-F238E27FC236}">
                <a16:creationId xmlns:a16="http://schemas.microsoft.com/office/drawing/2014/main" id="{503AAAFA-DC3A-C221-7DEE-F65A337D8D3B}"/>
              </a:ext>
            </a:extLst>
          </p:cNvPr>
          <p:cNvSpPr txBox="1"/>
          <p:nvPr/>
        </p:nvSpPr>
        <p:spPr>
          <a:xfrm>
            <a:off x="4748322" y="4525473"/>
            <a:ext cx="9103316" cy="1309654"/>
          </a:xfrm>
          <a:prstGeom prst="rect">
            <a:avLst/>
          </a:prstGeom>
        </p:spPr>
        <p:txBody>
          <a:bodyPr lIns="0" tIns="0" rIns="0" bIns="0" rtlCol="0" anchor="t">
            <a:spAutoFit/>
          </a:bodyPr>
          <a:lstStyle/>
          <a:p>
            <a:pPr algn="just">
              <a:lnSpc>
                <a:spcPts val="3499"/>
              </a:lnSpc>
            </a:pPr>
            <a:r>
              <a:rPr lang="ja-JP" altLang="en-US" sz="2499" dirty="0">
                <a:solidFill>
                  <a:srgbClr val="000000"/>
                </a:solidFill>
                <a:latin typeface="Inter"/>
                <a:ea typeface="Inter"/>
                <a:cs typeface="Inter"/>
                <a:sym typeface="Inter"/>
              </a:rPr>
              <a:t>行き詰まった時に助けてくれるボタンです。ピースを正しい位置に入れ替えてくれます。ただし、通常</a:t>
            </a:r>
            <a:r>
              <a:rPr lang="en-US" altLang="ja-JP" sz="2499" dirty="0">
                <a:solidFill>
                  <a:srgbClr val="000000"/>
                </a:solidFill>
                <a:latin typeface="Inter"/>
                <a:ea typeface="Inter"/>
                <a:cs typeface="Inter"/>
                <a:sym typeface="Inter"/>
              </a:rPr>
              <a:t>1</a:t>
            </a:r>
            <a:r>
              <a:rPr lang="ja-JP" altLang="en-US" sz="2499" dirty="0">
                <a:solidFill>
                  <a:srgbClr val="000000"/>
                </a:solidFill>
                <a:latin typeface="Inter"/>
                <a:ea typeface="Inter"/>
                <a:cs typeface="Inter"/>
                <a:sym typeface="Inter"/>
              </a:rPr>
              <a:t>ゲームあたりの使用回数に制限があります。（</a:t>
            </a:r>
            <a:r>
              <a:rPr lang="en-US" altLang="ja-JP" sz="2499" dirty="0">
                <a:solidFill>
                  <a:srgbClr val="000000"/>
                </a:solidFill>
                <a:latin typeface="Inter"/>
                <a:ea typeface="Inter"/>
                <a:cs typeface="Inter"/>
                <a:sym typeface="Inter"/>
              </a:rPr>
              <a:t>3x3 = 3</a:t>
            </a:r>
            <a:r>
              <a:rPr lang="ja-JP" altLang="en-US" sz="2499" dirty="0">
                <a:solidFill>
                  <a:srgbClr val="000000"/>
                </a:solidFill>
                <a:latin typeface="Inter"/>
                <a:ea typeface="Inter"/>
                <a:cs typeface="Inter"/>
                <a:sym typeface="Inter"/>
              </a:rPr>
              <a:t>回 </a:t>
            </a:r>
            <a:r>
              <a:rPr lang="en-US" altLang="ja-JP" sz="2499" dirty="0">
                <a:solidFill>
                  <a:srgbClr val="000000"/>
                </a:solidFill>
                <a:latin typeface="Inter"/>
                <a:ea typeface="Inter"/>
                <a:cs typeface="Inter"/>
                <a:sym typeface="Inter"/>
              </a:rPr>
              <a:t>/ 4x4 = 5</a:t>
            </a:r>
            <a:r>
              <a:rPr lang="ja-JP" altLang="en-US" sz="2499" dirty="0">
                <a:solidFill>
                  <a:srgbClr val="000000"/>
                </a:solidFill>
                <a:latin typeface="Inter"/>
                <a:ea typeface="Inter"/>
                <a:cs typeface="Inter"/>
                <a:sym typeface="Inter"/>
              </a:rPr>
              <a:t>回 </a:t>
            </a:r>
            <a:r>
              <a:rPr lang="en-US" altLang="ja-JP" sz="2499" dirty="0">
                <a:solidFill>
                  <a:srgbClr val="000000"/>
                </a:solidFill>
                <a:latin typeface="Inter"/>
                <a:ea typeface="Inter"/>
                <a:cs typeface="Inter"/>
                <a:sym typeface="Inter"/>
              </a:rPr>
              <a:t>/ 5x5 = 8</a:t>
            </a:r>
            <a:r>
              <a:rPr lang="ja-JP" altLang="en-US" sz="2499" dirty="0">
                <a:solidFill>
                  <a:srgbClr val="000000"/>
                </a:solidFill>
                <a:latin typeface="Inter"/>
                <a:ea typeface="Inter"/>
                <a:cs typeface="Inter"/>
                <a:sym typeface="Inter"/>
              </a:rPr>
              <a:t>回）</a:t>
            </a:r>
            <a:endParaRPr lang="en-US" sz="2499" dirty="0">
              <a:solidFill>
                <a:srgbClr val="000000"/>
              </a:solidFill>
              <a:latin typeface="Inter"/>
              <a:ea typeface="Inter"/>
              <a:cs typeface="Inter"/>
              <a:sym typeface="Inter"/>
            </a:endParaRPr>
          </a:p>
        </p:txBody>
      </p:sp>
      <p:sp>
        <p:nvSpPr>
          <p:cNvPr id="13" name="TextBox 13">
            <a:extLst>
              <a:ext uri="{FF2B5EF4-FFF2-40B4-BE49-F238E27FC236}">
                <a16:creationId xmlns:a16="http://schemas.microsoft.com/office/drawing/2014/main" id="{3C0744E2-60F9-FB36-1372-ACDB9F6E1931}"/>
              </a:ext>
            </a:extLst>
          </p:cNvPr>
          <p:cNvSpPr txBox="1"/>
          <p:nvPr/>
        </p:nvSpPr>
        <p:spPr>
          <a:xfrm>
            <a:off x="4786316" y="6414226"/>
            <a:ext cx="9103316" cy="1305742"/>
          </a:xfrm>
          <a:prstGeom prst="rect">
            <a:avLst/>
          </a:prstGeom>
        </p:spPr>
        <p:txBody>
          <a:bodyPr lIns="0" tIns="0" rIns="0" bIns="0" rtlCol="0" anchor="t">
            <a:spAutoFit/>
          </a:bodyPr>
          <a:lstStyle/>
          <a:p>
            <a:pPr algn="just">
              <a:lnSpc>
                <a:spcPts val="3499"/>
              </a:lnSpc>
            </a:pPr>
            <a:r>
              <a:rPr lang="ja-JP" altLang="en-US" sz="2499" dirty="0">
                <a:solidFill>
                  <a:srgbClr val="000000"/>
                </a:solidFill>
                <a:latin typeface="Inter"/>
                <a:ea typeface="Inter"/>
                <a:cs typeface="Inter"/>
                <a:sym typeface="Inter"/>
              </a:rPr>
              <a:t>直前の操作を取り消す（戻る）ボタンです。最後に動かした手をもとに戻せるため、ゲームを最初からやり直すことなくミスを修正できます。</a:t>
            </a:r>
            <a:endParaRPr lang="en-US" sz="2499" dirty="0">
              <a:solidFill>
                <a:srgbClr val="000000"/>
              </a:solidFill>
              <a:latin typeface="Inter"/>
              <a:ea typeface="Inter"/>
              <a:cs typeface="Inter"/>
              <a:sym typeface="Inter"/>
            </a:endParaRPr>
          </a:p>
        </p:txBody>
      </p:sp>
      <p:sp>
        <p:nvSpPr>
          <p:cNvPr id="14" name="TextBox 14">
            <a:extLst>
              <a:ext uri="{FF2B5EF4-FFF2-40B4-BE49-F238E27FC236}">
                <a16:creationId xmlns:a16="http://schemas.microsoft.com/office/drawing/2014/main" id="{1780C91D-F496-713F-D5C4-36004E973684}"/>
              </a:ext>
            </a:extLst>
          </p:cNvPr>
          <p:cNvSpPr txBox="1"/>
          <p:nvPr/>
        </p:nvSpPr>
        <p:spPr>
          <a:xfrm>
            <a:off x="4748322" y="8102073"/>
            <a:ext cx="9103316" cy="1298575"/>
          </a:xfrm>
          <a:prstGeom prst="rect">
            <a:avLst/>
          </a:prstGeom>
        </p:spPr>
        <p:txBody>
          <a:bodyPr lIns="0" tIns="0" rIns="0" bIns="0" rtlCol="0" anchor="t">
            <a:spAutoFit/>
          </a:bodyPr>
          <a:lstStyle/>
          <a:p>
            <a:pPr algn="just">
              <a:lnSpc>
                <a:spcPts val="3499"/>
              </a:lnSpc>
            </a:pPr>
            <a:r>
              <a:rPr lang="ja-JP" altLang="en-US" sz="2499" dirty="0">
                <a:solidFill>
                  <a:srgbClr val="000000"/>
                </a:solidFill>
                <a:latin typeface="Inter"/>
                <a:ea typeface="Inter"/>
                <a:cs typeface="Inter"/>
                <a:sym typeface="Inter"/>
              </a:rPr>
              <a:t>魔方陣が完成した時にこのボタンを押してください。クリア画面（勝利画面）が表示され、結果が</a:t>
            </a:r>
            <a:r>
              <a:rPr lang="en-US" altLang="ja-JP" sz="2499" dirty="0">
                <a:solidFill>
                  <a:srgbClr val="000000"/>
                </a:solidFill>
                <a:latin typeface="Inter"/>
                <a:ea typeface="Inter"/>
                <a:cs typeface="Inter"/>
                <a:sym typeface="Inter"/>
              </a:rPr>
              <a:t>PNG</a:t>
            </a:r>
            <a:r>
              <a:rPr lang="ja-JP" altLang="en-US" sz="2499" dirty="0">
                <a:solidFill>
                  <a:srgbClr val="000000"/>
                </a:solidFill>
                <a:latin typeface="Inter"/>
                <a:ea typeface="Inter"/>
                <a:cs typeface="Inter"/>
                <a:sym typeface="Inter"/>
              </a:rPr>
              <a:t>ファイルとして書き出されます。</a:t>
            </a:r>
            <a:endParaRPr lang="en-US" sz="2499" dirty="0">
              <a:solidFill>
                <a:srgbClr val="000000"/>
              </a:solidFill>
              <a:latin typeface="Inter"/>
              <a:ea typeface="Inter"/>
              <a:cs typeface="Inter"/>
              <a:sym typeface="Inter"/>
            </a:endParaRPr>
          </a:p>
        </p:txBody>
      </p:sp>
      <p:pic>
        <p:nvPicPr>
          <p:cNvPr id="3" name="Picture 2">
            <a:extLst>
              <a:ext uri="{FF2B5EF4-FFF2-40B4-BE49-F238E27FC236}">
                <a16:creationId xmlns:a16="http://schemas.microsoft.com/office/drawing/2014/main" id="{9258DBE0-4895-740B-7C81-D95418A06029}"/>
              </a:ext>
            </a:extLst>
          </p:cNvPr>
          <p:cNvPicPr>
            <a:picLocks noChangeAspect="1"/>
          </p:cNvPicPr>
          <p:nvPr/>
        </p:nvPicPr>
        <p:blipFill>
          <a:blip r:embed="rId2"/>
          <a:srcRect l="5320" t="25812" r="58936" b="30120"/>
          <a:stretch>
            <a:fillRect/>
          </a:stretch>
        </p:blipFill>
        <p:spPr>
          <a:xfrm>
            <a:off x="1688200" y="1344833"/>
            <a:ext cx="2221190" cy="849279"/>
          </a:xfrm>
          <a:prstGeom prst="rect">
            <a:avLst/>
          </a:prstGeom>
        </p:spPr>
      </p:pic>
      <p:pic>
        <p:nvPicPr>
          <p:cNvPr id="4" name="Picture 3">
            <a:extLst>
              <a:ext uri="{FF2B5EF4-FFF2-40B4-BE49-F238E27FC236}">
                <a16:creationId xmlns:a16="http://schemas.microsoft.com/office/drawing/2014/main" id="{891C0681-B439-5D9A-A37F-EB9F34021C14}"/>
              </a:ext>
            </a:extLst>
          </p:cNvPr>
          <p:cNvPicPr>
            <a:picLocks noChangeAspect="1"/>
          </p:cNvPicPr>
          <p:nvPr/>
        </p:nvPicPr>
        <p:blipFill>
          <a:blip r:embed="rId2"/>
          <a:srcRect l="47372" t="25811" r="17197" b="30121"/>
          <a:stretch>
            <a:fillRect/>
          </a:stretch>
        </p:blipFill>
        <p:spPr>
          <a:xfrm>
            <a:off x="1688200" y="3012350"/>
            <a:ext cx="2201784" cy="849278"/>
          </a:xfrm>
          <a:prstGeom prst="rect">
            <a:avLst/>
          </a:prstGeom>
        </p:spPr>
      </p:pic>
      <p:pic>
        <p:nvPicPr>
          <p:cNvPr id="9" name="Picture 8">
            <a:extLst>
              <a:ext uri="{FF2B5EF4-FFF2-40B4-BE49-F238E27FC236}">
                <a16:creationId xmlns:a16="http://schemas.microsoft.com/office/drawing/2014/main" id="{958761E6-7916-3DA2-481E-D50D414BC0B8}"/>
              </a:ext>
            </a:extLst>
          </p:cNvPr>
          <p:cNvPicPr>
            <a:picLocks noChangeAspect="1"/>
          </p:cNvPicPr>
          <p:nvPr/>
        </p:nvPicPr>
        <p:blipFill>
          <a:blip r:embed="rId3"/>
          <a:srcRect l="4131" t="38123" r="84359" b="15563"/>
          <a:stretch>
            <a:fillRect/>
          </a:stretch>
        </p:blipFill>
        <p:spPr>
          <a:xfrm>
            <a:off x="1496878" y="4596899"/>
            <a:ext cx="2555699" cy="846218"/>
          </a:xfrm>
          <a:prstGeom prst="rect">
            <a:avLst/>
          </a:prstGeom>
        </p:spPr>
      </p:pic>
      <p:pic>
        <p:nvPicPr>
          <p:cNvPr id="15" name="Picture 14">
            <a:extLst>
              <a:ext uri="{FF2B5EF4-FFF2-40B4-BE49-F238E27FC236}">
                <a16:creationId xmlns:a16="http://schemas.microsoft.com/office/drawing/2014/main" id="{695A592A-42C7-1C87-7AA5-CBE7DFA3CA6A}"/>
              </a:ext>
            </a:extLst>
          </p:cNvPr>
          <p:cNvPicPr>
            <a:picLocks noChangeAspect="1"/>
          </p:cNvPicPr>
          <p:nvPr/>
        </p:nvPicPr>
        <p:blipFill>
          <a:blip r:embed="rId3"/>
          <a:srcRect l="44435" t="37768" r="43817" b="16579"/>
          <a:stretch>
            <a:fillRect/>
          </a:stretch>
        </p:blipFill>
        <p:spPr>
          <a:xfrm>
            <a:off x="1396204" y="6407675"/>
            <a:ext cx="2656373" cy="849278"/>
          </a:xfrm>
          <a:prstGeom prst="rect">
            <a:avLst/>
          </a:prstGeom>
        </p:spPr>
      </p:pic>
      <p:pic>
        <p:nvPicPr>
          <p:cNvPr id="17" name="Picture 16">
            <a:extLst>
              <a:ext uri="{FF2B5EF4-FFF2-40B4-BE49-F238E27FC236}">
                <a16:creationId xmlns:a16="http://schemas.microsoft.com/office/drawing/2014/main" id="{C2CCADE3-BB92-E4C6-1621-40F789955D85}"/>
              </a:ext>
            </a:extLst>
          </p:cNvPr>
          <p:cNvPicPr>
            <a:picLocks noChangeAspect="1"/>
          </p:cNvPicPr>
          <p:nvPr/>
        </p:nvPicPr>
        <p:blipFill>
          <a:blip r:embed="rId3"/>
          <a:srcRect l="85025" t="36790" r="3227" b="16896"/>
          <a:stretch>
            <a:fillRect/>
          </a:stretch>
        </p:blipFill>
        <p:spPr>
          <a:xfrm>
            <a:off x="1447800" y="8211547"/>
            <a:ext cx="2618428" cy="849278"/>
          </a:xfrm>
          <a:prstGeom prst="rect">
            <a:avLst/>
          </a:prstGeom>
        </p:spPr>
      </p:pic>
      <p:sp>
        <p:nvSpPr>
          <p:cNvPr id="19" name="Rectangle 1">
            <a:extLst>
              <a:ext uri="{FF2B5EF4-FFF2-40B4-BE49-F238E27FC236}">
                <a16:creationId xmlns:a16="http://schemas.microsoft.com/office/drawing/2014/main" id="{CE8A3871-9640-D0FF-FD1F-C21ECF00C49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現在のゲームを終了するためのボタンです。</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8863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645B89BC-AB27-6EF3-2884-6CF1F6C61F31}"/>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B55BA897-0DA4-8C70-5B0E-F9DACBF6036E}"/>
              </a:ext>
            </a:extLst>
          </p:cNvPr>
          <p:cNvGrpSpPr/>
          <p:nvPr/>
        </p:nvGrpSpPr>
        <p:grpSpPr>
          <a:xfrm>
            <a:off x="680480" y="625871"/>
            <a:ext cx="16927040" cy="9035258"/>
            <a:chOff x="0" y="0"/>
            <a:chExt cx="126402652" cy="67470777"/>
          </a:xfrm>
        </p:grpSpPr>
        <p:sp>
          <p:nvSpPr>
            <p:cNvPr id="7" name="Freeform 3">
              <a:extLst>
                <a:ext uri="{FF2B5EF4-FFF2-40B4-BE49-F238E27FC236}">
                  <a16:creationId xmlns:a16="http://schemas.microsoft.com/office/drawing/2014/main" id="{4703B930-051E-83EA-BB13-01F561A731CF}"/>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29A3E8DB-48CC-8959-E614-12CDD847DBA6}"/>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TextBox 9">
            <a:extLst>
              <a:ext uri="{FF2B5EF4-FFF2-40B4-BE49-F238E27FC236}">
                <a16:creationId xmlns:a16="http://schemas.microsoft.com/office/drawing/2014/main" id="{A706669F-1864-D803-DDA6-880E6793B8CA}"/>
              </a:ext>
            </a:extLst>
          </p:cNvPr>
          <p:cNvSpPr txBox="1"/>
          <p:nvPr/>
        </p:nvSpPr>
        <p:spPr>
          <a:xfrm>
            <a:off x="4100771" y="857768"/>
            <a:ext cx="9812327" cy="866263"/>
          </a:xfrm>
          <a:prstGeom prst="rect">
            <a:avLst/>
          </a:prstGeom>
        </p:spPr>
        <p:txBody>
          <a:bodyPr wrap="square" lIns="0" tIns="0" rIns="0" bIns="0" rtlCol="0" anchor="t">
            <a:spAutoFit/>
          </a:bodyPr>
          <a:lstStyle/>
          <a:p>
            <a:pPr algn="ctr">
              <a:lnSpc>
                <a:spcPts val="6952"/>
              </a:lnSpc>
            </a:pPr>
            <a:r>
              <a:rPr lang="en-US" sz="5400" dirty="0">
                <a:solidFill>
                  <a:srgbClr val="000000"/>
                </a:solidFill>
                <a:latin typeface="Agrandir"/>
                <a:ea typeface="Agrandir"/>
                <a:cs typeface="Agrandir"/>
                <a:sym typeface="Agrandir"/>
              </a:rPr>
              <a:t>Leaderboard / </a:t>
            </a:r>
            <a:r>
              <a:rPr lang="ja-JP" altLang="en-US" sz="5400" dirty="0">
                <a:solidFill>
                  <a:srgbClr val="000000"/>
                </a:solidFill>
                <a:latin typeface="Agrandir"/>
                <a:ea typeface="Agrandir"/>
                <a:cs typeface="Agrandir"/>
                <a:sym typeface="Agrandir"/>
              </a:rPr>
              <a:t>ランキング</a:t>
            </a:r>
            <a:endParaRPr lang="en-US" sz="5400" dirty="0">
              <a:solidFill>
                <a:srgbClr val="000000"/>
              </a:solidFill>
              <a:latin typeface="Agrandir"/>
              <a:ea typeface="Agrandir"/>
              <a:cs typeface="Agrandir"/>
              <a:sym typeface="Agrandir"/>
            </a:endParaRPr>
          </a:p>
        </p:txBody>
      </p:sp>
      <p:sp>
        <p:nvSpPr>
          <p:cNvPr id="2" name="TextBox 10">
            <a:extLst>
              <a:ext uri="{FF2B5EF4-FFF2-40B4-BE49-F238E27FC236}">
                <a16:creationId xmlns:a16="http://schemas.microsoft.com/office/drawing/2014/main" id="{D6FF0CAF-14BE-490B-2A41-55309C9A59EE}"/>
              </a:ext>
            </a:extLst>
          </p:cNvPr>
          <p:cNvSpPr txBox="1"/>
          <p:nvPr/>
        </p:nvSpPr>
        <p:spPr>
          <a:xfrm>
            <a:off x="1447800" y="2687303"/>
            <a:ext cx="9649694" cy="3571042"/>
          </a:xfrm>
          <a:prstGeom prst="rect">
            <a:avLst/>
          </a:prstGeom>
        </p:spPr>
        <p:txBody>
          <a:bodyPr lIns="0" tIns="0" rIns="0" bIns="0" rtlCol="0" anchor="t">
            <a:spAutoFit/>
          </a:bodyPr>
          <a:lstStyle/>
          <a:p>
            <a:pPr algn="just">
              <a:lnSpc>
                <a:spcPts val="3499"/>
              </a:lnSpc>
            </a:pPr>
            <a:r>
              <a:rPr lang="en-US" sz="2800" dirty="0"/>
              <a:t>Horizontal / </a:t>
            </a:r>
            <a:r>
              <a:rPr lang="ja-JP" altLang="en-US" sz="2800" dirty="0"/>
              <a:t>水平</a:t>
            </a:r>
            <a:r>
              <a:rPr lang="en-US" altLang="ja-JP" sz="2800" dirty="0"/>
              <a:t> </a:t>
            </a:r>
          </a:p>
          <a:p>
            <a:pPr algn="just">
              <a:lnSpc>
                <a:spcPts val="3499"/>
              </a:lnSpc>
            </a:pPr>
            <a:r>
              <a:rPr lang="en-US" sz="2800" dirty="0">
                <a:solidFill>
                  <a:schemeClr val="tx2"/>
                </a:solidFill>
              </a:rPr>
              <a:t>	15,000 Points</a:t>
            </a:r>
          </a:p>
          <a:p>
            <a:pPr algn="just">
              <a:lnSpc>
                <a:spcPts val="3499"/>
              </a:lnSpc>
            </a:pPr>
            <a:r>
              <a:rPr lang="en-US" sz="2800" dirty="0"/>
              <a:t>Vertical / </a:t>
            </a:r>
            <a:r>
              <a:rPr lang="ja-JP" altLang="en-US" sz="2800" dirty="0"/>
              <a:t>垂直</a:t>
            </a:r>
            <a:endParaRPr lang="en-US" altLang="ja-JP" sz="2800" dirty="0"/>
          </a:p>
          <a:p>
            <a:pPr algn="just">
              <a:lnSpc>
                <a:spcPts val="3499"/>
              </a:lnSpc>
            </a:pPr>
            <a:r>
              <a:rPr lang="en-US" sz="2800" dirty="0">
                <a:solidFill>
                  <a:schemeClr val="tx2"/>
                </a:solidFill>
              </a:rPr>
              <a:t>	15,000 Points</a:t>
            </a:r>
          </a:p>
          <a:p>
            <a:pPr algn="just">
              <a:lnSpc>
                <a:spcPts val="3499"/>
              </a:lnSpc>
            </a:pPr>
            <a:r>
              <a:rPr lang="en-US" sz="2800" dirty="0"/>
              <a:t>Diagonal / </a:t>
            </a:r>
            <a:r>
              <a:rPr lang="ja-JP" altLang="en-US" sz="2800" dirty="0"/>
              <a:t>対角線</a:t>
            </a:r>
            <a:endParaRPr lang="en-US" altLang="ja-JP" sz="2800" dirty="0"/>
          </a:p>
          <a:p>
            <a:pPr algn="just">
              <a:lnSpc>
                <a:spcPts val="3499"/>
              </a:lnSpc>
            </a:pPr>
            <a:r>
              <a:rPr lang="en-US" sz="2800" dirty="0">
                <a:solidFill>
                  <a:schemeClr val="tx2"/>
                </a:solidFill>
              </a:rPr>
              <a:t>	22,500 Points</a:t>
            </a:r>
          </a:p>
          <a:p>
            <a:pPr algn="just">
              <a:lnSpc>
                <a:spcPts val="3499"/>
              </a:lnSpc>
            </a:pPr>
            <a:r>
              <a:rPr lang="en-US" sz="2800" dirty="0"/>
              <a:t>Random All / </a:t>
            </a:r>
            <a:r>
              <a:rPr lang="ja-JP" altLang="en-US" sz="2800" dirty="0"/>
              <a:t>すべてシャッフル</a:t>
            </a:r>
            <a:endParaRPr lang="en-US" altLang="ja-JP" sz="2800" dirty="0"/>
          </a:p>
          <a:p>
            <a:pPr algn="just">
              <a:lnSpc>
                <a:spcPts val="3499"/>
              </a:lnSpc>
            </a:pPr>
            <a:r>
              <a:rPr lang="en-US" sz="2800" dirty="0">
                <a:solidFill>
                  <a:schemeClr val="tx2"/>
                </a:solidFill>
              </a:rPr>
              <a:t>	30,000 Points </a:t>
            </a:r>
            <a:endParaRPr lang="en-US" sz="2499" dirty="0">
              <a:solidFill>
                <a:schemeClr val="tx2"/>
              </a:solidFill>
              <a:latin typeface="Inter"/>
              <a:ea typeface="Inter"/>
              <a:cs typeface="Inter"/>
              <a:sym typeface="Inter"/>
            </a:endParaRPr>
          </a:p>
        </p:txBody>
      </p:sp>
      <p:sp>
        <p:nvSpPr>
          <p:cNvPr id="10" name="TextBox 9">
            <a:extLst>
              <a:ext uri="{FF2B5EF4-FFF2-40B4-BE49-F238E27FC236}">
                <a16:creationId xmlns:a16="http://schemas.microsoft.com/office/drawing/2014/main" id="{DC0D6AFC-1041-9797-A294-38E7D6DA74E2}"/>
              </a:ext>
            </a:extLst>
          </p:cNvPr>
          <p:cNvSpPr txBox="1"/>
          <p:nvPr/>
        </p:nvSpPr>
        <p:spPr>
          <a:xfrm>
            <a:off x="1447800" y="1711434"/>
            <a:ext cx="8042254" cy="773353"/>
          </a:xfrm>
          <a:prstGeom prst="rect">
            <a:avLst/>
          </a:prstGeom>
        </p:spPr>
        <p:txBody>
          <a:bodyPr lIns="0" tIns="0" rIns="0" bIns="0" rtlCol="0" anchor="t">
            <a:spAutoFit/>
          </a:bodyPr>
          <a:lstStyle/>
          <a:p>
            <a:pPr>
              <a:lnSpc>
                <a:spcPts val="6952"/>
              </a:lnSpc>
            </a:pPr>
            <a:r>
              <a:rPr lang="en-US" sz="2800" b="1" dirty="0">
                <a:solidFill>
                  <a:srgbClr val="000000"/>
                </a:solidFill>
                <a:latin typeface="Agrandir"/>
                <a:ea typeface="Agrandir"/>
                <a:cs typeface="Agrandir"/>
                <a:sym typeface="Agrandir"/>
              </a:rPr>
              <a:t>Base Score / </a:t>
            </a:r>
            <a:r>
              <a:rPr lang="ja-JP" altLang="en-US" sz="2800" b="1" dirty="0">
                <a:solidFill>
                  <a:srgbClr val="000000"/>
                </a:solidFill>
                <a:latin typeface="Agrandir"/>
                <a:ea typeface="Agrandir"/>
                <a:cs typeface="Agrandir"/>
                <a:sym typeface="Agrandir"/>
              </a:rPr>
              <a:t>基本スコア</a:t>
            </a:r>
            <a:endParaRPr lang="en-US" sz="2800" b="1" dirty="0">
              <a:solidFill>
                <a:srgbClr val="000000"/>
              </a:solidFill>
              <a:latin typeface="Agrandir"/>
              <a:ea typeface="Agrandir"/>
              <a:cs typeface="Agrandir"/>
              <a:sym typeface="Agrandir"/>
            </a:endParaRPr>
          </a:p>
        </p:txBody>
      </p:sp>
      <p:sp>
        <p:nvSpPr>
          <p:cNvPr id="12" name="TextBox 10">
            <a:extLst>
              <a:ext uri="{FF2B5EF4-FFF2-40B4-BE49-F238E27FC236}">
                <a16:creationId xmlns:a16="http://schemas.microsoft.com/office/drawing/2014/main" id="{349606F9-5287-F657-238F-2B954EA5B8D3}"/>
              </a:ext>
            </a:extLst>
          </p:cNvPr>
          <p:cNvSpPr txBox="1"/>
          <p:nvPr/>
        </p:nvSpPr>
        <p:spPr>
          <a:xfrm>
            <a:off x="10210800" y="2652097"/>
            <a:ext cx="9649694" cy="2673361"/>
          </a:xfrm>
          <a:prstGeom prst="rect">
            <a:avLst/>
          </a:prstGeom>
        </p:spPr>
        <p:txBody>
          <a:bodyPr lIns="0" tIns="0" rIns="0" bIns="0" rtlCol="0" anchor="t">
            <a:spAutoFit/>
          </a:bodyPr>
          <a:lstStyle/>
          <a:p>
            <a:pPr algn="just">
              <a:lnSpc>
                <a:spcPts val="3499"/>
              </a:lnSpc>
            </a:pPr>
            <a:r>
              <a:rPr lang="en-US" sz="2800" dirty="0"/>
              <a:t>Time / </a:t>
            </a:r>
            <a:r>
              <a:rPr lang="ja-JP" altLang="en-US" sz="2800" dirty="0"/>
              <a:t>時間</a:t>
            </a:r>
            <a:endParaRPr lang="en-US" altLang="ja-JP" sz="2800" dirty="0"/>
          </a:p>
          <a:p>
            <a:pPr algn="just">
              <a:lnSpc>
                <a:spcPts val="3499"/>
              </a:lnSpc>
            </a:pPr>
            <a:r>
              <a:rPr lang="en-US" sz="2800" dirty="0">
                <a:solidFill>
                  <a:schemeClr val="tx2"/>
                </a:solidFill>
              </a:rPr>
              <a:t>	2 points / Second</a:t>
            </a:r>
          </a:p>
          <a:p>
            <a:pPr algn="just">
              <a:lnSpc>
                <a:spcPts val="3499"/>
              </a:lnSpc>
            </a:pPr>
            <a:r>
              <a:rPr lang="en-US" sz="2800" dirty="0"/>
              <a:t>Moves / </a:t>
            </a:r>
            <a:r>
              <a:rPr lang="ja-JP" altLang="en-US" sz="2800" dirty="0"/>
              <a:t>手数</a:t>
            </a:r>
            <a:endParaRPr lang="en-US" altLang="ja-JP" sz="2800" dirty="0"/>
          </a:p>
          <a:p>
            <a:pPr algn="just">
              <a:lnSpc>
                <a:spcPts val="3499"/>
              </a:lnSpc>
            </a:pPr>
            <a:r>
              <a:rPr lang="en-US" sz="2800" dirty="0">
                <a:solidFill>
                  <a:schemeClr val="tx2"/>
                </a:solidFill>
              </a:rPr>
              <a:t>	5 points / Move</a:t>
            </a:r>
          </a:p>
          <a:p>
            <a:pPr algn="just">
              <a:lnSpc>
                <a:spcPts val="3499"/>
              </a:lnSpc>
            </a:pPr>
            <a:r>
              <a:rPr lang="en-US" sz="2800" dirty="0"/>
              <a:t>Hints / </a:t>
            </a:r>
            <a:r>
              <a:rPr lang="ja-JP" altLang="en-US" sz="2800" dirty="0"/>
              <a:t>ヒント</a:t>
            </a:r>
            <a:endParaRPr lang="en-US" altLang="ja-JP" sz="2800" dirty="0"/>
          </a:p>
          <a:p>
            <a:pPr algn="just">
              <a:lnSpc>
                <a:spcPts val="3499"/>
              </a:lnSpc>
            </a:pPr>
            <a:r>
              <a:rPr lang="en-US" sz="2800" dirty="0">
                <a:solidFill>
                  <a:schemeClr val="tx2"/>
                </a:solidFill>
              </a:rPr>
              <a:t>	50 points / Hint</a:t>
            </a:r>
            <a:endParaRPr lang="en-US" sz="2499" dirty="0">
              <a:solidFill>
                <a:schemeClr val="tx2"/>
              </a:solidFill>
              <a:latin typeface="Inter"/>
              <a:ea typeface="Inter"/>
              <a:cs typeface="Inter"/>
              <a:sym typeface="Inter"/>
            </a:endParaRPr>
          </a:p>
        </p:txBody>
      </p:sp>
      <p:sp>
        <p:nvSpPr>
          <p:cNvPr id="13" name="TextBox 12">
            <a:extLst>
              <a:ext uri="{FF2B5EF4-FFF2-40B4-BE49-F238E27FC236}">
                <a16:creationId xmlns:a16="http://schemas.microsoft.com/office/drawing/2014/main" id="{F23190A8-06EE-69E7-C764-F7F5AAB2A361}"/>
              </a:ext>
            </a:extLst>
          </p:cNvPr>
          <p:cNvSpPr txBox="1"/>
          <p:nvPr/>
        </p:nvSpPr>
        <p:spPr>
          <a:xfrm>
            <a:off x="9372600" y="1676228"/>
            <a:ext cx="8042254" cy="783484"/>
          </a:xfrm>
          <a:prstGeom prst="rect">
            <a:avLst/>
          </a:prstGeom>
        </p:spPr>
        <p:txBody>
          <a:bodyPr lIns="0" tIns="0" rIns="0" bIns="0" rtlCol="0" anchor="t">
            <a:spAutoFit/>
          </a:bodyPr>
          <a:lstStyle/>
          <a:p>
            <a:pPr>
              <a:lnSpc>
                <a:spcPts val="6952"/>
              </a:lnSpc>
            </a:pPr>
            <a:r>
              <a:rPr lang="en-US" sz="2800" b="1" dirty="0">
                <a:solidFill>
                  <a:srgbClr val="000000"/>
                </a:solidFill>
                <a:latin typeface="Agrandir"/>
                <a:ea typeface="Agrandir"/>
                <a:cs typeface="Agrandir"/>
                <a:sym typeface="Agrandir"/>
              </a:rPr>
              <a:t>Penalty / </a:t>
            </a:r>
            <a:r>
              <a:rPr lang="ja-JP" altLang="en-US" sz="2800" b="1" dirty="0">
                <a:solidFill>
                  <a:srgbClr val="000000"/>
                </a:solidFill>
                <a:latin typeface="Agrandir"/>
                <a:ea typeface="Agrandir"/>
                <a:cs typeface="Agrandir"/>
                <a:sym typeface="Agrandir"/>
              </a:rPr>
              <a:t>ペナルティ</a:t>
            </a:r>
            <a:endParaRPr lang="en-US" sz="2800" b="1" dirty="0">
              <a:solidFill>
                <a:srgbClr val="000000"/>
              </a:solidFill>
              <a:latin typeface="Agrandir"/>
              <a:ea typeface="Agrandir"/>
              <a:cs typeface="Agrandir"/>
              <a:sym typeface="Agrandir"/>
            </a:endParaRPr>
          </a:p>
        </p:txBody>
      </p:sp>
      <p:sp>
        <p:nvSpPr>
          <p:cNvPr id="14" name="TextBox 13">
            <a:extLst>
              <a:ext uri="{FF2B5EF4-FFF2-40B4-BE49-F238E27FC236}">
                <a16:creationId xmlns:a16="http://schemas.microsoft.com/office/drawing/2014/main" id="{D689872B-525E-56EC-27A0-6C38B6B57D3F}"/>
              </a:ext>
            </a:extLst>
          </p:cNvPr>
          <p:cNvSpPr txBox="1"/>
          <p:nvPr/>
        </p:nvSpPr>
        <p:spPr>
          <a:xfrm>
            <a:off x="964681" y="7540271"/>
            <a:ext cx="8042254" cy="783484"/>
          </a:xfrm>
          <a:prstGeom prst="rect">
            <a:avLst/>
          </a:prstGeom>
        </p:spPr>
        <p:txBody>
          <a:bodyPr lIns="0" tIns="0" rIns="0" bIns="0" rtlCol="0" anchor="t">
            <a:spAutoFit/>
          </a:bodyPr>
          <a:lstStyle/>
          <a:p>
            <a:pPr>
              <a:lnSpc>
                <a:spcPts val="6952"/>
              </a:lnSpc>
            </a:pPr>
            <a:r>
              <a:rPr lang="en-US" sz="2800" dirty="0">
                <a:solidFill>
                  <a:srgbClr val="000000"/>
                </a:solidFill>
                <a:latin typeface="Agrandir"/>
                <a:ea typeface="Agrandir"/>
                <a:cs typeface="Agrandir"/>
                <a:sym typeface="Agrandir"/>
              </a:rPr>
              <a:t>Total Points = </a:t>
            </a:r>
            <a:r>
              <a:rPr lang="en-US" sz="2800" dirty="0">
                <a:solidFill>
                  <a:schemeClr val="tx2"/>
                </a:solidFill>
                <a:latin typeface="Agrandir"/>
                <a:ea typeface="Agrandir"/>
                <a:cs typeface="Agrandir"/>
                <a:sym typeface="Agrandir"/>
              </a:rPr>
              <a:t>Base Points </a:t>
            </a:r>
            <a:r>
              <a:rPr lang="en-US" sz="2800" dirty="0">
                <a:solidFill>
                  <a:srgbClr val="000000"/>
                </a:solidFill>
                <a:latin typeface="Agrandir"/>
                <a:ea typeface="Agrandir"/>
                <a:cs typeface="Agrandir"/>
                <a:sym typeface="Agrandir"/>
              </a:rPr>
              <a:t>- </a:t>
            </a:r>
            <a:r>
              <a:rPr lang="en-US" sz="2800" dirty="0">
                <a:solidFill>
                  <a:srgbClr val="FF0000"/>
                </a:solidFill>
                <a:latin typeface="Agrandir"/>
                <a:ea typeface="Agrandir"/>
                <a:cs typeface="Agrandir"/>
                <a:sym typeface="Agrandir"/>
              </a:rPr>
              <a:t>Penalty</a:t>
            </a:r>
          </a:p>
        </p:txBody>
      </p:sp>
      <p:sp>
        <p:nvSpPr>
          <p:cNvPr id="23" name="TextBox 22">
            <a:extLst>
              <a:ext uri="{FF2B5EF4-FFF2-40B4-BE49-F238E27FC236}">
                <a16:creationId xmlns:a16="http://schemas.microsoft.com/office/drawing/2014/main" id="{6B6D01A0-46F2-6219-2718-C7AB501A3324}"/>
              </a:ext>
            </a:extLst>
          </p:cNvPr>
          <p:cNvSpPr txBox="1"/>
          <p:nvPr/>
        </p:nvSpPr>
        <p:spPr>
          <a:xfrm>
            <a:off x="964681" y="6719822"/>
            <a:ext cx="8042254" cy="783484"/>
          </a:xfrm>
          <a:prstGeom prst="rect">
            <a:avLst/>
          </a:prstGeom>
        </p:spPr>
        <p:txBody>
          <a:bodyPr wrap="square" lIns="0" tIns="0" rIns="0" bIns="0" rtlCol="0" anchor="t">
            <a:spAutoFit/>
          </a:bodyPr>
          <a:lstStyle/>
          <a:p>
            <a:pPr>
              <a:lnSpc>
                <a:spcPts val="6952"/>
              </a:lnSpc>
            </a:pPr>
            <a:r>
              <a:rPr lang="en-US" sz="2800" dirty="0">
                <a:solidFill>
                  <a:srgbClr val="000000"/>
                </a:solidFill>
                <a:latin typeface="Agrandir"/>
                <a:ea typeface="Agrandir"/>
                <a:cs typeface="Agrandir"/>
                <a:sym typeface="Agrandir"/>
              </a:rPr>
              <a:t>Penalty  = (Time * 2) + (Moves * 5) + (Hints * 50) </a:t>
            </a:r>
          </a:p>
        </p:txBody>
      </p:sp>
      <p:pic>
        <p:nvPicPr>
          <p:cNvPr id="4" name="Picture 3">
            <a:extLst>
              <a:ext uri="{FF2B5EF4-FFF2-40B4-BE49-F238E27FC236}">
                <a16:creationId xmlns:a16="http://schemas.microsoft.com/office/drawing/2014/main" id="{00A8F466-FB0D-3004-2658-AD444CD399B3}"/>
              </a:ext>
            </a:extLst>
          </p:cNvPr>
          <p:cNvPicPr>
            <a:picLocks noChangeAspect="1"/>
          </p:cNvPicPr>
          <p:nvPr/>
        </p:nvPicPr>
        <p:blipFill>
          <a:blip r:embed="rId2"/>
          <a:stretch>
            <a:fillRect/>
          </a:stretch>
        </p:blipFill>
        <p:spPr>
          <a:xfrm>
            <a:off x="9271748" y="5436930"/>
            <a:ext cx="8600585" cy="4756577"/>
          </a:xfrm>
          <a:prstGeom prst="rect">
            <a:avLst/>
          </a:prstGeom>
          <a:ln w="19050">
            <a:solidFill>
              <a:schemeClr val="tx1"/>
            </a:solidFill>
          </a:ln>
        </p:spPr>
      </p:pic>
    </p:spTree>
    <p:extLst>
      <p:ext uri="{BB962C8B-B14F-4D97-AF65-F5344CB8AC3E}">
        <p14:creationId xmlns:p14="http://schemas.microsoft.com/office/powerpoint/2010/main" val="1110154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88518A6D-B8B5-B516-2FF6-E76DBDBB0B6E}"/>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A0FC08E7-E472-5FD1-5440-BF3EABD71FFF}"/>
              </a:ext>
            </a:extLst>
          </p:cNvPr>
          <p:cNvGrpSpPr/>
          <p:nvPr/>
        </p:nvGrpSpPr>
        <p:grpSpPr>
          <a:xfrm>
            <a:off x="680480" y="625871"/>
            <a:ext cx="16927040" cy="9035258"/>
            <a:chOff x="0" y="0"/>
            <a:chExt cx="126402652" cy="67470777"/>
          </a:xfrm>
        </p:grpSpPr>
        <p:sp>
          <p:nvSpPr>
            <p:cNvPr id="7" name="Freeform 3">
              <a:extLst>
                <a:ext uri="{FF2B5EF4-FFF2-40B4-BE49-F238E27FC236}">
                  <a16:creationId xmlns:a16="http://schemas.microsoft.com/office/drawing/2014/main" id="{2B709A99-C306-AAB7-55DF-8542120E0516}"/>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D420EF1B-778C-7C4B-E170-AFA41E0C67E0}"/>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4" name="TextBox 13">
            <a:extLst>
              <a:ext uri="{FF2B5EF4-FFF2-40B4-BE49-F238E27FC236}">
                <a16:creationId xmlns:a16="http://schemas.microsoft.com/office/drawing/2014/main" id="{BEB0DA40-28A6-FE5F-6B8D-4D84DB1B4E64}"/>
              </a:ext>
            </a:extLst>
          </p:cNvPr>
          <p:cNvSpPr txBox="1"/>
          <p:nvPr/>
        </p:nvSpPr>
        <p:spPr>
          <a:xfrm>
            <a:off x="1600200" y="6807488"/>
            <a:ext cx="8042254" cy="1667380"/>
          </a:xfrm>
          <a:prstGeom prst="rect">
            <a:avLst/>
          </a:prstGeom>
        </p:spPr>
        <p:txBody>
          <a:bodyPr lIns="0" tIns="0" rIns="0" bIns="0" rtlCol="0" anchor="t">
            <a:spAutoFit/>
          </a:bodyPr>
          <a:lstStyle/>
          <a:p>
            <a:pPr>
              <a:lnSpc>
                <a:spcPts val="6952"/>
              </a:lnSpc>
            </a:pPr>
            <a:r>
              <a:rPr lang="en-US" sz="2800" dirty="0">
                <a:solidFill>
                  <a:srgbClr val="000000"/>
                </a:solidFill>
                <a:latin typeface="Agrandir"/>
                <a:ea typeface="Agrandir"/>
                <a:cs typeface="Agrandir"/>
                <a:sym typeface="Agrandir"/>
              </a:rPr>
              <a:t>Total Points  = </a:t>
            </a:r>
            <a:r>
              <a:rPr lang="en-US" sz="2800" dirty="0">
                <a:solidFill>
                  <a:schemeClr val="tx2"/>
                </a:solidFill>
                <a:latin typeface="Agrandir"/>
                <a:ea typeface="Agrandir"/>
                <a:cs typeface="Agrandir"/>
                <a:sym typeface="Agrandir"/>
              </a:rPr>
              <a:t>30,000</a:t>
            </a:r>
            <a:r>
              <a:rPr lang="en-US" sz="2800" dirty="0">
                <a:solidFill>
                  <a:srgbClr val="000000"/>
                </a:solidFill>
                <a:latin typeface="Agrandir"/>
                <a:ea typeface="Agrandir"/>
                <a:cs typeface="Agrandir"/>
                <a:sym typeface="Agrandir"/>
              </a:rPr>
              <a:t> – </a:t>
            </a:r>
            <a:r>
              <a:rPr lang="en-US" sz="2800" dirty="0">
                <a:solidFill>
                  <a:srgbClr val="FF0000"/>
                </a:solidFill>
                <a:latin typeface="Agrandir"/>
                <a:ea typeface="Agrandir"/>
                <a:cs typeface="Agrandir"/>
                <a:sym typeface="Agrandir"/>
              </a:rPr>
              <a:t>1,836</a:t>
            </a:r>
          </a:p>
          <a:p>
            <a:pPr>
              <a:lnSpc>
                <a:spcPts val="6952"/>
              </a:lnSpc>
            </a:pPr>
            <a:r>
              <a:rPr lang="en-US" sz="2800" dirty="0">
                <a:solidFill>
                  <a:srgbClr val="000000"/>
                </a:solidFill>
                <a:latin typeface="Agrandir"/>
                <a:ea typeface="Agrandir"/>
                <a:cs typeface="Agrandir"/>
                <a:sym typeface="Agrandir"/>
              </a:rPr>
              <a:t>          </a:t>
            </a:r>
            <a:r>
              <a:rPr lang="th-TH" sz="2800" dirty="0">
                <a:solidFill>
                  <a:srgbClr val="000000"/>
                </a:solidFill>
                <a:latin typeface="Agrandir"/>
                <a:ea typeface="Agrandir"/>
                <a:cs typeface="Agrandir"/>
                <a:sym typeface="Agrandir"/>
              </a:rPr>
              <a:t>           </a:t>
            </a:r>
            <a:r>
              <a:rPr lang="en-US" sz="2800" dirty="0">
                <a:solidFill>
                  <a:srgbClr val="000000"/>
                </a:solidFill>
                <a:latin typeface="Agrandir"/>
                <a:ea typeface="Agrandir"/>
                <a:cs typeface="Agrandir"/>
                <a:sym typeface="Agrandir"/>
              </a:rPr>
              <a:t> = </a:t>
            </a:r>
            <a:r>
              <a:rPr lang="en-US" sz="2800" dirty="0">
                <a:solidFill>
                  <a:srgbClr val="00B050"/>
                </a:solidFill>
                <a:latin typeface="Agrandir"/>
                <a:ea typeface="Agrandir"/>
                <a:cs typeface="Agrandir"/>
                <a:sym typeface="Agrandir"/>
              </a:rPr>
              <a:t>28,164</a:t>
            </a:r>
          </a:p>
        </p:txBody>
      </p:sp>
      <p:sp>
        <p:nvSpPr>
          <p:cNvPr id="23" name="TextBox 22">
            <a:extLst>
              <a:ext uri="{FF2B5EF4-FFF2-40B4-BE49-F238E27FC236}">
                <a16:creationId xmlns:a16="http://schemas.microsoft.com/office/drawing/2014/main" id="{1F7FBAB1-690A-C01C-250C-176447A17524}"/>
              </a:ext>
            </a:extLst>
          </p:cNvPr>
          <p:cNvSpPr txBox="1"/>
          <p:nvPr/>
        </p:nvSpPr>
        <p:spPr>
          <a:xfrm>
            <a:off x="2151073" y="5077952"/>
            <a:ext cx="8042254" cy="1667380"/>
          </a:xfrm>
          <a:prstGeom prst="rect">
            <a:avLst/>
          </a:prstGeom>
        </p:spPr>
        <p:txBody>
          <a:bodyPr lIns="0" tIns="0" rIns="0" bIns="0" rtlCol="0" anchor="t">
            <a:spAutoFit/>
          </a:bodyPr>
          <a:lstStyle/>
          <a:p>
            <a:pPr>
              <a:lnSpc>
                <a:spcPts val="6952"/>
              </a:lnSpc>
            </a:pPr>
            <a:r>
              <a:rPr lang="en-US" sz="2800" dirty="0">
                <a:solidFill>
                  <a:srgbClr val="000000"/>
                </a:solidFill>
                <a:latin typeface="Agrandir"/>
                <a:ea typeface="Agrandir"/>
                <a:cs typeface="Agrandir"/>
                <a:sym typeface="Agrandir"/>
              </a:rPr>
              <a:t>Penalty   = (373 * 2) + (138 * 5) + (8 * 50)</a:t>
            </a:r>
          </a:p>
          <a:p>
            <a:pPr>
              <a:lnSpc>
                <a:spcPts val="6952"/>
              </a:lnSpc>
            </a:pPr>
            <a:r>
              <a:rPr lang="en-US" sz="2800" dirty="0">
                <a:solidFill>
                  <a:srgbClr val="000000"/>
                </a:solidFill>
                <a:latin typeface="Agrandir"/>
                <a:ea typeface="Agrandir"/>
                <a:cs typeface="Agrandir"/>
                <a:sym typeface="Agrandir"/>
              </a:rPr>
              <a:t>	       = </a:t>
            </a:r>
            <a:r>
              <a:rPr lang="en-US" sz="2800" dirty="0">
                <a:solidFill>
                  <a:srgbClr val="FF0000"/>
                </a:solidFill>
                <a:latin typeface="Agrandir"/>
                <a:ea typeface="Agrandir"/>
                <a:cs typeface="Agrandir"/>
                <a:sym typeface="Agrandir"/>
              </a:rPr>
              <a:t>1,836 </a:t>
            </a:r>
          </a:p>
        </p:txBody>
      </p:sp>
      <p:pic>
        <p:nvPicPr>
          <p:cNvPr id="4" name="Picture 3">
            <a:extLst>
              <a:ext uri="{FF2B5EF4-FFF2-40B4-BE49-F238E27FC236}">
                <a16:creationId xmlns:a16="http://schemas.microsoft.com/office/drawing/2014/main" id="{C9F2303C-3C10-54DA-E6BC-D85B89A3AF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27995" y="1581150"/>
            <a:ext cx="5036846" cy="7124700"/>
          </a:xfrm>
          <a:prstGeom prst="rect">
            <a:avLst/>
          </a:prstGeom>
          <a:ln w="12700">
            <a:solidFill>
              <a:schemeClr val="tx1"/>
            </a:solidFill>
          </a:ln>
        </p:spPr>
      </p:pic>
      <p:pic>
        <p:nvPicPr>
          <p:cNvPr id="16" name="Picture 15">
            <a:extLst>
              <a:ext uri="{FF2B5EF4-FFF2-40B4-BE49-F238E27FC236}">
                <a16:creationId xmlns:a16="http://schemas.microsoft.com/office/drawing/2014/main" id="{E7582B90-AC06-DF0C-52E2-98085A6BD1D6}"/>
              </a:ext>
            </a:extLst>
          </p:cNvPr>
          <p:cNvPicPr>
            <a:picLocks noChangeAspect="1"/>
          </p:cNvPicPr>
          <p:nvPr/>
        </p:nvPicPr>
        <p:blipFill>
          <a:blip r:embed="rId3"/>
          <a:stretch>
            <a:fillRect/>
          </a:stretch>
        </p:blipFill>
        <p:spPr>
          <a:xfrm>
            <a:off x="876300" y="1829450"/>
            <a:ext cx="10591800" cy="2570506"/>
          </a:xfrm>
          <a:prstGeom prst="rect">
            <a:avLst/>
          </a:prstGeom>
          <a:ln w="28575">
            <a:solidFill>
              <a:schemeClr val="tx1"/>
            </a:solidFill>
          </a:ln>
        </p:spPr>
      </p:pic>
    </p:spTree>
    <p:extLst>
      <p:ext uri="{BB962C8B-B14F-4D97-AF65-F5344CB8AC3E}">
        <p14:creationId xmlns:p14="http://schemas.microsoft.com/office/powerpoint/2010/main" val="21041526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2B891BAD-EB2D-33BF-ACA1-E9463FEBD84E}"/>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67CFB159-149C-B719-FF19-C926B68C3F72}"/>
              </a:ext>
            </a:extLst>
          </p:cNvPr>
          <p:cNvGrpSpPr/>
          <p:nvPr/>
        </p:nvGrpSpPr>
        <p:grpSpPr>
          <a:xfrm>
            <a:off x="680480" y="625871"/>
            <a:ext cx="16927040" cy="9035258"/>
            <a:chOff x="0" y="0"/>
            <a:chExt cx="126402652" cy="67470777"/>
          </a:xfrm>
        </p:grpSpPr>
        <p:sp>
          <p:nvSpPr>
            <p:cNvPr id="7" name="Freeform 3">
              <a:extLst>
                <a:ext uri="{FF2B5EF4-FFF2-40B4-BE49-F238E27FC236}">
                  <a16:creationId xmlns:a16="http://schemas.microsoft.com/office/drawing/2014/main" id="{170EFB6A-5C4C-FCFE-08C0-E1B7779A39CA}"/>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3032A6FF-2C43-871D-971A-338E03067785}"/>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pic>
        <p:nvPicPr>
          <p:cNvPr id="3" name="Picture 2">
            <a:extLst>
              <a:ext uri="{FF2B5EF4-FFF2-40B4-BE49-F238E27FC236}">
                <a16:creationId xmlns:a16="http://schemas.microsoft.com/office/drawing/2014/main" id="{B6BCF3B0-9B45-5E73-65F5-23D4E6C1D6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1016113"/>
            <a:ext cx="5835758" cy="8254773"/>
          </a:xfrm>
          <a:prstGeom prst="rect">
            <a:avLst/>
          </a:prstGeom>
        </p:spPr>
      </p:pic>
      <p:pic>
        <p:nvPicPr>
          <p:cNvPr id="5" name="Picture 4">
            <a:extLst>
              <a:ext uri="{FF2B5EF4-FFF2-40B4-BE49-F238E27FC236}">
                <a16:creationId xmlns:a16="http://schemas.microsoft.com/office/drawing/2014/main" id="{1246BBCE-E972-F6D7-C526-B4A4B926A6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98045" y="1013854"/>
            <a:ext cx="5837355" cy="8257032"/>
          </a:xfrm>
          <a:prstGeom prst="rect">
            <a:avLst/>
          </a:prstGeom>
        </p:spPr>
      </p:pic>
    </p:spTree>
    <p:extLst>
      <p:ext uri="{BB962C8B-B14F-4D97-AF65-F5344CB8AC3E}">
        <p14:creationId xmlns:p14="http://schemas.microsoft.com/office/powerpoint/2010/main" val="2103666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80352B35-9156-7CF6-54A5-1C09C8A854A5}"/>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74509B8B-4992-A5EB-C66F-5781C59D0DD1}"/>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23878A24-B486-955F-13F5-C1CF8EE96CF9}"/>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23BD9B20-28E4-DC25-B1D6-223C4DB92688}"/>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2" name="TextBox 5">
            <a:extLst>
              <a:ext uri="{FF2B5EF4-FFF2-40B4-BE49-F238E27FC236}">
                <a16:creationId xmlns:a16="http://schemas.microsoft.com/office/drawing/2014/main" id="{8BFB7D37-97C6-4542-F5BA-970E641E01CD}"/>
              </a:ext>
            </a:extLst>
          </p:cNvPr>
          <p:cNvSpPr txBox="1"/>
          <p:nvPr/>
        </p:nvSpPr>
        <p:spPr>
          <a:xfrm>
            <a:off x="4202297" y="3541330"/>
            <a:ext cx="9883405" cy="3204339"/>
          </a:xfrm>
          <a:prstGeom prst="rect">
            <a:avLst/>
          </a:prstGeom>
        </p:spPr>
        <p:txBody>
          <a:bodyPr lIns="0" tIns="0" rIns="0" bIns="0" rtlCol="0" anchor="t">
            <a:spAutoFit/>
          </a:bodyPr>
          <a:lstStyle/>
          <a:p>
            <a:pPr algn="ctr">
              <a:lnSpc>
                <a:spcPts val="8543"/>
              </a:lnSpc>
            </a:pPr>
            <a:r>
              <a:rPr lang="en-US" sz="7766" b="1" dirty="0">
                <a:solidFill>
                  <a:srgbClr val="000000"/>
                </a:solidFill>
                <a:latin typeface="Agrandir"/>
                <a:ea typeface="Agrandir"/>
                <a:cs typeface="Agrandir"/>
                <a:sym typeface="Agrandir"/>
              </a:rPr>
              <a:t>04</a:t>
            </a:r>
          </a:p>
          <a:p>
            <a:pPr algn="ctr">
              <a:lnSpc>
                <a:spcPts val="8543"/>
              </a:lnSpc>
            </a:pPr>
            <a:r>
              <a:rPr lang="en-US" sz="6000" spc="600" dirty="0">
                <a:solidFill>
                  <a:srgbClr val="000000"/>
                </a:solidFill>
                <a:latin typeface="Agrandir"/>
                <a:ea typeface="Agrandir"/>
                <a:cs typeface="Agrandir"/>
                <a:sym typeface="Agrandir"/>
              </a:rPr>
              <a:t>Future Features &amp; Challenges</a:t>
            </a:r>
            <a:endParaRPr lang="en-US" sz="7766" dirty="0">
              <a:solidFill>
                <a:srgbClr val="000000"/>
              </a:solidFill>
              <a:latin typeface="Agrandir"/>
              <a:ea typeface="Agrandir"/>
              <a:cs typeface="Agrandir"/>
              <a:sym typeface="Agrandir"/>
            </a:endParaRPr>
          </a:p>
        </p:txBody>
      </p:sp>
    </p:spTree>
    <p:extLst>
      <p:ext uri="{BB962C8B-B14F-4D97-AF65-F5344CB8AC3E}">
        <p14:creationId xmlns:p14="http://schemas.microsoft.com/office/powerpoint/2010/main" val="2237502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F917E210-C980-EEE0-57AA-565F204F9AF7}"/>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0E9790AA-1851-2E67-618D-DA5821CF0F37}"/>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A206D106-26BB-76D9-9057-B471D81484D6}"/>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0D424576-BC46-E116-9AD2-D20D76F0B724}"/>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2" name="TextBox 5">
            <a:extLst>
              <a:ext uri="{FF2B5EF4-FFF2-40B4-BE49-F238E27FC236}">
                <a16:creationId xmlns:a16="http://schemas.microsoft.com/office/drawing/2014/main" id="{478B8DC9-884D-B01A-89B9-6C4D6B4F3E16}"/>
              </a:ext>
            </a:extLst>
          </p:cNvPr>
          <p:cNvSpPr txBox="1"/>
          <p:nvPr/>
        </p:nvSpPr>
        <p:spPr>
          <a:xfrm>
            <a:off x="4202297" y="3541330"/>
            <a:ext cx="9883405" cy="2122056"/>
          </a:xfrm>
          <a:prstGeom prst="rect">
            <a:avLst/>
          </a:prstGeom>
        </p:spPr>
        <p:txBody>
          <a:bodyPr lIns="0" tIns="0" rIns="0" bIns="0" rtlCol="0" anchor="t">
            <a:spAutoFit/>
          </a:bodyPr>
          <a:lstStyle/>
          <a:p>
            <a:pPr algn="ctr">
              <a:lnSpc>
                <a:spcPts val="8543"/>
              </a:lnSpc>
            </a:pPr>
            <a:r>
              <a:rPr lang="en-US" sz="7766" b="1" dirty="0">
                <a:solidFill>
                  <a:srgbClr val="000000"/>
                </a:solidFill>
                <a:latin typeface="Agrandir"/>
                <a:ea typeface="Agrandir"/>
                <a:cs typeface="Agrandir"/>
                <a:sym typeface="Agrandir"/>
              </a:rPr>
              <a:t>04</a:t>
            </a:r>
          </a:p>
          <a:p>
            <a:pPr algn="ctr">
              <a:lnSpc>
                <a:spcPts val="8543"/>
              </a:lnSpc>
            </a:pPr>
            <a:r>
              <a:rPr lang="ja-JP" altLang="en-US" sz="6000" spc="600" dirty="0">
                <a:solidFill>
                  <a:srgbClr val="000000"/>
                </a:solidFill>
                <a:latin typeface="Agrandir"/>
                <a:ea typeface="Agrandir"/>
                <a:cs typeface="Agrandir"/>
                <a:sym typeface="Agrandir"/>
              </a:rPr>
              <a:t>今後の機能拡張と課題</a:t>
            </a:r>
            <a:endParaRPr lang="en-US" sz="7766" dirty="0">
              <a:solidFill>
                <a:srgbClr val="000000"/>
              </a:solidFill>
              <a:latin typeface="Agrandir"/>
              <a:ea typeface="Agrandir"/>
              <a:cs typeface="Agrandir"/>
              <a:sym typeface="Agrandir"/>
            </a:endParaRPr>
          </a:p>
        </p:txBody>
      </p:sp>
    </p:spTree>
    <p:extLst>
      <p:ext uri="{BB962C8B-B14F-4D97-AF65-F5344CB8AC3E}">
        <p14:creationId xmlns:p14="http://schemas.microsoft.com/office/powerpoint/2010/main" val="432968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140A707A-EB07-0F77-D7A1-FF04188236E3}"/>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300C4885-B19A-BB01-FEF2-0424B65F8E8B}"/>
              </a:ext>
            </a:extLst>
          </p:cNvPr>
          <p:cNvGrpSpPr/>
          <p:nvPr/>
        </p:nvGrpSpPr>
        <p:grpSpPr>
          <a:xfrm>
            <a:off x="680480" y="625871"/>
            <a:ext cx="16927040" cy="9035258"/>
            <a:chOff x="0" y="0"/>
            <a:chExt cx="126402652" cy="67470777"/>
          </a:xfrm>
        </p:grpSpPr>
        <p:sp>
          <p:nvSpPr>
            <p:cNvPr id="7" name="Freeform 3">
              <a:extLst>
                <a:ext uri="{FF2B5EF4-FFF2-40B4-BE49-F238E27FC236}">
                  <a16:creationId xmlns:a16="http://schemas.microsoft.com/office/drawing/2014/main" id="{53A0E40F-010A-9B08-C528-4B78853F7328}"/>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B17B50BE-0B7E-0428-460E-E0A367D69B03}"/>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9" name="TextBox 14">
            <a:extLst>
              <a:ext uri="{FF2B5EF4-FFF2-40B4-BE49-F238E27FC236}">
                <a16:creationId xmlns:a16="http://schemas.microsoft.com/office/drawing/2014/main" id="{ACE8A69D-B177-6C3C-E8A4-7AE25C9627D8}"/>
              </a:ext>
            </a:extLst>
          </p:cNvPr>
          <p:cNvSpPr txBox="1"/>
          <p:nvPr/>
        </p:nvSpPr>
        <p:spPr>
          <a:xfrm>
            <a:off x="5122873" y="1864783"/>
            <a:ext cx="8042254" cy="897682"/>
          </a:xfrm>
          <a:prstGeom prst="rect">
            <a:avLst/>
          </a:prstGeom>
        </p:spPr>
        <p:txBody>
          <a:bodyPr lIns="0" tIns="0" rIns="0" bIns="0" rtlCol="0" anchor="t">
            <a:spAutoFit/>
          </a:bodyPr>
          <a:lstStyle/>
          <a:p>
            <a:pPr algn="ctr">
              <a:lnSpc>
                <a:spcPts val="6952"/>
              </a:lnSpc>
            </a:pPr>
            <a:r>
              <a:rPr lang="en-US" sz="6600" dirty="0">
                <a:solidFill>
                  <a:srgbClr val="000000"/>
                </a:solidFill>
                <a:latin typeface="Agrandir"/>
                <a:ea typeface="Agrandir"/>
                <a:cs typeface="Agrandir"/>
                <a:sym typeface="Agrandir"/>
              </a:rPr>
              <a:t>Future Features</a:t>
            </a:r>
            <a:endParaRPr lang="en-US" sz="6320" dirty="0">
              <a:solidFill>
                <a:srgbClr val="000000"/>
              </a:solidFill>
              <a:latin typeface="Agrandir"/>
              <a:ea typeface="Agrandir"/>
              <a:cs typeface="Agrandir"/>
              <a:sym typeface="Agrandir"/>
            </a:endParaRPr>
          </a:p>
        </p:txBody>
      </p:sp>
      <p:sp>
        <p:nvSpPr>
          <p:cNvPr id="6" name="TextBox 6">
            <a:extLst>
              <a:ext uri="{FF2B5EF4-FFF2-40B4-BE49-F238E27FC236}">
                <a16:creationId xmlns:a16="http://schemas.microsoft.com/office/drawing/2014/main" id="{776E6845-A274-3C2F-115E-D75728B1B74B}"/>
              </a:ext>
            </a:extLst>
          </p:cNvPr>
          <p:cNvSpPr txBox="1"/>
          <p:nvPr/>
        </p:nvSpPr>
        <p:spPr>
          <a:xfrm>
            <a:off x="1901536" y="3543300"/>
            <a:ext cx="10290464" cy="4759573"/>
          </a:xfrm>
          <a:prstGeom prst="rect">
            <a:avLst/>
          </a:prstGeom>
        </p:spPr>
        <p:txBody>
          <a:bodyPr wrap="square" lIns="0" tIns="0" rIns="0" bIns="0" rtlCol="0" anchor="t">
            <a:spAutoFit/>
          </a:bodyPr>
          <a:lstStyle/>
          <a:p>
            <a:pPr marL="342900" indent="-342900" algn="just">
              <a:lnSpc>
                <a:spcPts val="3361"/>
              </a:lnSpc>
              <a:buFont typeface="Arial" panose="020B0604020202020204" pitchFamily="34" charset="0"/>
              <a:buChar char="•"/>
            </a:pPr>
            <a:r>
              <a:rPr lang="en-US" sz="2400" b="1" dirty="0">
                <a:solidFill>
                  <a:schemeClr val="tx2"/>
                </a:solidFill>
                <a:latin typeface="Inter"/>
                <a:ea typeface="Inter"/>
                <a:cs typeface="Inter"/>
                <a:sym typeface="Inter"/>
              </a:rPr>
              <a:t>Audio &amp; Sound Effects -&gt; </a:t>
            </a:r>
            <a:r>
              <a:rPr lang="en-US" sz="2400" dirty="0">
                <a:solidFill>
                  <a:srgbClr val="000000"/>
                </a:solidFill>
                <a:latin typeface="Inter"/>
                <a:ea typeface="Inter"/>
                <a:cs typeface="Inter"/>
                <a:sym typeface="Inter"/>
              </a:rPr>
              <a:t>Add immersive audio to improve game feedback</a:t>
            </a:r>
          </a:p>
          <a:p>
            <a:pPr marL="342900" indent="-342900" algn="just">
              <a:lnSpc>
                <a:spcPts val="3361"/>
              </a:lnSpc>
              <a:buFont typeface="Arial" panose="020B0604020202020204" pitchFamily="34" charset="0"/>
              <a:buChar char="•"/>
            </a:pPr>
            <a:endParaRPr lang="en-US" sz="2400" dirty="0">
              <a:solidFill>
                <a:srgbClr val="000000"/>
              </a:solidFill>
              <a:latin typeface="Inter"/>
              <a:ea typeface="Inter"/>
              <a:cs typeface="Inter"/>
              <a:sym typeface="Inter"/>
            </a:endParaRPr>
          </a:p>
          <a:p>
            <a:pPr marL="342900" indent="-342900" algn="just">
              <a:lnSpc>
                <a:spcPts val="3361"/>
              </a:lnSpc>
              <a:buFont typeface="Arial" panose="020B0604020202020204" pitchFamily="34" charset="0"/>
              <a:buChar char="•"/>
            </a:pPr>
            <a:r>
              <a:rPr lang="en-US" sz="2400" b="1" dirty="0">
                <a:solidFill>
                  <a:schemeClr val="tx2"/>
                </a:solidFill>
                <a:latin typeface="Inter"/>
                <a:ea typeface="Inter"/>
                <a:cs typeface="Inter"/>
                <a:sym typeface="Inter"/>
              </a:rPr>
              <a:t>Personalized Themes -&gt; </a:t>
            </a:r>
            <a:r>
              <a:rPr lang="en-US" sz="2400" dirty="0">
                <a:solidFill>
                  <a:srgbClr val="000000"/>
                </a:solidFill>
                <a:latin typeface="Inter"/>
                <a:ea typeface="Inter"/>
                <a:cs typeface="Inter"/>
                <a:sym typeface="Inter"/>
              </a:rPr>
              <a:t>Allow users to upload personal images as board backgrounds</a:t>
            </a:r>
          </a:p>
          <a:p>
            <a:pPr marL="342900" indent="-342900" algn="just">
              <a:lnSpc>
                <a:spcPts val="3361"/>
              </a:lnSpc>
              <a:buFont typeface="Arial" panose="020B0604020202020204" pitchFamily="34" charset="0"/>
              <a:buChar char="•"/>
            </a:pPr>
            <a:endParaRPr lang="en-US" sz="2400" dirty="0">
              <a:solidFill>
                <a:srgbClr val="000000"/>
              </a:solidFill>
              <a:latin typeface="Inter"/>
              <a:ea typeface="Inter"/>
              <a:cs typeface="Inter"/>
              <a:sym typeface="Inter"/>
            </a:endParaRPr>
          </a:p>
          <a:p>
            <a:pPr marL="342900" indent="-342900" algn="just">
              <a:lnSpc>
                <a:spcPts val="3361"/>
              </a:lnSpc>
              <a:buFont typeface="Arial" panose="020B0604020202020204" pitchFamily="34" charset="0"/>
              <a:buChar char="•"/>
            </a:pPr>
            <a:r>
              <a:rPr lang="en-US" sz="2400" b="1" dirty="0">
                <a:solidFill>
                  <a:schemeClr val="tx2"/>
                </a:solidFill>
                <a:latin typeface="Inter"/>
                <a:ea typeface="Inter"/>
                <a:cs typeface="Inter"/>
                <a:sym typeface="Inter"/>
              </a:rPr>
              <a:t>"Back to Classic" Mode -&gt; </a:t>
            </a:r>
            <a:r>
              <a:rPr lang="en-US" sz="2400" dirty="0">
                <a:solidFill>
                  <a:srgbClr val="000000"/>
                </a:solidFill>
                <a:latin typeface="Inter"/>
                <a:ea typeface="Inter"/>
                <a:cs typeface="Inter"/>
                <a:sym typeface="Inter"/>
              </a:rPr>
              <a:t>A minimalist, textless gameplay mode focusing only on numbers.</a:t>
            </a:r>
          </a:p>
          <a:p>
            <a:pPr algn="just">
              <a:lnSpc>
                <a:spcPts val="3361"/>
              </a:lnSpc>
            </a:pPr>
            <a:endParaRPr lang="en-US" sz="2400" dirty="0">
              <a:solidFill>
                <a:srgbClr val="000000"/>
              </a:solidFill>
              <a:latin typeface="Inter"/>
              <a:ea typeface="Inter"/>
              <a:cs typeface="Inter"/>
              <a:sym typeface="Inter"/>
            </a:endParaRPr>
          </a:p>
          <a:p>
            <a:pPr marL="342900" indent="-342900" algn="just">
              <a:lnSpc>
                <a:spcPts val="3361"/>
              </a:lnSpc>
              <a:buFont typeface="Arial" panose="020B0604020202020204" pitchFamily="34" charset="0"/>
              <a:buChar char="•"/>
            </a:pPr>
            <a:r>
              <a:rPr lang="en-US" sz="2400" b="1" dirty="0">
                <a:solidFill>
                  <a:schemeClr val="tx2"/>
                </a:solidFill>
                <a:latin typeface="Inter"/>
                <a:ea typeface="Inter"/>
                <a:cs typeface="Inter"/>
                <a:sym typeface="Inter"/>
              </a:rPr>
              <a:t>Hardware/Physical Version -&gt; </a:t>
            </a:r>
            <a:r>
              <a:rPr lang="en-US" sz="2400" dirty="0">
                <a:solidFill>
                  <a:srgbClr val="000000"/>
                </a:solidFill>
                <a:latin typeface="Inter"/>
                <a:ea typeface="Inter"/>
                <a:cs typeface="Inter"/>
                <a:sym typeface="Inter"/>
              </a:rPr>
              <a:t>Bring the puzzle to life as an interactive physical IoT device.</a:t>
            </a:r>
          </a:p>
        </p:txBody>
      </p:sp>
    </p:spTree>
    <p:extLst>
      <p:ext uri="{BB962C8B-B14F-4D97-AF65-F5344CB8AC3E}">
        <p14:creationId xmlns:p14="http://schemas.microsoft.com/office/powerpoint/2010/main" val="550052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F84E2ED7-17D2-5435-CB3B-732CD01D9F54}"/>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43179BAE-7011-C51C-586B-1A5AE53C623F}"/>
              </a:ext>
            </a:extLst>
          </p:cNvPr>
          <p:cNvGrpSpPr/>
          <p:nvPr/>
        </p:nvGrpSpPr>
        <p:grpSpPr>
          <a:xfrm>
            <a:off x="680480" y="625871"/>
            <a:ext cx="16927040" cy="9035258"/>
            <a:chOff x="0" y="0"/>
            <a:chExt cx="126402652" cy="67470777"/>
          </a:xfrm>
        </p:grpSpPr>
        <p:sp>
          <p:nvSpPr>
            <p:cNvPr id="7" name="Freeform 3">
              <a:extLst>
                <a:ext uri="{FF2B5EF4-FFF2-40B4-BE49-F238E27FC236}">
                  <a16:creationId xmlns:a16="http://schemas.microsoft.com/office/drawing/2014/main" id="{D2E2C8A6-03D3-2B25-4836-F75117BF3F26}"/>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B2970AD2-2482-CA60-7392-6C07623E89E5}"/>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9" name="TextBox 14">
            <a:extLst>
              <a:ext uri="{FF2B5EF4-FFF2-40B4-BE49-F238E27FC236}">
                <a16:creationId xmlns:a16="http://schemas.microsoft.com/office/drawing/2014/main" id="{BFA45619-4ED6-2A35-40C6-125EBCD99B69}"/>
              </a:ext>
            </a:extLst>
          </p:cNvPr>
          <p:cNvSpPr txBox="1"/>
          <p:nvPr/>
        </p:nvSpPr>
        <p:spPr>
          <a:xfrm>
            <a:off x="5122873" y="1864783"/>
            <a:ext cx="8042254" cy="909223"/>
          </a:xfrm>
          <a:prstGeom prst="rect">
            <a:avLst/>
          </a:prstGeom>
        </p:spPr>
        <p:txBody>
          <a:bodyPr lIns="0" tIns="0" rIns="0" bIns="0" rtlCol="0" anchor="t">
            <a:spAutoFit/>
          </a:bodyPr>
          <a:lstStyle/>
          <a:p>
            <a:pPr algn="ctr">
              <a:lnSpc>
                <a:spcPts val="6952"/>
              </a:lnSpc>
            </a:pPr>
            <a:r>
              <a:rPr lang="ja-JP" altLang="en-US" sz="6600" b="1" dirty="0">
                <a:solidFill>
                  <a:srgbClr val="000000"/>
                </a:solidFill>
                <a:latin typeface="Agrandir"/>
                <a:ea typeface="Agrandir"/>
                <a:cs typeface="Agrandir"/>
                <a:sym typeface="Agrandir"/>
              </a:rPr>
              <a:t>今後の機能</a:t>
            </a:r>
            <a:endParaRPr lang="en-US" sz="6320" b="1" dirty="0">
              <a:solidFill>
                <a:srgbClr val="000000"/>
              </a:solidFill>
              <a:latin typeface="Agrandir"/>
              <a:ea typeface="Agrandir"/>
              <a:cs typeface="Agrandir"/>
              <a:sym typeface="Agrandir"/>
            </a:endParaRPr>
          </a:p>
        </p:txBody>
      </p:sp>
      <p:sp>
        <p:nvSpPr>
          <p:cNvPr id="6" name="TextBox 6">
            <a:extLst>
              <a:ext uri="{FF2B5EF4-FFF2-40B4-BE49-F238E27FC236}">
                <a16:creationId xmlns:a16="http://schemas.microsoft.com/office/drawing/2014/main" id="{898CAE49-4358-8D86-AB65-79BB1190B2E2}"/>
              </a:ext>
            </a:extLst>
          </p:cNvPr>
          <p:cNvSpPr txBox="1"/>
          <p:nvPr/>
        </p:nvSpPr>
        <p:spPr>
          <a:xfrm>
            <a:off x="1901536" y="3543300"/>
            <a:ext cx="10290464" cy="4759573"/>
          </a:xfrm>
          <a:prstGeom prst="rect">
            <a:avLst/>
          </a:prstGeom>
        </p:spPr>
        <p:txBody>
          <a:bodyPr wrap="square" lIns="0" tIns="0" rIns="0" bIns="0" rtlCol="0" anchor="t">
            <a:spAutoFit/>
          </a:bodyPr>
          <a:lstStyle/>
          <a:p>
            <a:pPr marL="342900" indent="-342900" algn="just">
              <a:lnSpc>
                <a:spcPts val="3361"/>
              </a:lnSpc>
              <a:buFont typeface="Arial" panose="020B0604020202020204" pitchFamily="34" charset="0"/>
              <a:buChar char="•"/>
            </a:pPr>
            <a:r>
              <a:rPr lang="ja-JP" altLang="en-US" sz="2400" b="1" dirty="0">
                <a:solidFill>
                  <a:schemeClr val="tx2"/>
                </a:solidFill>
                <a:latin typeface="Inter" panose="020B0604020202020204" charset="0"/>
                <a:ea typeface="Inter"/>
                <a:cs typeface="Inter"/>
                <a:sym typeface="Inter"/>
              </a:rPr>
              <a:t>オーディオとサウンドエフェクト </a:t>
            </a:r>
            <a:r>
              <a:rPr lang="en-US" altLang="ja-JP" sz="2400" b="1" dirty="0">
                <a:solidFill>
                  <a:schemeClr val="tx2"/>
                </a:solidFill>
                <a:latin typeface="Inter" panose="020B0604020202020204" charset="0"/>
                <a:ea typeface="Inter" panose="020B0604020202020204" charset="0"/>
                <a:cs typeface="Inter"/>
                <a:sym typeface="Inter"/>
              </a:rPr>
              <a:t>-&gt; </a:t>
            </a:r>
            <a:r>
              <a:rPr lang="ja-JP" altLang="en-US" sz="2400" dirty="0">
                <a:solidFill>
                  <a:srgbClr val="000000"/>
                </a:solidFill>
                <a:latin typeface="Inter" panose="020B0604020202020204" charset="0"/>
                <a:ea typeface="Inter"/>
                <a:cs typeface="Inter"/>
                <a:sym typeface="Inter"/>
              </a:rPr>
              <a:t>ゲームのフィードバックを向上させる没入型オーディオの追加</a:t>
            </a:r>
            <a:endParaRPr lang="th-TH" altLang="ja-JP" sz="2400" dirty="0">
              <a:solidFill>
                <a:srgbClr val="000000"/>
              </a:solidFill>
              <a:latin typeface="Inter" panose="020B0604020202020204" charset="0"/>
              <a:ea typeface="Inter" panose="020B0604020202020204" charset="0"/>
              <a:cs typeface="Inter"/>
              <a:sym typeface="Inter"/>
            </a:endParaRPr>
          </a:p>
          <a:p>
            <a:pPr marL="342900" indent="-342900" algn="just">
              <a:lnSpc>
                <a:spcPts val="3361"/>
              </a:lnSpc>
              <a:buFont typeface="Arial" panose="020B0604020202020204" pitchFamily="34" charset="0"/>
              <a:buChar char="•"/>
            </a:pPr>
            <a:endParaRPr lang="en-US" sz="2400" dirty="0">
              <a:solidFill>
                <a:srgbClr val="000000"/>
              </a:solidFill>
              <a:latin typeface="Inter" panose="020B0604020202020204" charset="0"/>
              <a:ea typeface="Inter" panose="020B0604020202020204" charset="0"/>
              <a:cs typeface="Inter"/>
              <a:sym typeface="Inter"/>
            </a:endParaRPr>
          </a:p>
          <a:p>
            <a:pPr marL="342900" indent="-342900" algn="just">
              <a:lnSpc>
                <a:spcPts val="3361"/>
              </a:lnSpc>
              <a:buFont typeface="Arial" panose="020B0604020202020204" pitchFamily="34" charset="0"/>
              <a:buChar char="•"/>
            </a:pPr>
            <a:r>
              <a:rPr lang="en-US" sz="2400" b="1" dirty="0" err="1">
                <a:solidFill>
                  <a:schemeClr val="tx2"/>
                </a:solidFill>
                <a:latin typeface="Inter" panose="020B0604020202020204" charset="0"/>
                <a:ea typeface="Inter" panose="020B0604020202020204" charset="0"/>
              </a:rPr>
              <a:t>パーソナライズされたテーマ</a:t>
            </a:r>
            <a:r>
              <a:rPr lang="en-US" sz="2400" b="1" dirty="0">
                <a:solidFill>
                  <a:schemeClr val="tx2"/>
                </a:solidFill>
                <a:latin typeface="Inter" panose="020B0604020202020204" charset="0"/>
                <a:ea typeface="Inter" panose="020B0604020202020204" charset="0"/>
              </a:rPr>
              <a:t> -&gt; </a:t>
            </a:r>
            <a:r>
              <a:rPr lang="en-US" sz="2400" dirty="0" err="1">
                <a:latin typeface="Inter" panose="020B0604020202020204" charset="0"/>
                <a:ea typeface="Inter" panose="020B0604020202020204" charset="0"/>
              </a:rPr>
              <a:t>ユーザーが独自の画像をボードの背景としてアップロードできるようにする</a:t>
            </a:r>
            <a:endParaRPr lang="th-TH" sz="2400" dirty="0">
              <a:latin typeface="Inter" panose="020B0604020202020204" charset="0"/>
              <a:ea typeface="Inter" panose="020B0604020202020204" charset="0"/>
            </a:endParaRPr>
          </a:p>
          <a:p>
            <a:pPr marL="342900" indent="-342900" algn="just">
              <a:lnSpc>
                <a:spcPts val="3361"/>
              </a:lnSpc>
              <a:buFont typeface="Arial" panose="020B0604020202020204" pitchFamily="34" charset="0"/>
              <a:buChar char="•"/>
            </a:pPr>
            <a:endParaRPr lang="en-US" sz="2400" dirty="0">
              <a:solidFill>
                <a:srgbClr val="000000"/>
              </a:solidFill>
              <a:latin typeface="Inter" panose="020B0604020202020204" charset="0"/>
              <a:ea typeface="Inter" panose="020B0604020202020204" charset="0"/>
              <a:cs typeface="Inter"/>
              <a:sym typeface="Inter"/>
            </a:endParaRPr>
          </a:p>
          <a:p>
            <a:pPr marL="342900" indent="-342900" algn="just">
              <a:lnSpc>
                <a:spcPts val="3361"/>
              </a:lnSpc>
              <a:buFont typeface="Arial" panose="020B0604020202020204" pitchFamily="34" charset="0"/>
              <a:buChar char="•"/>
            </a:pPr>
            <a:r>
              <a:rPr lang="en-US" sz="2400" b="1" dirty="0">
                <a:solidFill>
                  <a:schemeClr val="tx2"/>
                </a:solidFill>
                <a:latin typeface="Inter" panose="020B0604020202020204" charset="0"/>
                <a:ea typeface="Inter" panose="020B0604020202020204" charset="0"/>
              </a:rPr>
              <a:t>「</a:t>
            </a:r>
            <a:r>
              <a:rPr lang="en-US" sz="2400" b="1" dirty="0" err="1">
                <a:solidFill>
                  <a:schemeClr val="tx2"/>
                </a:solidFill>
                <a:latin typeface="Inter" panose="020B0604020202020204" charset="0"/>
                <a:ea typeface="Inter" panose="020B0604020202020204" charset="0"/>
              </a:rPr>
              <a:t>バック・トゥ・クラシック」モード</a:t>
            </a:r>
            <a:r>
              <a:rPr lang="en-US" sz="2400" b="1" dirty="0">
                <a:solidFill>
                  <a:schemeClr val="tx2"/>
                </a:solidFill>
                <a:latin typeface="Inter" panose="020B0604020202020204" charset="0"/>
                <a:ea typeface="Inter" panose="020B0604020202020204" charset="0"/>
              </a:rPr>
              <a:t> -&gt; </a:t>
            </a:r>
            <a:r>
              <a:rPr lang="en-US" sz="2400" dirty="0" err="1">
                <a:latin typeface="Inter" panose="020B0604020202020204" charset="0"/>
                <a:ea typeface="Inter" panose="020B0604020202020204" charset="0"/>
              </a:rPr>
              <a:t>数字のみに焦点を当てた、テキストなしのミニマルなゲームプレイモード</a:t>
            </a:r>
            <a:endParaRPr lang="th-TH" sz="2400" dirty="0">
              <a:latin typeface="Inter" panose="020B0604020202020204" charset="0"/>
              <a:ea typeface="Inter" panose="020B0604020202020204" charset="0"/>
            </a:endParaRPr>
          </a:p>
          <a:p>
            <a:pPr marL="342900" indent="-342900" algn="just">
              <a:lnSpc>
                <a:spcPts val="3361"/>
              </a:lnSpc>
              <a:buFont typeface="Arial" panose="020B0604020202020204" pitchFamily="34" charset="0"/>
              <a:buChar char="•"/>
            </a:pPr>
            <a:endParaRPr lang="en-US" sz="2400" dirty="0">
              <a:solidFill>
                <a:srgbClr val="000000"/>
              </a:solidFill>
              <a:latin typeface="Inter" panose="020B0604020202020204" charset="0"/>
              <a:ea typeface="Inter" panose="020B0604020202020204" charset="0"/>
              <a:cs typeface="Inter"/>
              <a:sym typeface="Inter"/>
            </a:endParaRPr>
          </a:p>
          <a:p>
            <a:pPr marL="342900" indent="-342900" algn="just">
              <a:lnSpc>
                <a:spcPts val="3361"/>
              </a:lnSpc>
              <a:buFont typeface="Arial" panose="020B0604020202020204" pitchFamily="34" charset="0"/>
              <a:buChar char="•"/>
            </a:pPr>
            <a:r>
              <a:rPr lang="ja-JP" altLang="en-US" sz="2400" b="1" dirty="0">
                <a:solidFill>
                  <a:schemeClr val="tx2"/>
                </a:solidFill>
                <a:latin typeface="Inter" panose="020B0604020202020204" charset="0"/>
                <a:ea typeface="Inter"/>
                <a:cs typeface="Inter"/>
                <a:sym typeface="Inter"/>
              </a:rPr>
              <a:t>ハードウェア</a:t>
            </a:r>
            <a:r>
              <a:rPr lang="en-US" altLang="ja-JP" sz="2400" b="1" dirty="0">
                <a:solidFill>
                  <a:schemeClr val="tx2"/>
                </a:solidFill>
                <a:latin typeface="Inter" panose="020B0604020202020204" charset="0"/>
                <a:ea typeface="Inter" panose="020B0604020202020204" charset="0"/>
                <a:cs typeface="Inter"/>
                <a:sym typeface="Inter"/>
              </a:rPr>
              <a:t>/</a:t>
            </a:r>
            <a:r>
              <a:rPr lang="ja-JP" altLang="en-US" sz="2400" b="1" dirty="0">
                <a:solidFill>
                  <a:schemeClr val="tx2"/>
                </a:solidFill>
                <a:latin typeface="Inter" panose="020B0604020202020204" charset="0"/>
                <a:ea typeface="Inter"/>
                <a:cs typeface="Inter"/>
                <a:sym typeface="Inter"/>
              </a:rPr>
              <a:t>フィジカル版 </a:t>
            </a:r>
            <a:r>
              <a:rPr lang="en-US" altLang="ja-JP" sz="2400" b="1" dirty="0">
                <a:solidFill>
                  <a:schemeClr val="tx2"/>
                </a:solidFill>
                <a:latin typeface="Inter" panose="020B0604020202020204" charset="0"/>
                <a:ea typeface="Inter" panose="020B0604020202020204" charset="0"/>
                <a:cs typeface="Inter"/>
                <a:sym typeface="Inter"/>
              </a:rPr>
              <a:t>-&gt; </a:t>
            </a:r>
            <a:r>
              <a:rPr lang="ja-JP" altLang="en-US" sz="2400" dirty="0">
                <a:solidFill>
                  <a:srgbClr val="000000"/>
                </a:solidFill>
                <a:latin typeface="Inter" panose="020B0604020202020204" charset="0"/>
                <a:ea typeface="Inter"/>
                <a:cs typeface="Inter"/>
                <a:sym typeface="Inter"/>
              </a:rPr>
              <a:t>インタラクティブな物理</a:t>
            </a:r>
            <a:r>
              <a:rPr lang="en-US" altLang="ja-JP" sz="2400" dirty="0">
                <a:solidFill>
                  <a:srgbClr val="000000"/>
                </a:solidFill>
                <a:latin typeface="Inter" panose="020B0604020202020204" charset="0"/>
                <a:ea typeface="Inter" panose="020B0604020202020204" charset="0"/>
                <a:cs typeface="Inter"/>
                <a:sym typeface="Inter"/>
              </a:rPr>
              <a:t>IoT</a:t>
            </a:r>
            <a:r>
              <a:rPr lang="ja-JP" altLang="en-US" sz="2400" dirty="0">
                <a:solidFill>
                  <a:srgbClr val="000000"/>
                </a:solidFill>
                <a:latin typeface="Inter" panose="020B0604020202020204" charset="0"/>
                <a:ea typeface="Inter"/>
                <a:cs typeface="Inter"/>
                <a:sym typeface="Inter"/>
              </a:rPr>
              <a:t>デバイスとしてパズルを実現する</a:t>
            </a:r>
            <a:endParaRPr lang="en-US" sz="2400" dirty="0">
              <a:solidFill>
                <a:srgbClr val="000000"/>
              </a:solidFill>
              <a:latin typeface="Inter" panose="020B0604020202020204" charset="0"/>
              <a:ea typeface="Inter" panose="020B0604020202020204" charset="0"/>
              <a:cs typeface="Inter"/>
              <a:sym typeface="Inter"/>
            </a:endParaRPr>
          </a:p>
        </p:txBody>
      </p:sp>
    </p:spTree>
    <p:extLst>
      <p:ext uri="{BB962C8B-B14F-4D97-AF65-F5344CB8AC3E}">
        <p14:creationId xmlns:p14="http://schemas.microsoft.com/office/powerpoint/2010/main" val="104526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AB2650A2-1D7A-6C9E-1231-C6DFE629833A}"/>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EFFA5C8B-5103-F8AA-2BB8-DDB2B0679F5C}"/>
              </a:ext>
            </a:extLst>
          </p:cNvPr>
          <p:cNvGrpSpPr/>
          <p:nvPr/>
        </p:nvGrpSpPr>
        <p:grpSpPr>
          <a:xfrm>
            <a:off x="680480" y="625871"/>
            <a:ext cx="16927040" cy="9035258"/>
            <a:chOff x="0" y="0"/>
            <a:chExt cx="126402652" cy="67470777"/>
          </a:xfrm>
        </p:grpSpPr>
        <p:sp>
          <p:nvSpPr>
            <p:cNvPr id="7" name="Freeform 3">
              <a:extLst>
                <a:ext uri="{FF2B5EF4-FFF2-40B4-BE49-F238E27FC236}">
                  <a16:creationId xmlns:a16="http://schemas.microsoft.com/office/drawing/2014/main" id="{6E78D87A-1671-16CF-B511-173BC2554001}"/>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DE472BF8-B921-D02F-4D09-C125135830FC}"/>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9" name="TextBox 14">
            <a:extLst>
              <a:ext uri="{FF2B5EF4-FFF2-40B4-BE49-F238E27FC236}">
                <a16:creationId xmlns:a16="http://schemas.microsoft.com/office/drawing/2014/main" id="{12F86CD4-507B-30E0-E66F-ACD77C1E38E3}"/>
              </a:ext>
            </a:extLst>
          </p:cNvPr>
          <p:cNvSpPr txBox="1"/>
          <p:nvPr/>
        </p:nvSpPr>
        <p:spPr>
          <a:xfrm>
            <a:off x="5122873" y="1864783"/>
            <a:ext cx="8042254" cy="897682"/>
          </a:xfrm>
          <a:prstGeom prst="rect">
            <a:avLst/>
          </a:prstGeom>
        </p:spPr>
        <p:txBody>
          <a:bodyPr lIns="0" tIns="0" rIns="0" bIns="0" rtlCol="0" anchor="t">
            <a:spAutoFit/>
          </a:bodyPr>
          <a:lstStyle/>
          <a:p>
            <a:pPr algn="ctr">
              <a:lnSpc>
                <a:spcPts val="6952"/>
              </a:lnSpc>
            </a:pPr>
            <a:r>
              <a:rPr lang="en-US" sz="6320" dirty="0">
                <a:solidFill>
                  <a:srgbClr val="000000"/>
                </a:solidFill>
                <a:latin typeface="Agrandir"/>
                <a:ea typeface="Agrandir"/>
                <a:cs typeface="Agrandir"/>
                <a:sym typeface="Agrandir"/>
              </a:rPr>
              <a:t>Challenges</a:t>
            </a:r>
          </a:p>
        </p:txBody>
      </p:sp>
      <p:sp>
        <p:nvSpPr>
          <p:cNvPr id="6" name="TextBox 6">
            <a:extLst>
              <a:ext uri="{FF2B5EF4-FFF2-40B4-BE49-F238E27FC236}">
                <a16:creationId xmlns:a16="http://schemas.microsoft.com/office/drawing/2014/main" id="{1C3C630C-444E-327F-66E5-2AD3DA2AAF1A}"/>
              </a:ext>
            </a:extLst>
          </p:cNvPr>
          <p:cNvSpPr txBox="1"/>
          <p:nvPr/>
        </p:nvSpPr>
        <p:spPr>
          <a:xfrm>
            <a:off x="1901536" y="3982016"/>
            <a:ext cx="10290464" cy="4759573"/>
          </a:xfrm>
          <a:prstGeom prst="rect">
            <a:avLst/>
          </a:prstGeom>
        </p:spPr>
        <p:txBody>
          <a:bodyPr wrap="square" lIns="0" tIns="0" rIns="0" bIns="0" rtlCol="0" anchor="t">
            <a:spAutoFit/>
          </a:bodyPr>
          <a:lstStyle/>
          <a:p>
            <a:pPr marL="342900" indent="-342900" algn="just">
              <a:lnSpc>
                <a:spcPts val="3361"/>
              </a:lnSpc>
              <a:buFont typeface="Arial" panose="020B0604020202020204" pitchFamily="34" charset="0"/>
              <a:buChar char="•"/>
            </a:pPr>
            <a:r>
              <a:rPr lang="en-US" sz="2400" b="1" dirty="0">
                <a:solidFill>
                  <a:schemeClr val="tx2"/>
                </a:solidFill>
                <a:latin typeface="Inter"/>
                <a:ea typeface="Inter"/>
                <a:cs typeface="Inter"/>
                <a:sym typeface="Inter"/>
              </a:rPr>
              <a:t>Font Compatibility -&gt; </a:t>
            </a:r>
            <a:r>
              <a:rPr lang="en-US" sz="2400" dirty="0">
                <a:solidFill>
                  <a:srgbClr val="000000"/>
                </a:solidFill>
                <a:latin typeface="Inter"/>
                <a:ea typeface="Inter"/>
                <a:cs typeface="Inter"/>
                <a:sym typeface="Inter"/>
              </a:rPr>
              <a:t>Supporting multiple languages, symbols, and emojis risks broken layouts or unreadable characters when exporting certificates to PNG on machines lacking those specific fonts.</a:t>
            </a:r>
          </a:p>
          <a:p>
            <a:pPr marL="342900" indent="-342900" algn="just">
              <a:lnSpc>
                <a:spcPts val="3361"/>
              </a:lnSpc>
              <a:buFont typeface="Arial" panose="020B0604020202020204" pitchFamily="34" charset="0"/>
              <a:buChar char="•"/>
            </a:pPr>
            <a:endParaRPr lang="en-US" sz="2400" dirty="0">
              <a:solidFill>
                <a:srgbClr val="000000"/>
              </a:solidFill>
              <a:latin typeface="Inter"/>
              <a:ea typeface="Inter"/>
              <a:cs typeface="Inter"/>
              <a:sym typeface="Inter"/>
            </a:endParaRPr>
          </a:p>
          <a:p>
            <a:pPr marL="342900" indent="-342900" algn="just">
              <a:lnSpc>
                <a:spcPts val="3361"/>
              </a:lnSpc>
              <a:buFont typeface="Arial" panose="020B0604020202020204" pitchFamily="34" charset="0"/>
              <a:buChar char="•"/>
            </a:pPr>
            <a:r>
              <a:rPr lang="en-US" sz="2400" b="1" dirty="0">
                <a:solidFill>
                  <a:schemeClr val="tx2"/>
                </a:solidFill>
                <a:latin typeface="Inter"/>
                <a:ea typeface="Inter"/>
                <a:cs typeface="Inter"/>
                <a:sym typeface="Inter"/>
              </a:rPr>
              <a:t>Difficulty Balancing -&gt; </a:t>
            </a:r>
            <a:r>
              <a:rPr lang="en-US" sz="2400" dirty="0">
                <a:solidFill>
                  <a:srgbClr val="000000"/>
                </a:solidFill>
                <a:latin typeface="Inter"/>
                <a:ea typeface="Inter"/>
                <a:cs typeface="Inter"/>
                <a:sym typeface="Inter"/>
              </a:rPr>
              <a:t>Since the game targets children but lacks real-user testing, the puzzles might be too difficult, potentially causing young players to get frustrated and quit early.</a:t>
            </a:r>
          </a:p>
          <a:p>
            <a:pPr marL="342900" indent="-342900" algn="just">
              <a:lnSpc>
                <a:spcPts val="3361"/>
              </a:lnSpc>
              <a:buFont typeface="Arial" panose="020B0604020202020204" pitchFamily="34" charset="0"/>
              <a:buChar char="•"/>
            </a:pPr>
            <a:endParaRPr lang="en-US" sz="2400" dirty="0">
              <a:solidFill>
                <a:srgbClr val="000000"/>
              </a:solidFill>
              <a:latin typeface="Inter"/>
              <a:ea typeface="Inter"/>
              <a:cs typeface="Inter"/>
              <a:sym typeface="Inter"/>
            </a:endParaRPr>
          </a:p>
          <a:p>
            <a:pPr marL="342900" indent="-342900" algn="just">
              <a:lnSpc>
                <a:spcPts val="3361"/>
              </a:lnSpc>
              <a:buFont typeface="Arial" panose="020B0604020202020204" pitchFamily="34" charset="0"/>
              <a:buChar char="•"/>
            </a:pPr>
            <a:r>
              <a:rPr lang="en-US" sz="2400" b="1" dirty="0">
                <a:solidFill>
                  <a:schemeClr val="tx2"/>
                </a:solidFill>
                <a:latin typeface="Inter"/>
                <a:ea typeface="Inter"/>
                <a:cs typeface="Inter"/>
                <a:sym typeface="Inter"/>
              </a:rPr>
              <a:t>Printing Costs -&gt; </a:t>
            </a:r>
            <a:r>
              <a:rPr lang="en-US" sz="2400" dirty="0">
                <a:solidFill>
                  <a:srgbClr val="000000"/>
                </a:solidFill>
                <a:latin typeface="Inter"/>
                <a:ea typeface="Inter"/>
                <a:cs typeface="Inter"/>
                <a:sym typeface="Inter"/>
              </a:rPr>
              <a:t>Despite being A4-optimized, the current design causes heavy ink consumption, raising total printing costs.</a:t>
            </a:r>
          </a:p>
        </p:txBody>
      </p:sp>
    </p:spTree>
    <p:extLst>
      <p:ext uri="{BB962C8B-B14F-4D97-AF65-F5344CB8AC3E}">
        <p14:creationId xmlns:p14="http://schemas.microsoft.com/office/powerpoint/2010/main" val="32751454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a:extLst>
            <a:ext uri="{FF2B5EF4-FFF2-40B4-BE49-F238E27FC236}">
              <a16:creationId xmlns:a16="http://schemas.microsoft.com/office/drawing/2014/main" id="{C2581A54-9117-25ED-46E4-A970BA105852}"/>
            </a:ext>
          </a:extLst>
        </p:cNvPr>
        <p:cNvGrpSpPr/>
        <p:nvPr/>
      </p:nvGrpSpPr>
      <p:grpSpPr>
        <a:xfrm>
          <a:off x="0" y="0"/>
          <a:ext cx="0" cy="0"/>
          <a:chOff x="0" y="0"/>
          <a:chExt cx="0" cy="0"/>
        </a:xfrm>
      </p:grpSpPr>
      <p:grpSp>
        <p:nvGrpSpPr>
          <p:cNvPr id="5" name="Group 2">
            <a:extLst>
              <a:ext uri="{FF2B5EF4-FFF2-40B4-BE49-F238E27FC236}">
                <a16:creationId xmlns:a16="http://schemas.microsoft.com/office/drawing/2014/main" id="{F5677E33-07B8-C1DA-08AD-65A398A0650C}"/>
              </a:ext>
            </a:extLst>
          </p:cNvPr>
          <p:cNvGrpSpPr/>
          <p:nvPr/>
        </p:nvGrpSpPr>
        <p:grpSpPr>
          <a:xfrm>
            <a:off x="680480" y="625871"/>
            <a:ext cx="16927040" cy="9035258"/>
            <a:chOff x="0" y="0"/>
            <a:chExt cx="126402652" cy="67470777"/>
          </a:xfrm>
        </p:grpSpPr>
        <p:sp>
          <p:nvSpPr>
            <p:cNvPr id="7" name="Freeform 3">
              <a:extLst>
                <a:ext uri="{FF2B5EF4-FFF2-40B4-BE49-F238E27FC236}">
                  <a16:creationId xmlns:a16="http://schemas.microsoft.com/office/drawing/2014/main" id="{54D74520-E9E2-5CD0-836F-62CD0A471285}"/>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6DDF2BE5-7EAA-7465-0A90-361538694313}"/>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9" name="TextBox 14">
            <a:extLst>
              <a:ext uri="{FF2B5EF4-FFF2-40B4-BE49-F238E27FC236}">
                <a16:creationId xmlns:a16="http://schemas.microsoft.com/office/drawing/2014/main" id="{426DEBCC-2943-5D23-FE5E-D74F6F25F785}"/>
              </a:ext>
            </a:extLst>
          </p:cNvPr>
          <p:cNvSpPr txBox="1"/>
          <p:nvPr/>
        </p:nvSpPr>
        <p:spPr>
          <a:xfrm>
            <a:off x="5122873" y="1864783"/>
            <a:ext cx="8042254" cy="897682"/>
          </a:xfrm>
          <a:prstGeom prst="rect">
            <a:avLst/>
          </a:prstGeom>
        </p:spPr>
        <p:txBody>
          <a:bodyPr lIns="0" tIns="0" rIns="0" bIns="0" rtlCol="0" anchor="t">
            <a:spAutoFit/>
          </a:bodyPr>
          <a:lstStyle/>
          <a:p>
            <a:pPr algn="ctr">
              <a:lnSpc>
                <a:spcPts val="6952"/>
              </a:lnSpc>
            </a:pPr>
            <a:r>
              <a:rPr lang="ja-JP" altLang="en-US" sz="6320" dirty="0">
                <a:solidFill>
                  <a:srgbClr val="000000"/>
                </a:solidFill>
                <a:latin typeface="Agrandir"/>
                <a:ea typeface="Agrandir"/>
                <a:cs typeface="Agrandir"/>
                <a:sym typeface="Agrandir"/>
              </a:rPr>
              <a:t>今後の課題</a:t>
            </a:r>
            <a:endParaRPr lang="en-US" sz="6320" dirty="0">
              <a:solidFill>
                <a:srgbClr val="000000"/>
              </a:solidFill>
              <a:latin typeface="Agrandir"/>
              <a:ea typeface="Agrandir"/>
              <a:cs typeface="Agrandir"/>
              <a:sym typeface="Agrandir"/>
            </a:endParaRPr>
          </a:p>
        </p:txBody>
      </p:sp>
      <p:sp>
        <p:nvSpPr>
          <p:cNvPr id="6" name="TextBox 6">
            <a:extLst>
              <a:ext uri="{FF2B5EF4-FFF2-40B4-BE49-F238E27FC236}">
                <a16:creationId xmlns:a16="http://schemas.microsoft.com/office/drawing/2014/main" id="{312A2453-A8DC-D2E4-14EF-B12227F033B4}"/>
              </a:ext>
            </a:extLst>
          </p:cNvPr>
          <p:cNvSpPr txBox="1"/>
          <p:nvPr/>
        </p:nvSpPr>
        <p:spPr>
          <a:xfrm>
            <a:off x="1901536" y="3982016"/>
            <a:ext cx="10290464" cy="4323556"/>
          </a:xfrm>
          <a:prstGeom prst="rect">
            <a:avLst/>
          </a:prstGeom>
        </p:spPr>
        <p:txBody>
          <a:bodyPr wrap="square" lIns="0" tIns="0" rIns="0" bIns="0" rtlCol="0" anchor="t">
            <a:spAutoFit/>
          </a:bodyPr>
          <a:lstStyle/>
          <a:p>
            <a:pPr marL="342900" indent="-342900" algn="just">
              <a:lnSpc>
                <a:spcPts val="3361"/>
              </a:lnSpc>
              <a:buFont typeface="Arial" panose="020B0604020202020204" pitchFamily="34" charset="0"/>
              <a:buChar char="•"/>
            </a:pPr>
            <a:r>
              <a:rPr lang="ja-JP" altLang="en-US" sz="2400" b="1" dirty="0">
                <a:solidFill>
                  <a:schemeClr val="tx2"/>
                </a:solidFill>
                <a:latin typeface="Inter"/>
                <a:ea typeface="Inter"/>
                <a:cs typeface="Inter"/>
                <a:sym typeface="Inter"/>
              </a:rPr>
              <a:t>フォントの互換性 </a:t>
            </a:r>
            <a:r>
              <a:rPr lang="en-US" altLang="ja-JP" sz="2400" b="1" dirty="0">
                <a:solidFill>
                  <a:schemeClr val="tx2"/>
                </a:solidFill>
                <a:latin typeface="Inter"/>
                <a:ea typeface="Inter"/>
                <a:cs typeface="Inter"/>
                <a:sym typeface="Inter"/>
              </a:rPr>
              <a:t>-&gt; </a:t>
            </a:r>
            <a:r>
              <a:rPr lang="ja-JP" altLang="en-US" sz="2400" dirty="0">
                <a:solidFill>
                  <a:srgbClr val="000000"/>
                </a:solidFill>
                <a:latin typeface="Inter"/>
                <a:ea typeface="Inter"/>
                <a:cs typeface="Inter"/>
                <a:sym typeface="Inter"/>
              </a:rPr>
              <a:t>該当フォントが未インストールの端末で証明書を</a:t>
            </a:r>
            <a:r>
              <a:rPr lang="en-US" altLang="ja-JP" sz="2400" dirty="0">
                <a:solidFill>
                  <a:srgbClr val="000000"/>
                </a:solidFill>
                <a:latin typeface="Inter"/>
                <a:ea typeface="Inter"/>
                <a:cs typeface="Inter"/>
                <a:sym typeface="Inter"/>
              </a:rPr>
              <a:t>PNG</a:t>
            </a:r>
            <a:r>
              <a:rPr lang="ja-JP" altLang="en-US" sz="2400" dirty="0">
                <a:solidFill>
                  <a:srgbClr val="000000"/>
                </a:solidFill>
                <a:latin typeface="Inter"/>
                <a:ea typeface="Inter"/>
                <a:cs typeface="Inter"/>
                <a:sym typeface="Inter"/>
              </a:rPr>
              <a:t>出力する際、多言語、記号、絵文字のサポートによってレイアウトが崩れたり、文字化け（トーフ現象）が発生したりするリスクがある。</a:t>
            </a:r>
            <a:endParaRPr lang="en-US" altLang="ja-JP" sz="2400" dirty="0">
              <a:solidFill>
                <a:srgbClr val="000000"/>
              </a:solidFill>
              <a:latin typeface="Inter"/>
              <a:ea typeface="Inter"/>
              <a:cs typeface="Inter"/>
              <a:sym typeface="Inter"/>
            </a:endParaRPr>
          </a:p>
          <a:p>
            <a:pPr marL="342900" indent="-342900" algn="just">
              <a:lnSpc>
                <a:spcPts val="3361"/>
              </a:lnSpc>
              <a:buFont typeface="Arial" panose="020B0604020202020204" pitchFamily="34" charset="0"/>
              <a:buChar char="•"/>
            </a:pPr>
            <a:endParaRPr lang="en-US" sz="2400" dirty="0">
              <a:solidFill>
                <a:srgbClr val="000000"/>
              </a:solidFill>
              <a:latin typeface="Inter"/>
              <a:ea typeface="Inter"/>
              <a:cs typeface="Inter"/>
              <a:sym typeface="Inter"/>
            </a:endParaRPr>
          </a:p>
          <a:p>
            <a:pPr marL="342900" indent="-342900" algn="just">
              <a:lnSpc>
                <a:spcPts val="3361"/>
              </a:lnSpc>
              <a:buFont typeface="Arial" panose="020B0604020202020204" pitchFamily="34" charset="0"/>
              <a:buChar char="•"/>
            </a:pPr>
            <a:r>
              <a:rPr lang="ja-JP" altLang="en-US" sz="2400" b="1" dirty="0">
                <a:solidFill>
                  <a:schemeClr val="tx2"/>
                </a:solidFill>
                <a:latin typeface="Inter"/>
                <a:ea typeface="Inter"/>
                <a:cs typeface="Inter"/>
                <a:sym typeface="Inter"/>
              </a:rPr>
              <a:t>難易度の調整（バランス） </a:t>
            </a:r>
            <a:r>
              <a:rPr lang="en-US" altLang="ja-JP" sz="2400" b="1" dirty="0">
                <a:solidFill>
                  <a:schemeClr val="tx2"/>
                </a:solidFill>
                <a:latin typeface="Inter"/>
                <a:ea typeface="Inter"/>
                <a:cs typeface="Inter"/>
                <a:sym typeface="Inter"/>
              </a:rPr>
              <a:t>-&gt; </a:t>
            </a:r>
            <a:r>
              <a:rPr lang="ja-JP" altLang="en-US" sz="2400" dirty="0">
                <a:solidFill>
                  <a:srgbClr val="000000"/>
                </a:solidFill>
                <a:latin typeface="Inter"/>
                <a:ea typeface="Inter"/>
                <a:cs typeface="Inter"/>
                <a:sym typeface="Inter"/>
              </a:rPr>
              <a:t>子供向けを対象としているものの、実際のユーザーテストが不足しているため、パズルが難しすぎて若いプレイヤーが挫折し、途中で諦めてしまう可能性がある。</a:t>
            </a:r>
            <a:endParaRPr lang="en-US" altLang="ja-JP" sz="2400" dirty="0">
              <a:solidFill>
                <a:srgbClr val="000000"/>
              </a:solidFill>
              <a:latin typeface="Inter"/>
              <a:ea typeface="Inter"/>
              <a:cs typeface="Inter"/>
              <a:sym typeface="Inter"/>
            </a:endParaRPr>
          </a:p>
          <a:p>
            <a:pPr algn="just">
              <a:lnSpc>
                <a:spcPts val="3361"/>
              </a:lnSpc>
            </a:pPr>
            <a:endParaRPr lang="en-US" sz="2400" dirty="0">
              <a:solidFill>
                <a:srgbClr val="000000"/>
              </a:solidFill>
              <a:latin typeface="Inter"/>
              <a:ea typeface="Inter"/>
              <a:cs typeface="Inter"/>
              <a:sym typeface="Inter"/>
            </a:endParaRPr>
          </a:p>
          <a:p>
            <a:pPr marL="342900" indent="-342900" algn="just">
              <a:lnSpc>
                <a:spcPts val="3361"/>
              </a:lnSpc>
              <a:buFont typeface="Arial" panose="020B0604020202020204" pitchFamily="34" charset="0"/>
              <a:buChar char="•"/>
            </a:pPr>
            <a:r>
              <a:rPr lang="ja-JP" altLang="en-US" sz="2400" b="1" dirty="0">
                <a:solidFill>
                  <a:schemeClr val="tx2"/>
                </a:solidFill>
                <a:latin typeface="Inter"/>
                <a:ea typeface="Inter"/>
                <a:cs typeface="Inter"/>
                <a:sym typeface="Inter"/>
              </a:rPr>
              <a:t>印刷コスト </a:t>
            </a:r>
            <a:r>
              <a:rPr lang="en-US" altLang="ja-JP" sz="2400" b="1" dirty="0">
                <a:solidFill>
                  <a:schemeClr val="tx2"/>
                </a:solidFill>
                <a:latin typeface="Inter"/>
                <a:ea typeface="Inter"/>
                <a:cs typeface="Inter"/>
                <a:sym typeface="Inter"/>
              </a:rPr>
              <a:t>-&gt; </a:t>
            </a:r>
            <a:r>
              <a:rPr lang="en-US" altLang="ja-JP" sz="2400" dirty="0">
                <a:solidFill>
                  <a:srgbClr val="000000"/>
                </a:solidFill>
                <a:latin typeface="Inter"/>
                <a:ea typeface="Inter"/>
                <a:cs typeface="Inter"/>
                <a:sym typeface="Inter"/>
              </a:rPr>
              <a:t>A4</a:t>
            </a:r>
            <a:r>
              <a:rPr lang="ja-JP" altLang="en-US" sz="2400" dirty="0">
                <a:solidFill>
                  <a:srgbClr val="000000"/>
                </a:solidFill>
                <a:latin typeface="Inter"/>
                <a:ea typeface="Inter"/>
                <a:cs typeface="Inter"/>
                <a:sym typeface="Inter"/>
              </a:rPr>
              <a:t>サイズに最適化されているものの、現在のデザインではインクの消費量が多く、総印刷コストが高くなってしまう。</a:t>
            </a:r>
            <a:endParaRPr lang="en-US" sz="2400" dirty="0">
              <a:solidFill>
                <a:srgbClr val="000000"/>
              </a:solidFill>
              <a:latin typeface="Inter"/>
              <a:ea typeface="Inter"/>
              <a:cs typeface="Inter"/>
              <a:sym typeface="Inter"/>
            </a:endParaRPr>
          </a:p>
        </p:txBody>
      </p:sp>
    </p:spTree>
    <p:extLst>
      <p:ext uri="{BB962C8B-B14F-4D97-AF65-F5344CB8AC3E}">
        <p14:creationId xmlns:p14="http://schemas.microsoft.com/office/powerpoint/2010/main" val="2851425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B9BBDD"/>
        </a:solidFill>
        <a:effectLst/>
      </p:bgPr>
    </p:bg>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922B1D45-C212-3617-EE8C-073DC11FAA04}"/>
              </a:ext>
            </a:extLst>
          </p:cNvPr>
          <p:cNvGrpSpPr/>
          <p:nvPr/>
        </p:nvGrpSpPr>
        <p:grpSpPr>
          <a:xfrm>
            <a:off x="680480" y="625871"/>
            <a:ext cx="16927040" cy="9035258"/>
            <a:chOff x="0" y="0"/>
            <a:chExt cx="126402652" cy="67470777"/>
          </a:xfrm>
        </p:grpSpPr>
        <p:sp>
          <p:nvSpPr>
            <p:cNvPr id="6" name="Freeform 3">
              <a:extLst>
                <a:ext uri="{FF2B5EF4-FFF2-40B4-BE49-F238E27FC236}">
                  <a16:creationId xmlns:a16="http://schemas.microsoft.com/office/drawing/2014/main" id="{551B0D3D-45BE-392D-CAA1-564C1D730A1A}"/>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7" name="Freeform 4">
              <a:extLst>
                <a:ext uri="{FF2B5EF4-FFF2-40B4-BE49-F238E27FC236}">
                  <a16:creationId xmlns:a16="http://schemas.microsoft.com/office/drawing/2014/main" id="{C20A795F-100D-7AAA-7716-B164F6D8FB48}"/>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11" name="Freeform 11"/>
          <p:cNvSpPr/>
          <p:nvPr/>
        </p:nvSpPr>
        <p:spPr>
          <a:xfrm>
            <a:off x="9163050" y="1780738"/>
            <a:ext cx="0" cy="6937619"/>
          </a:xfrm>
          <a:custGeom>
            <a:avLst/>
            <a:gdLst/>
            <a:ahLst/>
            <a:cxnLst/>
            <a:rect l="l" t="t" r="r" b="b"/>
            <a:pathLst>
              <a:path h="6937619">
                <a:moveTo>
                  <a:pt x="0" y="0"/>
                </a:moveTo>
                <a:lnTo>
                  <a:pt x="0" y="6937619"/>
                </a:lnTo>
              </a:path>
            </a:pathLst>
          </a:custGeom>
          <a:ln w="38100" cap="flat">
            <a:solidFill>
              <a:srgbClr val="000000"/>
            </a:solidFill>
            <a:prstDash val="solid"/>
            <a:headEnd type="oval" w="lg" len="lg"/>
            <a:tailEnd type="oval" w="lg" len="lg"/>
          </a:ln>
        </p:spPr>
        <p:txBody>
          <a:bodyPr/>
          <a:lstStyle/>
          <a:p>
            <a:endParaRPr lang="en-US"/>
          </a:p>
        </p:txBody>
      </p:sp>
      <p:pic>
        <p:nvPicPr>
          <p:cNvPr id="13" name="Picture 12">
            <a:extLst>
              <a:ext uri="{FF2B5EF4-FFF2-40B4-BE49-F238E27FC236}">
                <a16:creationId xmlns:a16="http://schemas.microsoft.com/office/drawing/2014/main" id="{7B0F947F-E384-0141-C202-58EA6642E8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63400" y="2667000"/>
            <a:ext cx="3515032" cy="4953000"/>
          </a:xfrm>
          <a:prstGeom prst="rect">
            <a:avLst/>
          </a:prstGeom>
        </p:spPr>
      </p:pic>
      <p:pic>
        <p:nvPicPr>
          <p:cNvPr id="15" name="Picture 14">
            <a:extLst>
              <a:ext uri="{FF2B5EF4-FFF2-40B4-BE49-F238E27FC236}">
                <a16:creationId xmlns:a16="http://schemas.microsoft.com/office/drawing/2014/main" id="{C3613989-BBCF-A2B9-4982-E155027220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69096" y="2667000"/>
            <a:ext cx="3515032" cy="4953000"/>
          </a:xfrm>
          <a:prstGeom prst="rect">
            <a:avLst/>
          </a:prstGeom>
        </p:spPr>
      </p:pic>
    </p:spTree>
    <p:extLst>
      <p:ext uri="{BB962C8B-B14F-4D97-AF65-F5344CB8AC3E}">
        <p14:creationId xmlns:p14="http://schemas.microsoft.com/office/powerpoint/2010/main" val="4023895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D6DFCC"/>
        </a:solidFill>
        <a:effectLst/>
      </p:bgPr>
    </p:bg>
    <p:spTree>
      <p:nvGrpSpPr>
        <p:cNvPr id="1" name=""/>
        <p:cNvGrpSpPr/>
        <p:nvPr/>
      </p:nvGrpSpPr>
      <p:grpSpPr>
        <a:xfrm>
          <a:off x="0" y="0"/>
          <a:ext cx="0" cy="0"/>
          <a:chOff x="0" y="0"/>
          <a:chExt cx="0" cy="0"/>
        </a:xfrm>
      </p:grpSpPr>
      <p:grpSp>
        <p:nvGrpSpPr>
          <p:cNvPr id="6" name="Group 2">
            <a:extLst>
              <a:ext uri="{FF2B5EF4-FFF2-40B4-BE49-F238E27FC236}">
                <a16:creationId xmlns:a16="http://schemas.microsoft.com/office/drawing/2014/main" id="{74BADCAA-3E5B-F814-0AAB-776A1054F519}"/>
              </a:ext>
            </a:extLst>
          </p:cNvPr>
          <p:cNvGrpSpPr/>
          <p:nvPr/>
        </p:nvGrpSpPr>
        <p:grpSpPr>
          <a:xfrm>
            <a:off x="680480" y="625871"/>
            <a:ext cx="16927040" cy="9035258"/>
            <a:chOff x="0" y="0"/>
            <a:chExt cx="126402652" cy="67470777"/>
          </a:xfrm>
        </p:grpSpPr>
        <p:sp>
          <p:nvSpPr>
            <p:cNvPr id="7" name="Freeform 3">
              <a:extLst>
                <a:ext uri="{FF2B5EF4-FFF2-40B4-BE49-F238E27FC236}">
                  <a16:creationId xmlns:a16="http://schemas.microsoft.com/office/drawing/2014/main" id="{5825B8CB-DF5F-1F63-E717-AFDC8DDB562E}"/>
                </a:ext>
              </a:extLst>
            </p:cNvPr>
            <p:cNvSpPr/>
            <p:nvPr/>
          </p:nvSpPr>
          <p:spPr>
            <a:xfrm>
              <a:off x="72390" y="72390"/>
              <a:ext cx="126257871" cy="67325995"/>
            </a:xfrm>
            <a:custGeom>
              <a:avLst/>
              <a:gdLst/>
              <a:ahLst/>
              <a:cxnLst/>
              <a:rect l="l" t="t" r="r" b="b"/>
              <a:pathLst>
                <a:path w="126257871" h="67325995">
                  <a:moveTo>
                    <a:pt x="0" y="0"/>
                  </a:moveTo>
                  <a:lnTo>
                    <a:pt x="126257871" y="0"/>
                  </a:lnTo>
                  <a:lnTo>
                    <a:pt x="126257871" y="67325995"/>
                  </a:lnTo>
                  <a:lnTo>
                    <a:pt x="0" y="67325995"/>
                  </a:lnTo>
                  <a:lnTo>
                    <a:pt x="0" y="0"/>
                  </a:lnTo>
                  <a:close/>
                </a:path>
              </a:pathLst>
            </a:custGeom>
            <a:solidFill>
              <a:srgbClr val="FFF5ED"/>
            </a:solidFill>
          </p:spPr>
          <p:txBody>
            <a:bodyPr/>
            <a:lstStyle/>
            <a:p>
              <a:endParaRPr lang="en-US" dirty="0"/>
            </a:p>
          </p:txBody>
        </p:sp>
        <p:sp>
          <p:nvSpPr>
            <p:cNvPr id="8" name="Freeform 4">
              <a:extLst>
                <a:ext uri="{FF2B5EF4-FFF2-40B4-BE49-F238E27FC236}">
                  <a16:creationId xmlns:a16="http://schemas.microsoft.com/office/drawing/2014/main" id="{EBDA612B-23A9-2E57-150B-4B2CB057248A}"/>
                </a:ext>
              </a:extLst>
            </p:cNvPr>
            <p:cNvSpPr/>
            <p:nvPr/>
          </p:nvSpPr>
          <p:spPr>
            <a:xfrm>
              <a:off x="0" y="0"/>
              <a:ext cx="126402654" cy="67470778"/>
            </a:xfrm>
            <a:custGeom>
              <a:avLst/>
              <a:gdLst/>
              <a:ahLst/>
              <a:cxnLst/>
              <a:rect l="l" t="t" r="r" b="b"/>
              <a:pathLst>
                <a:path w="126402654" h="67470778">
                  <a:moveTo>
                    <a:pt x="126257869" y="67325999"/>
                  </a:moveTo>
                  <a:lnTo>
                    <a:pt x="126402654" y="67325999"/>
                  </a:lnTo>
                  <a:lnTo>
                    <a:pt x="126402654" y="67470778"/>
                  </a:lnTo>
                  <a:lnTo>
                    <a:pt x="126257869" y="67470778"/>
                  </a:lnTo>
                  <a:lnTo>
                    <a:pt x="126257869" y="67325999"/>
                  </a:lnTo>
                  <a:close/>
                  <a:moveTo>
                    <a:pt x="0" y="144780"/>
                  </a:moveTo>
                  <a:lnTo>
                    <a:pt x="144780" y="144780"/>
                  </a:lnTo>
                  <a:lnTo>
                    <a:pt x="144780" y="67325999"/>
                  </a:lnTo>
                  <a:lnTo>
                    <a:pt x="0" y="67325999"/>
                  </a:lnTo>
                  <a:lnTo>
                    <a:pt x="0" y="144780"/>
                  </a:lnTo>
                  <a:close/>
                  <a:moveTo>
                    <a:pt x="0" y="67325999"/>
                  </a:moveTo>
                  <a:lnTo>
                    <a:pt x="144780" y="67325999"/>
                  </a:lnTo>
                  <a:lnTo>
                    <a:pt x="144780" y="67470778"/>
                  </a:lnTo>
                  <a:lnTo>
                    <a:pt x="0" y="67470778"/>
                  </a:lnTo>
                  <a:lnTo>
                    <a:pt x="0" y="67325999"/>
                  </a:lnTo>
                  <a:close/>
                  <a:moveTo>
                    <a:pt x="126257869" y="144780"/>
                  </a:moveTo>
                  <a:lnTo>
                    <a:pt x="126402654" y="144780"/>
                  </a:lnTo>
                  <a:lnTo>
                    <a:pt x="126402654" y="67325999"/>
                  </a:lnTo>
                  <a:lnTo>
                    <a:pt x="126257869" y="67325999"/>
                  </a:lnTo>
                  <a:lnTo>
                    <a:pt x="126257869" y="144780"/>
                  </a:lnTo>
                  <a:close/>
                  <a:moveTo>
                    <a:pt x="144780" y="67325999"/>
                  </a:moveTo>
                  <a:lnTo>
                    <a:pt x="126257869" y="67325999"/>
                  </a:lnTo>
                  <a:lnTo>
                    <a:pt x="126257869" y="67470778"/>
                  </a:lnTo>
                  <a:lnTo>
                    <a:pt x="144780" y="67470778"/>
                  </a:lnTo>
                  <a:lnTo>
                    <a:pt x="144780" y="67325999"/>
                  </a:lnTo>
                  <a:close/>
                  <a:moveTo>
                    <a:pt x="126257869" y="0"/>
                  </a:moveTo>
                  <a:lnTo>
                    <a:pt x="126402654" y="0"/>
                  </a:lnTo>
                  <a:lnTo>
                    <a:pt x="126402654" y="144780"/>
                  </a:lnTo>
                  <a:lnTo>
                    <a:pt x="126257869" y="144780"/>
                  </a:lnTo>
                  <a:lnTo>
                    <a:pt x="126257869" y="0"/>
                  </a:lnTo>
                  <a:close/>
                  <a:moveTo>
                    <a:pt x="0" y="0"/>
                  </a:moveTo>
                  <a:lnTo>
                    <a:pt x="144780" y="0"/>
                  </a:lnTo>
                  <a:lnTo>
                    <a:pt x="144780" y="144780"/>
                  </a:lnTo>
                  <a:lnTo>
                    <a:pt x="0" y="144780"/>
                  </a:lnTo>
                  <a:lnTo>
                    <a:pt x="0" y="0"/>
                  </a:lnTo>
                  <a:close/>
                  <a:moveTo>
                    <a:pt x="144780" y="0"/>
                  </a:moveTo>
                  <a:lnTo>
                    <a:pt x="126257869" y="0"/>
                  </a:lnTo>
                  <a:lnTo>
                    <a:pt x="126257869" y="144780"/>
                  </a:lnTo>
                  <a:lnTo>
                    <a:pt x="144780" y="144780"/>
                  </a:lnTo>
                  <a:lnTo>
                    <a:pt x="144780" y="0"/>
                  </a:lnTo>
                  <a:close/>
                </a:path>
              </a:pathLst>
            </a:custGeom>
            <a:solidFill>
              <a:srgbClr val="000000"/>
            </a:solidFill>
          </p:spPr>
          <p:txBody>
            <a:bodyPr/>
            <a:lstStyle/>
            <a:p>
              <a:endParaRPr lang="en-US"/>
            </a:p>
          </p:txBody>
        </p:sp>
      </p:grpSp>
      <p:sp>
        <p:nvSpPr>
          <p:cNvPr id="5" name="TextBox 5"/>
          <p:cNvSpPr txBox="1"/>
          <p:nvPr/>
        </p:nvSpPr>
        <p:spPr>
          <a:xfrm>
            <a:off x="3548948" y="3436173"/>
            <a:ext cx="11190103" cy="3414653"/>
          </a:xfrm>
          <a:prstGeom prst="rect">
            <a:avLst/>
          </a:prstGeom>
        </p:spPr>
        <p:txBody>
          <a:bodyPr wrap="square" lIns="0" tIns="0" rIns="0" bIns="0" rtlCol="0" anchor="t">
            <a:spAutoFit/>
          </a:bodyPr>
          <a:lstStyle/>
          <a:p>
            <a:pPr algn="ctr">
              <a:lnSpc>
                <a:spcPct val="150000"/>
              </a:lnSpc>
            </a:pPr>
            <a:r>
              <a:rPr lang="en-US" sz="7766" dirty="0">
                <a:solidFill>
                  <a:srgbClr val="000000"/>
                </a:solidFill>
                <a:latin typeface="Agrandir"/>
                <a:ea typeface="Agrandir"/>
                <a:cs typeface="Agrandir"/>
                <a:sym typeface="Agrandir"/>
              </a:rPr>
              <a:t>Thank you !</a:t>
            </a:r>
          </a:p>
          <a:p>
            <a:pPr algn="ctr">
              <a:lnSpc>
                <a:spcPct val="150000"/>
              </a:lnSpc>
            </a:pPr>
            <a:r>
              <a:rPr lang="ja-JP" altLang="en-US" sz="7766" dirty="0">
                <a:solidFill>
                  <a:srgbClr val="000000"/>
                </a:solidFill>
                <a:latin typeface="Agrandir"/>
                <a:ea typeface="Agrandir"/>
                <a:cs typeface="Agrandir"/>
                <a:sym typeface="Agrandir"/>
              </a:rPr>
              <a:t>ありがとうございます </a:t>
            </a:r>
            <a:r>
              <a:rPr lang="en-US" altLang="ja-JP" sz="7766" dirty="0">
                <a:solidFill>
                  <a:srgbClr val="000000"/>
                </a:solidFill>
                <a:latin typeface="Agrandir"/>
                <a:ea typeface="Agrandir"/>
                <a:cs typeface="Agrandir"/>
                <a:sym typeface="Agrandir"/>
              </a:rPr>
              <a:t>!</a:t>
            </a:r>
            <a:endParaRPr lang="en-US" sz="7766" dirty="0">
              <a:solidFill>
                <a:srgbClr val="000000"/>
              </a:solidFill>
              <a:latin typeface="Agrandir"/>
              <a:ea typeface="Agrandir"/>
              <a:cs typeface="Agrandir"/>
              <a:sym typeface="Agrandi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4181</TotalTime>
  <Words>2622</Words>
  <Application>Microsoft Office PowerPoint</Application>
  <PresentationFormat>Custom</PresentationFormat>
  <Paragraphs>239</Paragraphs>
  <Slides>42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Inter</vt:lpstr>
      <vt:lpstr>Arial</vt:lpstr>
      <vt:lpstr>Agrandir</vt:lpstr>
      <vt:lpstr>Calibri</vt:lpstr>
      <vt:lpstr>Aptos</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Magic Square</dc:title>
  <dc:creator>Shinozaki</dc:creator>
  <cp:lastModifiedBy>พลกฤต  สมทรง</cp:lastModifiedBy>
  <cp:revision>458</cp:revision>
  <dcterms:created xsi:type="dcterms:W3CDTF">2006-08-16T00:00:00Z</dcterms:created>
  <dcterms:modified xsi:type="dcterms:W3CDTF">2026-06-16T04:35:48Z</dcterms:modified>
  <dc:identifier>DAHJDP9a5cY</dc:identifier>
</cp:coreProperties>
</file>